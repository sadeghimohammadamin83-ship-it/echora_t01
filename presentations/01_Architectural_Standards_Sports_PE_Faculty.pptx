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fe7b967-1132-5efd-a4ed-4d288dc0f61b}">
          <p14:sldIdLst>
            <p14:sldId id="256"/>
          </p14:sldIdLst>
        </p14:section>
        <p14:section name="Part 01 — Sports facilities" id="{6bda884f-3255-d5ab-c1b2-2f7602e5d2f5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art 02 — PE Faculty" id="{a8be1102-88f2-583a-8850-ad1f820c6869}">
          <p14:sldIdLst>
            <p14:sldId id="264"/>
            <p14:sldId id="265"/>
            <p14:sldId id="266"/>
            <p14:sldId id="267"/>
          </p14:sldIdLst>
        </p14:section>
        <p14:section name="Part 03 — Comparison + references" id="{490b9e2a-f9db-e559-8f0e-02d31df29f1a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A9A9A"/>
                </a:solidFill>
              </a:rPr>
              <a:t>DESIGN 4 · ARCHITECTURAL STANDARDS OF SPORTS FACILITIES &amp; PHYSICAL EDUCATION FACULTY</a:t>
            </a:r>
            <a:endParaRPr lang="en-US" sz="7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rgbClr val="D9472B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1A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assets.fiba.basketball/image/upload/documents-corporate-fiba-official-rules-2024-v10a.pdf" TargetMode="External"/><Relationship Id="rId2" Type="http://schemas.openxmlformats.org/officeDocument/2006/relationships/hyperlink" Target="https://www.fivb.com/wp-content/uploads/2025/01/FIVB-Volleyball_Rules2025_2028-EN-v05.pdf" TargetMode="External"/><Relationship Id="rId3" Type="http://schemas.openxmlformats.org/officeDocument/2006/relationships/hyperlink" Target="https://sportengland-production-files.s3.eu-west-2.amazonaws.com/s3fs-public/sports-halls-design-and-layouts-2012.pdf" TargetMode="External"/><Relationship Id="rId4" Type="http://schemas.openxmlformats.org/officeDocument/2006/relationships/hyperlink" Target="https://sportengland-production-files.s3.eu-west-2.amazonaws.com/s3fs-public/accessible-sports-facilities-2010.pdf" TargetMode="External"/><Relationship Id="rId5" Type="http://schemas.openxmlformats.org/officeDocument/2006/relationships/hyperlink" Target="https://sportengland-production-files.s3.eu-west-2.amazonaws.com/s3fs-public/2024-08/AISF-Part-D-Changing-and-toilet-provision.pdf" TargetMode="External"/><Relationship Id="rId6" Type="http://schemas.openxmlformats.org/officeDocument/2006/relationships/hyperlink" Target="https://sgsa.org.uk/document/greenguide/" TargetMode="External"/><Relationship Id="rId7" Type="http://schemas.openxmlformats.org/officeDocument/2006/relationships/hyperlink" Target="https://knowledge.bsigroup.com" TargetMode="External"/><Relationship Id="rId8" Type="http://schemas.openxmlformats.org/officeDocument/2006/relationships/hyperlink" Target="https://www.gov.uk/government/publications/access-to-and-use-of-buildings-approved-document-m" TargetMode="External"/><Relationship Id="rId9" Type="http://schemas.openxmlformats.org/officeDocument/2006/relationships/hyperlink" Target="https://dera.ioe.ac.uk/id/eprint/20283/1/BB103_Area_Guidelines_for_Mainstream_Schools_FINAL_23_4_14.pdf" TargetMode="External"/><Relationship Id="rId10" Type="http://schemas.openxmlformats.org/officeDocument/2006/relationships/hyperlink" Target="https://www.york.ac.uk/media/campusdevelopment/63697_UniofYork%20Space%20Guidelines%20and%20Standards%20v2.pdf" TargetMode="Externa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STUDIO · DESIGN 4 · STANDARDS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STANDARDS OF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FACILITIES &amp;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EDUCATION FACULTY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· dimensions · circulation · zoning — every standard shown 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+ VISUAL + EXPLANATION + SOURCE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facilities — basketball &amp; volleyball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38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Education Faculty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22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5522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standards + references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1600200"/>
            <a:ext cx="3950208" cy="2345436"/>
          </a:xfrm>
          <a:prstGeom prst="rect">
            <a:avLst/>
          </a:prstGeom>
          <a:solidFill>
            <a:srgbClr val="F3F3F3"/>
          </a:solidFill>
          <a:ln w="9525">
            <a:solidFill>
              <a:srgbClr val="BDBDB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699248" y="1847088"/>
            <a:ext cx="3456432" cy="1851660"/>
          </a:xfrm>
          <a:prstGeom prst="rect">
            <a:avLst/>
          </a:prstGeom>
          <a:ln w="15875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27464" y="1847088"/>
            <a:ext cx="91" cy="18516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3144" y="2498598"/>
            <a:ext cx="548640" cy="548640"/>
          </a:xfrm>
          <a:prstGeom prst="ellipse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99248" y="1371600"/>
            <a:ext cx="345643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653528" y="13258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1109960" y="13258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12893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12893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13064" y="1170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28.00 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631168" y="1847088"/>
            <a:ext cx="91" cy="185166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1585448" y="18013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1585448" y="365302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48872" y="18470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48872" y="369874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686032" y="268147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15.00 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0553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FIBA court 28 × 15 m + 2 m boundary lane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5440680"/>
            <a:ext cx="3950208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4672584"/>
            <a:ext cx="3950208" cy="91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1631168" y="4672584"/>
            <a:ext cx="91" cy="768096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1585448" y="462686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1585448" y="539496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48872" y="4672584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48872" y="544068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686032" y="49651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 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42986" y="5074920"/>
            <a:ext cx="47549" cy="47549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37" name="Shape 35"/>
          <p:cNvSpPr/>
          <p:nvPr/>
        </p:nvSpPr>
        <p:spPr>
          <a:xfrm>
            <a:off x="8337499" y="5124846"/>
            <a:ext cx="58522" cy="16459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8" name="Shape 36"/>
          <p:cNvSpPr/>
          <p:nvPr/>
        </p:nvSpPr>
        <p:spPr>
          <a:xfrm>
            <a:off x="8341157" y="5289438"/>
            <a:ext cx="21946" cy="15124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9" name="Shape 37"/>
          <p:cNvSpPr/>
          <p:nvPr/>
        </p:nvSpPr>
        <p:spPr>
          <a:xfrm>
            <a:off x="8370418" y="5289438"/>
            <a:ext cx="21946" cy="15124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54666" y="5074920"/>
            <a:ext cx="47549" cy="47549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49179" y="5124846"/>
            <a:ext cx="58522" cy="16459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52837" y="5289438"/>
            <a:ext cx="21946" cy="15124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82098" y="5289438"/>
            <a:ext cx="21946" cy="15124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452360" y="5532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height above court (FIBA) — section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263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standards cited on-slide · full references on final slide ·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01 — SPORTS FACILITY ANATOMY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Ten functional parts organised around one large clear-span volume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5669280" cy="685800"/>
          </a:xfrm>
          <a:prstGeom prst="rect">
            <a:avLst/>
          </a:prstGeom>
          <a:solidFill>
            <a:srgbClr val="F2B134">
              <a:alpha val="6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0292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FRONT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· foyer · reception · WC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37360" y="4297680"/>
            <a:ext cx="4480560" cy="548640"/>
          </a:xfrm>
          <a:prstGeom prst="rect">
            <a:avLst/>
          </a:prstGeom>
          <a:solidFill>
            <a:srgbClr val="F2B134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SPECTATORS — seating · aisles · accessible spaces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240280"/>
            <a:ext cx="4480560" cy="192024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22402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 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+ safety / free zone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2514600"/>
            <a:ext cx="3657600" cy="137160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40280"/>
            <a:ext cx="1051560" cy="868680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2402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SHOWERS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051560" cy="548640"/>
          </a:xfrm>
          <a:prstGeom prst="rect">
            <a:avLst/>
          </a:prstGeom>
          <a:solidFill>
            <a:srgbClr val="9B7FBF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00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051560" cy="365760"/>
          </a:xfrm>
          <a:prstGeom prst="rect">
            <a:avLst/>
          </a:prstGeom>
          <a:solidFill>
            <a:srgbClr val="9B7FBF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40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55080" y="2240280"/>
            <a:ext cx="1005840" cy="868680"/>
          </a:xfrm>
          <a:prstGeom prst="rect">
            <a:avLst/>
          </a:prstGeom>
          <a:solidFill>
            <a:srgbClr val="8C8C8C">
              <a:alpha val="5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2402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1005840" cy="548640"/>
          </a:xfrm>
          <a:prstGeom prst="rect">
            <a:avLst/>
          </a:prstGeom>
          <a:solidFill>
            <a:srgbClr val="8C8C8C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840480"/>
            <a:ext cx="1005840" cy="365760"/>
          </a:xfrm>
          <a:prstGeom prst="rect">
            <a:avLst/>
          </a:prstGeom>
          <a:solidFill>
            <a:srgbClr val="8C8C8C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37360" y="1554480"/>
            <a:ext cx="5623560" cy="502920"/>
          </a:xfrm>
          <a:prstGeom prst="rect">
            <a:avLst/>
          </a:prstGeom>
          <a:solidFill>
            <a:srgbClr val="8C8C8C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37360" y="15544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ENTRANCE · LOADING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1554480"/>
            <a:ext cx="1051560" cy="502920"/>
          </a:xfrm>
          <a:prstGeom prst="rect">
            <a:avLst/>
          </a:prstGeom>
          <a:solidFill>
            <a:srgbClr val="9B7FBF">
              <a:alpha val="7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1554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00200" y="2651760"/>
            <a:ext cx="548640" cy="91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5806440" y="2651760"/>
            <a:ext cx="54864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48640" y="5852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— architectural interpretation (not to scale) of the space groups listed in Sport England sports-hall guidance.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8640" y="6172200"/>
            <a:ext cx="164592" cy="164592"/>
          </a:xfrm>
          <a:prstGeom prst="rect">
            <a:avLst/>
          </a:prstGeom>
          <a:solidFill>
            <a:srgbClr val="F2B134">
              <a:alpha val="6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6172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spectators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0" y="6172200"/>
            <a:ext cx="164592" cy="164592"/>
          </a:xfrm>
          <a:prstGeom prst="rect">
            <a:avLst/>
          </a:prstGeom>
          <a:solidFill>
            <a:srgbClr val="5BAA6A">
              <a:alpha val="6000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514600" y="6172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 space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23360" y="6172200"/>
            <a:ext cx="164592" cy="164592"/>
          </a:xfrm>
          <a:prstGeom prst="rect">
            <a:avLst/>
          </a:prstGeom>
          <a:solidFill>
            <a:srgbClr val="9B7FBF">
              <a:alpha val="60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251960" y="6172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(controlled)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6172200"/>
            <a:ext cx="164592" cy="164592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89320" y="6172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/ service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HALL MODULE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1645920"/>
            <a:ext cx="3627882" cy="2103120"/>
          </a:xfrm>
          <a:prstGeom prst="rect">
            <a:avLst/>
          </a:prstGeom>
          <a:solidFill>
            <a:srgbClr val="5BAA6A">
              <a:alpha val="20000"/>
            </a:srgbClr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8437" y="1908810"/>
            <a:ext cx="2944368" cy="1577340"/>
          </a:xfrm>
          <a:prstGeom prst="rect">
            <a:avLst/>
          </a:prstGeom>
          <a:ln w="9525">
            <a:solidFill>
              <a:srgbClr val="6B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40621" y="1908810"/>
            <a:ext cx="91" cy="1577340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26680" y="1463040"/>
            <a:ext cx="362788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680960" y="14173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1308842" y="14173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26680" y="138074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354562" y="138074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626221" y="1261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 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537442" y="1645920"/>
            <a:ext cx="91" cy="210312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1491722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11491722" y="37033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455146" y="164592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455146" y="37490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1592306" y="2606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 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26680" y="4800600"/>
            <a:ext cx="3627882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26680" y="4114800"/>
            <a:ext cx="3627882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7726680" y="4114800"/>
            <a:ext cx="91" cy="6858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1354562" y="4114800"/>
            <a:ext cx="91" cy="6858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537442" y="4114800"/>
            <a:ext cx="91" cy="68580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1491722" y="4069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11491722" y="47548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455146" y="41148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455146" y="48006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1592306" y="43662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344174" y="4453128"/>
            <a:ext cx="45171" cy="45171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65" name="Shape 63"/>
          <p:cNvSpPr/>
          <p:nvPr/>
        </p:nvSpPr>
        <p:spPr>
          <a:xfrm>
            <a:off x="8338962" y="4500558"/>
            <a:ext cx="55596" cy="15636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6" name="Shape 64"/>
          <p:cNvSpPr/>
          <p:nvPr/>
        </p:nvSpPr>
        <p:spPr>
          <a:xfrm>
            <a:off x="8342437" y="4656920"/>
            <a:ext cx="20848" cy="14368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7" name="Shape 65"/>
          <p:cNvSpPr/>
          <p:nvPr/>
        </p:nvSpPr>
        <p:spPr>
          <a:xfrm>
            <a:off x="8370235" y="4656920"/>
            <a:ext cx="20848" cy="14368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8" name="Shape 66"/>
          <p:cNvSpPr/>
          <p:nvPr/>
        </p:nvSpPr>
        <p:spPr>
          <a:xfrm>
            <a:off x="10081534" y="4453128"/>
            <a:ext cx="45171" cy="45171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69" name="Shape 67"/>
          <p:cNvSpPr/>
          <p:nvPr/>
        </p:nvSpPr>
        <p:spPr>
          <a:xfrm>
            <a:off x="10076322" y="4500558"/>
            <a:ext cx="55596" cy="156362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70" name="Shape 68"/>
          <p:cNvSpPr/>
          <p:nvPr/>
        </p:nvSpPr>
        <p:spPr>
          <a:xfrm>
            <a:off x="10079797" y="4656920"/>
            <a:ext cx="20848" cy="14368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71" name="Shape 69"/>
          <p:cNvSpPr/>
          <p:nvPr/>
        </p:nvSpPr>
        <p:spPr>
          <a:xfrm>
            <a:off x="10107595" y="4656920"/>
            <a:ext cx="20848" cy="14368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7726680" y="4983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 × 20.0 × 7.5 m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726680" y="5276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4-court hall — Sport England's minimum for school projects; replaces the older 33 × 18 m hall.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726680" y="5760720"/>
            <a:ext cx="1726387" cy="182880"/>
          </a:xfrm>
          <a:prstGeom prst="rect">
            <a:avLst/>
          </a:prstGeom>
          <a:solidFill>
            <a:srgbClr val="6B6B6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26680" y="5774436"/>
            <a:ext cx="1726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GUIDELINE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7726680" y="6007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England, Sports Halls: Design &amp; Layouts (2012 update) — revised 4-court hall 34.5 × 20.0 × 7.5 m.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02 — BASKETBALL · PLAYING SPACE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Basketball court 28 × 15 m inside a 2 m obstruction-free boundary lane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5413248" cy="3214116"/>
          </a:xfrm>
          <a:prstGeom prst="rect">
            <a:avLst/>
          </a:prstGeom>
          <a:solidFill>
            <a:srgbClr val="F3F3F3"/>
          </a:solidFill>
          <a:ln w="9525">
            <a:solidFill>
              <a:srgbClr val="9A9A9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07008" y="1938528"/>
            <a:ext cx="4736592" cy="2537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75304" y="1938528"/>
            <a:ext cx="91" cy="25374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70809" y="2902763"/>
            <a:ext cx="608990" cy="608990"/>
          </a:xfrm>
          <a:prstGeom prst="ellipse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2792806"/>
            <a:ext cx="981151" cy="828904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1584" y="2065401"/>
            <a:ext cx="2283714" cy="2283714"/>
          </a:xfrm>
          <a:prstGeom prst="arc">
            <a:avLst>
              <a:gd name="adj1" fmla="val 16200000"/>
              <a:gd name="adj2" fmla="val 5400000"/>
            </a:avLst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62449" y="2792806"/>
            <a:ext cx="981151" cy="828904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310" y="2065401"/>
            <a:ext cx="2283714" cy="2283714"/>
          </a:xfrm>
          <a:prstGeom prst="arc">
            <a:avLst>
              <a:gd name="adj1" fmla="val 5400000"/>
              <a:gd name="adj2" fmla="val 16200000"/>
            </a:avLst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1344168"/>
            <a:ext cx="473659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161288" y="129844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5897880" y="129844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126187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26187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60904" y="1143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28.00 m — court length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938528"/>
            <a:ext cx="91" cy="253746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492240" y="189280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492240" y="44302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5664" y="193852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44759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92824" y="311581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15.00 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704588"/>
            <a:ext cx="338328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822960" y="46588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161288" y="46588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62229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7008" y="462229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3444" y="47411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" y="1600200"/>
            <a:ext cx="91" cy="338328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13232" y="15544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13232" y="189280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16002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193852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-758952" y="16779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14500" y="4887468"/>
            <a:ext cx="1353312" cy="292608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82796" y="4887468"/>
            <a:ext cx="1353312" cy="292608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52394" y="4887468"/>
            <a:ext cx="845820" cy="292608"/>
          </a:xfrm>
          <a:prstGeom prst="rect">
            <a:avLst/>
          </a:prstGeom>
          <a:solidFill>
            <a:srgbClr val="8C8C8C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714500" y="52166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 BENCH · 16 seats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082796" y="52166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 BENCH · 16 seats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2660904" y="52166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SCORER'S TABLE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1207008" y="541782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≥ 2 m behind team bench → spectator front row starts beyond this line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68680" y="56372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diagram redrawn based on FIBA OBR 2024, Diagram 1. Key and arc markings drawn schematically; only dimensioned values are cited.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809244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× 15 m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8092440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Court, measured from inner edge of boundary line; 'flat, hard surface free from obstructions'.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92440" y="2121408"/>
            <a:ext cx="2653589" cy="182880"/>
          </a:xfrm>
          <a:prstGeom prst="rect">
            <a:avLst/>
          </a:prstGeom>
          <a:solidFill>
            <a:srgbClr val="D9472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92440" y="2135124"/>
            <a:ext cx="26535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COMPETITION STANDARD</a:t>
            </a:r>
            <a:endParaRPr lang="en-US" sz="650" dirty="0"/>
          </a:p>
        </p:txBody>
      </p:sp>
      <p:sp>
        <p:nvSpPr>
          <p:cNvPr id="48" name="Text 46"/>
          <p:cNvSpPr txBox="1"/>
          <p:nvPr/>
        </p:nvSpPr>
        <p:spPr>
          <a:xfrm>
            <a:off x="809244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m</a:t>
            </a:r>
            <a:endParaRPr lang="en-US" sz="2600" dirty="0"/>
          </a:p>
        </p:txBody>
      </p:sp>
      <p:sp>
        <p:nvSpPr>
          <p:cNvPr id="49" name="Text 47"/>
          <p:cNvSpPr txBox="1"/>
          <p:nvPr/>
        </p:nvSpPr>
        <p:spPr>
          <a:xfrm>
            <a:off x="8092440" y="29077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Obstruction-free boundary lane around the court → whole floor ≥ 32 × 19 m.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80924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 m</a:t>
            </a:r>
            <a:endParaRPr lang="en-US" sz="2600" dirty="0"/>
          </a:p>
        </p:txBody>
      </p:sp>
      <p:sp>
        <p:nvSpPr>
          <p:cNvPr id="51" name="Text 49"/>
          <p:cNvSpPr txBox="1"/>
          <p:nvPr/>
        </p:nvSpPr>
        <p:spPr>
          <a:xfrm>
            <a:off x="8092440" y="38679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of ceiling / lowest obstruction above the court (lights, ducts, trusses).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809244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seats</a:t>
            </a:r>
            <a:endParaRPr lang="en-US" sz="2600" dirty="0"/>
          </a:p>
        </p:txBody>
      </p:sp>
      <p:sp>
        <p:nvSpPr>
          <p:cNvPr id="53" name="Text 51"/>
          <p:cNvSpPr txBox="1"/>
          <p:nvPr/>
        </p:nvSpPr>
        <p:spPr>
          <a:xfrm>
            <a:off x="8092440" y="4828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team bench area, marked outside the court on the scorer's-table side.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092440" y="5806440"/>
            <a:ext cx="292608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92440" y="5166360"/>
            <a:ext cx="2926080" cy="91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1155680" y="5166360"/>
            <a:ext cx="91" cy="64008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1109960" y="512064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1109960" y="57607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73384" y="516636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73384" y="58064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1210544" y="5394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528243" y="5477256"/>
            <a:ext cx="42794" cy="4279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63" name="Shape 61"/>
          <p:cNvSpPr/>
          <p:nvPr/>
        </p:nvSpPr>
        <p:spPr>
          <a:xfrm>
            <a:off x="8523305" y="5522190"/>
            <a:ext cx="52669" cy="148133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4" name="Shape 62"/>
          <p:cNvSpPr/>
          <p:nvPr/>
        </p:nvSpPr>
        <p:spPr>
          <a:xfrm>
            <a:off x="8526597" y="5670322"/>
            <a:ext cx="19751" cy="13611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5" name="Shape 63"/>
          <p:cNvSpPr/>
          <p:nvPr/>
        </p:nvSpPr>
        <p:spPr>
          <a:xfrm>
            <a:off x="8552932" y="5670322"/>
            <a:ext cx="19751" cy="13611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6" name="Shape 64"/>
          <p:cNvSpPr/>
          <p:nvPr/>
        </p:nvSpPr>
        <p:spPr>
          <a:xfrm>
            <a:off x="9351203" y="5477256"/>
            <a:ext cx="42794" cy="42794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67" name="Shape 65"/>
          <p:cNvSpPr/>
          <p:nvPr/>
        </p:nvSpPr>
        <p:spPr>
          <a:xfrm>
            <a:off x="9346265" y="5522190"/>
            <a:ext cx="52669" cy="148133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8" name="Shape 66"/>
          <p:cNvSpPr/>
          <p:nvPr/>
        </p:nvSpPr>
        <p:spPr>
          <a:xfrm>
            <a:off x="9349557" y="5670322"/>
            <a:ext cx="19751" cy="13611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9" name="Shape 67"/>
          <p:cNvSpPr/>
          <p:nvPr/>
        </p:nvSpPr>
        <p:spPr>
          <a:xfrm>
            <a:off x="9375892" y="5670322"/>
            <a:ext cx="19751" cy="13611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092440" y="5852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— clear height governs roof structure depth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868680" y="598932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FIBA, Official Basketball Rules 2024 (v1.0) — Rule One, Art. 2 'Court' &amp; Diagram 1; Art. 2.4.5 team bench areas; 'Basketball Equipment' — playing floor.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685800" y="625449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 The 32 × 19 m floor + 7 m clear height fixes the minimum structural bay and roof depth; storage, benches and seating must all sit outside the 2 m lane.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03 — BASKETBALL · SPECTATOR AREA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Seating section: seat, row, riser, aisle and sightline (C-value)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5257800"/>
            <a:ext cx="219456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303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00200" y="5212080"/>
            <a:ext cx="91440" cy="91440"/>
          </a:xfrm>
          <a:prstGeom prst="ellipse">
            <a:avLst/>
          </a:prstGeom>
          <a:solidFill>
            <a:srgbClr val="D947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5458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of focus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(touchline)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0" y="5824728"/>
            <a:ext cx="1188720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600200" y="577900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788920" y="577900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574243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574243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5861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 lane + bench zone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 flipV="1">
            <a:off x="2834640" y="5065776"/>
            <a:ext cx="91" cy="1920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5065776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346704" y="4809744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5069" y="4777740"/>
            <a:ext cx="153619" cy="5486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3326" y="4521708"/>
            <a:ext cx="45720" cy="26883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19" name="Shape 17"/>
          <p:cNvSpPr/>
          <p:nvPr/>
        </p:nvSpPr>
        <p:spPr>
          <a:xfrm>
            <a:off x="3077870" y="4233672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46704" y="4809744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858768" y="4553712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77133" y="4521708"/>
            <a:ext cx="153619" cy="5486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23" name="Shape 21"/>
          <p:cNvSpPr/>
          <p:nvPr/>
        </p:nvSpPr>
        <p:spPr>
          <a:xfrm>
            <a:off x="3715390" y="4265676"/>
            <a:ext cx="45720" cy="26883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3589934" y="3977640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58768" y="4553712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370832" y="4297680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89197" y="4265676"/>
            <a:ext cx="153619" cy="5486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28" name="Shape 26"/>
          <p:cNvSpPr/>
          <p:nvPr/>
        </p:nvSpPr>
        <p:spPr>
          <a:xfrm>
            <a:off x="4227454" y="4009644"/>
            <a:ext cx="45720" cy="26883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29" name="Shape 27"/>
          <p:cNvSpPr/>
          <p:nvPr/>
        </p:nvSpPr>
        <p:spPr>
          <a:xfrm>
            <a:off x="4101998" y="3721608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4297680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4882896" y="4041648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1261" y="4009644"/>
            <a:ext cx="153619" cy="5486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3" name="Shape 31"/>
          <p:cNvSpPr/>
          <p:nvPr/>
        </p:nvSpPr>
        <p:spPr>
          <a:xfrm>
            <a:off x="4739518" y="3753612"/>
            <a:ext cx="45720" cy="26883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4" name="Shape 32"/>
          <p:cNvSpPr/>
          <p:nvPr/>
        </p:nvSpPr>
        <p:spPr>
          <a:xfrm>
            <a:off x="4614062" y="3465576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82896" y="4041648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394960" y="3785616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13325" y="3753612"/>
            <a:ext cx="153619" cy="5486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8" name="Shape 36"/>
          <p:cNvSpPr/>
          <p:nvPr/>
        </p:nvSpPr>
        <p:spPr>
          <a:xfrm>
            <a:off x="5251582" y="3497580"/>
            <a:ext cx="45720" cy="26883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39" name="Shape 37"/>
          <p:cNvSpPr/>
          <p:nvPr/>
        </p:nvSpPr>
        <p:spPr>
          <a:xfrm>
            <a:off x="5126126" y="3209544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3785616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907024" y="3529584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25389" y="3497580"/>
            <a:ext cx="153619" cy="5486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43" name="Shape 41"/>
          <p:cNvSpPr/>
          <p:nvPr/>
        </p:nvSpPr>
        <p:spPr>
          <a:xfrm>
            <a:off x="5763646" y="3241548"/>
            <a:ext cx="45720" cy="268834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44" name="Shape 42"/>
          <p:cNvSpPr/>
          <p:nvPr/>
        </p:nvSpPr>
        <p:spPr>
          <a:xfrm>
            <a:off x="5638190" y="2953512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1645920" y="4297680"/>
            <a:ext cx="1495958" cy="960120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H="1">
            <a:off x="1645920" y="3529584"/>
            <a:ext cx="3032150" cy="1728216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H="1">
            <a:off x="1645920" y="3017520"/>
            <a:ext cx="4056278" cy="2240280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flipH="1">
            <a:off x="4312310" y="3675888"/>
            <a:ext cx="82296" cy="402336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300630" y="2615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vertical clearance of sightline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head in front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858768" y="4782312"/>
            <a:ext cx="512064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813048" y="473659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325112" y="473659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58768" y="4700016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70832" y="4700016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200400" y="4818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depth ≥ 700 mm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35624" y="3529584"/>
            <a:ext cx="91" cy="256032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089904" y="348386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6089904" y="373989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53328" y="3529584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53328" y="3785616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190488" y="3566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 = from C-value calc.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3931920" y="1874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gangway ≥ 1.2 m (see plan) →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907024" y="3511296"/>
            <a:ext cx="896112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907024" y="31455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9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598932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— diagram redrawn based on Green Guide Ch. 12 sightline geometry (rows/risers drawn schematically; riser height is calculated, not fixed).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640080" y="1280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D(N + R) / (D + T) − R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horizontal eye-to-focus distance · N = riser · R = eye height above focus · T = row depth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7406640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SEATING ROW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40664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1812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2960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4108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5256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6404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06640" y="2103120"/>
            <a:ext cx="411480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7360920" y="20574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772400" y="20574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406640" y="20208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18120" y="20208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697980" y="2139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9948672" y="1600200"/>
            <a:ext cx="98755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F6FB5"/>
            </a:solidFill>
            <a:prstDash val="dash"/>
          </a:ln>
        </p:spPr>
      </p:sp>
      <p:sp>
        <p:nvSpPr>
          <p:cNvPr id="81" name="Text 79"/>
          <p:cNvSpPr txBox="1"/>
          <p:nvPr/>
        </p:nvSpPr>
        <p:spPr>
          <a:xfrm>
            <a:off x="9948672" y="16002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gangway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1200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7955280" y="2377440"/>
            <a:ext cx="1152144" cy="740664"/>
          </a:xfrm>
          <a:prstGeom prst="rect">
            <a:avLst/>
          </a:prstGeom>
          <a:solidFill>
            <a:srgbClr val="9B7FBF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55280" y="2377440"/>
            <a:ext cx="11521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WHEELCHAIR SPACE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9144000" y="2377440"/>
            <a:ext cx="374904" cy="370332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564624" y="2423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955280" y="3246120"/>
            <a:ext cx="1152144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7909560" y="32004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9061704" y="32004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55280" y="31638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107424" y="31638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616952" y="3282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818120" y="2377440"/>
            <a:ext cx="91" cy="740664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7772400" y="23317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7772400" y="307238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735824" y="23774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735824" y="3118104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300216" y="26563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740664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mm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905256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width, new construction (460 mm existing).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7406640" y="3776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700 mm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9052560" y="3785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Seating row depth.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7406640" y="4151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mm (60 min.)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905256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C-value for new seated areas: 90–120 mm; 60 mm practical minimum.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7406640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28 seats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9052560" y="4535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row between two gangways (≤ 14 with a gangway on one side); gangway ≥ 1.2 m.</a:t>
            </a:r>
            <a:endParaRPr lang="en-US" sz="800" dirty="0"/>
          </a:p>
        </p:txBody>
      </p:sp>
      <p:sp>
        <p:nvSpPr>
          <p:cNvPr id="106" name="Text 104"/>
          <p:cNvSpPr txBox="1"/>
          <p:nvPr/>
        </p:nvSpPr>
        <p:spPr>
          <a:xfrm>
            <a:off x="7406640" y="4901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 × 900 mm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9052560" y="4910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Wheelchair-user spectator space, with companion seat alongside.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7406640" y="5285232"/>
            <a:ext cx="2083003" cy="182880"/>
          </a:xfrm>
          <a:prstGeom prst="rect">
            <a:avLst/>
          </a:prstGeom>
          <a:solidFill>
            <a:srgbClr val="6B6B6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406640" y="5298948"/>
            <a:ext cx="20830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GUIDELINE (UK)</a:t>
            </a:r>
            <a:endParaRPr lang="en-US" sz="650" dirty="0"/>
          </a:p>
        </p:txBody>
      </p:sp>
      <p:sp>
        <p:nvSpPr>
          <p:cNvPr id="110" name="Text 108"/>
          <p:cNvSpPr txBox="1"/>
          <p:nvPr/>
        </p:nvSpPr>
        <p:spPr>
          <a:xfrm>
            <a:off x="7406640" y="5532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SGSA, Guide to Safety at Sports Grounds ('Green Guide'), 6th ed. 2018, Ch. 12 Seated accommodation; SGSA Supplementary Guidance SG01 (2022).  Wheelchair space: Sport England, Accessible Sports Facilities — Design Guidance Note (2010): wheelchair spectator space.</a:t>
            </a:r>
            <a:endParaRPr lang="en-US" sz="750" dirty="0"/>
          </a:p>
        </p:txBody>
      </p:sp>
      <p:sp>
        <p:nvSpPr>
          <p:cNvPr id="111" name="Text 109"/>
          <p:cNvSpPr txBox="1"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 Sightlines, not seat counts, set the rake: rake + row depth decide hall height, stair geometry and the depth of the spectator zone beside the court.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04 — BASKETBALL · ATHLETES, CHANGING &amp; SUPPORT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Controlled athlete sequence + a service spine that never crosses the public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SEQUENCE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377440" cy="50292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ENTRANCE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2148840"/>
            <a:ext cx="91" cy="246888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395728"/>
            <a:ext cx="2377440" cy="50292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95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ROOM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898648"/>
            <a:ext cx="91" cy="246888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3145536"/>
            <a:ext cx="2377440" cy="50292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45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SHOWERS / WC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3648456"/>
            <a:ext cx="91" cy="246888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3895344"/>
            <a:ext cx="2377440" cy="50292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8953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4398264"/>
            <a:ext cx="91" cy="246888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645152"/>
            <a:ext cx="2377440" cy="50292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645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395728"/>
            <a:ext cx="1600200" cy="411480"/>
          </a:xfrm>
          <a:prstGeom prst="rect">
            <a:avLst/>
          </a:prstGeom>
          <a:solidFill>
            <a:srgbClr val="9B7FBF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23957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OFFICIALS' ROOM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83280" y="3895344"/>
            <a:ext cx="1600200" cy="411480"/>
          </a:xfrm>
          <a:prstGeom prst="rect">
            <a:avLst/>
          </a:prstGeom>
          <a:solidFill>
            <a:srgbClr val="9B7FBF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38953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/ TEAM AREA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83280" y="4690872"/>
            <a:ext cx="1600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46908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AID / MEDICAL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 flipV="1">
            <a:off x="3017520" y="2596896"/>
            <a:ext cx="365760" cy="27432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flipV="1">
            <a:off x="3017520" y="4096512"/>
            <a:ext cx="365760" cy="27432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017520" y="4901184"/>
            <a:ext cx="36576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38328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step-free route to court AND to an external ambulance point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Bench: 16 seats / team (FIBA Art. 2.4.5) — team area sits between the athlete corridor and the court.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/ BACK-OF-HOUSE ZONING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1737360"/>
            <a:ext cx="3291840" cy="2377440"/>
          </a:xfrm>
          <a:prstGeom prst="rect">
            <a:avLst/>
          </a:prstGeom>
          <a:solidFill>
            <a:srgbClr val="5BAA6A">
              <a:alpha val="45000"/>
            </a:srgbClr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652760" y="1737360"/>
            <a:ext cx="1143000" cy="1234440"/>
          </a:xfrm>
          <a:prstGeom prst="rect">
            <a:avLst/>
          </a:prstGeom>
          <a:solidFill>
            <a:srgbClr val="8C8C8C">
              <a:alpha val="5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52760" y="173736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(floor level,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doors)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0652760" y="3063240"/>
            <a:ext cx="1143000" cy="457200"/>
          </a:xfrm>
          <a:prstGeom prst="rect">
            <a:avLst/>
          </a:prstGeom>
          <a:solidFill>
            <a:srgbClr val="8C8C8C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52760" y="3063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652760" y="3611880"/>
            <a:ext cx="1143000" cy="502920"/>
          </a:xfrm>
          <a:prstGeom prst="rect">
            <a:avLst/>
          </a:prstGeom>
          <a:solidFill>
            <a:srgbClr val="8C8C8C">
              <a:alpha val="7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52760" y="3611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ENTRANCE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LOADING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852160" y="1737360"/>
            <a:ext cx="1417320" cy="100584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52160" y="1737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OFFICIALS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52160" y="2834640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5216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AID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852160" y="3429000"/>
            <a:ext cx="1417320" cy="685800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2160" y="3429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ROOM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315200" y="4206240"/>
            <a:ext cx="1600200" cy="457200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/ CONTROL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006840" y="4206240"/>
            <a:ext cx="1600200" cy="45720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0684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FOYER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 flipV="1">
            <a:off x="11228832" y="3017520"/>
            <a:ext cx="91" cy="594360"/>
          </a:xfrm>
          <a:prstGeom prst="line">
            <a:avLst/>
          </a:prstGeom>
          <a:noFill/>
          <a:ln w="22225">
            <a:solidFill>
              <a:srgbClr val="1A1A1A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 flipH="1">
            <a:off x="10607040" y="2331720"/>
            <a:ext cx="45720" cy="9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269480" y="2240280"/>
            <a:ext cx="45720" cy="91"/>
          </a:xfrm>
          <a:prstGeom prst="line">
            <a:avLst/>
          </a:prstGeom>
          <a:noFill/>
          <a:ln w="22225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5852160" y="47091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Zoning diagram — architectural interpretation; positions are relational, not dimensional.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5852160" y="4965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→ hall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8521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store opens directly onto the playing floor at the same level.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8823960" y="4965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≠ public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88239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and cleaning reach the hall without crossing foyer or spectators.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852160" y="54498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5852160" y="5650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sits at the junction of public foyer and controlled zones.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8823960" y="54498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8823960" y="5650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aid is adjacent to both changing and court; ambulance access outside.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principles — Sport England, Sports Halls: Design &amp; Layouts (2012) support accommodation; Sport England AISF Part D (2024). Bench: FIBA, Official Basketball Rules 2024 (v1.0) Art. 2.4.5.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dimensions are shown for support rooms: sizes depend on brief and capacity; none were verified as fixed standards for this study.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05 — VOLLEYBALL · PLAYING SPACE, HEIGHT &amp; HALL FIT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Volleyball 18 × 9 m: free zone + 12.5 m height decide if a hall can host official play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4393692" cy="2692908"/>
          </a:xfrm>
          <a:prstGeom prst="rect">
            <a:avLst/>
          </a:prstGeom>
          <a:solidFill>
            <a:srgbClr val="F3F3F3"/>
          </a:solidFill>
          <a:ln w="9525">
            <a:solidFill>
              <a:srgbClr val="D9472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81862" y="1975104"/>
            <a:ext cx="3401568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07058" y="2400300"/>
            <a:ext cx="2551176" cy="1275588"/>
          </a:xfrm>
          <a:prstGeom prst="rect">
            <a:avLst/>
          </a:prstGeom>
          <a:solidFill>
            <a:srgbClr val="5BAA6A">
              <a:alpha val="40000"/>
            </a:srgbClr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2646" y="2263140"/>
            <a:ext cx="91" cy="1549908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7450" y="2400300"/>
            <a:ext cx="91" cy="1275588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07842" y="2400300"/>
            <a:ext cx="91" cy="1275588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7058" y="2217420"/>
            <a:ext cx="2551176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61338" y="21717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4112514" y="21717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7058" y="21351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8234" y="21351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8246" y="20162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69898" y="2400300"/>
            <a:ext cx="91" cy="1275588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424178" y="23545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424178" y="36301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7602" y="24003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7602" y="36758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-48006" y="294665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82646" y="3785616"/>
            <a:ext cx="425196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836926" y="373989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262122" y="373989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2646" y="3703320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07842" y="3703320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80844" y="3822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158234" y="3038094"/>
            <a:ext cx="425196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112514" y="299237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4537710" y="299237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58234" y="2955798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83430" y="2955798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56432" y="283692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83430" y="3312414"/>
            <a:ext cx="49606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4537710" y="326669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033772" y="326669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83430" y="3230118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79492" y="3230118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917061" y="311124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244852" y="3675888"/>
            <a:ext cx="91" cy="70866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2199132" y="36301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2199132" y="433882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62556" y="36758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62556" y="438454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6948" y="393877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2151126" y="1737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/ CENTRE LINE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45262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lines 3 m from centre line · all lines 5 cm wide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85800" y="4892040"/>
            <a:ext cx="36576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143000" y="48097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18 × 9 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5800" y="5111496"/>
            <a:ext cx="36576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1143000" y="50292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free zone 3 m → 24 × 15 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5800" y="5330952"/>
            <a:ext cx="36576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1143000" y="52486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FIVB / World / Official: 5 m sides, 6.5 m ends → 31 × 19 m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85800" y="5532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diagram redrawn based on FIVB Rules 2025–28, Rule 1 &amp; Diagram 1a/1b.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530352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— FREE PLAYING SPACE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03520" y="4983480"/>
            <a:ext cx="2560320" cy="9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03520" y="3319272"/>
            <a:ext cx="237744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5349240" y="3346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 general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303520" y="3200400"/>
            <a:ext cx="2377440" cy="91"/>
          </a:xfrm>
          <a:prstGeom prst="line">
            <a:avLst/>
          </a:prstGeom>
          <a:noFill/>
          <a:ln w="15875">
            <a:solidFill>
              <a:srgbClr val="5BAA6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349240" y="3017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5B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m SE hall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303520" y="2011680"/>
            <a:ext cx="237744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5349240" y="18288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 m FIVB official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 flipV="1">
            <a:off x="6492240" y="4405762"/>
            <a:ext cx="91" cy="577718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583680" y="436004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2.43 m (men)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 m (women)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732785" y="4553712"/>
            <a:ext cx="55870" cy="55870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66" name="Shape 64"/>
          <p:cNvSpPr/>
          <p:nvPr/>
        </p:nvSpPr>
        <p:spPr>
          <a:xfrm>
            <a:off x="5726339" y="4612375"/>
            <a:ext cx="68763" cy="193396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7" name="Shape 65"/>
          <p:cNvSpPr/>
          <p:nvPr/>
        </p:nvSpPr>
        <p:spPr>
          <a:xfrm>
            <a:off x="5730636" y="4805771"/>
            <a:ext cx="25786" cy="177709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8" name="Shape 66"/>
          <p:cNvSpPr/>
          <p:nvPr/>
        </p:nvSpPr>
        <p:spPr>
          <a:xfrm>
            <a:off x="5765018" y="4805771"/>
            <a:ext cx="25786" cy="177709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9" name="Shape 67"/>
          <p:cNvSpPr/>
          <p:nvPr/>
        </p:nvSpPr>
        <p:spPr>
          <a:xfrm>
            <a:off x="7195825" y="4553712"/>
            <a:ext cx="55870" cy="55870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70" name="Shape 68"/>
          <p:cNvSpPr/>
          <p:nvPr/>
        </p:nvSpPr>
        <p:spPr>
          <a:xfrm>
            <a:off x="7189379" y="4612375"/>
            <a:ext cx="68763" cy="193396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71" name="Shape 69"/>
          <p:cNvSpPr/>
          <p:nvPr/>
        </p:nvSpPr>
        <p:spPr>
          <a:xfrm>
            <a:off x="7193676" y="4805771"/>
            <a:ext cx="25786" cy="177709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72" name="Shape 70"/>
          <p:cNvSpPr/>
          <p:nvPr/>
        </p:nvSpPr>
        <p:spPr>
          <a:xfrm>
            <a:off x="7228058" y="4805771"/>
            <a:ext cx="25786" cy="177709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412480" y="12801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FIT-CHECK  (SE 34.5 × 20 × 7.5 m)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554480"/>
          <a:ext cx="33375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960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Footprint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Fits?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Volleyball + 3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× 15 m · 7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Volleyball FIVB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× 19 m · 12.5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HEIGHT 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Basketball + 2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× 19 m · 7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" name="Shape 72"/>
          <p:cNvSpPr/>
          <p:nvPr/>
        </p:nvSpPr>
        <p:spPr>
          <a:xfrm>
            <a:off x="8412480" y="3063240"/>
            <a:ext cx="229697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412480" y="3076956"/>
            <a:ext cx="22969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FROM CITED VALUES</a:t>
            </a:r>
            <a:endParaRPr lang="en-US" sz="650" dirty="0"/>
          </a:p>
        </p:txBody>
      </p:sp>
      <p:sp>
        <p:nvSpPr>
          <p:cNvPr id="77" name="Text 74"/>
          <p:cNvSpPr txBox="1"/>
          <p:nvPr/>
        </p:nvSpPr>
        <p:spPr>
          <a:xfrm>
            <a:off x="8412480" y="33375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 4-court hall accepts every court in plan, but only competition-grade volume (≥ 12.5 m) hosts FIVB-level play → decide the competition level BEFORE fixing roof height.</a:t>
            </a:r>
            <a:endParaRPr lang="en-US" sz="850" dirty="0"/>
          </a:p>
        </p:txBody>
      </p:sp>
      <p:sp>
        <p:nvSpPr>
          <p:cNvPr id="78" name="Text 75"/>
          <p:cNvSpPr txBox="1"/>
          <p:nvPr/>
        </p:nvSpPr>
        <p:spPr>
          <a:xfrm>
            <a:off x="8412480" y="42062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SPECTATORS · PLAYERS · SUPPORT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8412480" y="44348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Green Guide seat/row/C-value rules as slide 04; front row starts beyond the free zone (5 / 6.5 m at official level).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benches beside the scorer's table, outside the free zone (Rule 1.4).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/ support: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sequence to basketball — the hall is shared.</a:t>
            </a:r>
            <a:endParaRPr lang="en-US" sz="800" dirty="0"/>
          </a:p>
        </p:txBody>
      </p:sp>
      <p:sp>
        <p:nvSpPr>
          <p:cNvPr id="80" name="Text 77"/>
          <p:cNvSpPr txBox="1"/>
          <p:nvPr/>
        </p:nvSpPr>
        <p:spPr>
          <a:xfrm>
            <a:off x="685800" y="5870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FIVB, Official Volleyball Rules 2025–2028 — Rule 1 'Playing Area' (1.1 dimensions &amp; free zone, 1.1.2 free playing space, 1.3 lines, 1.4 zones).  Hall: Sport England, Sports Halls: Design &amp; Layouts (2012 update) — revised 4-court hall 34.5 × 20.0 × 7.5 m.</a:t>
            </a:r>
            <a:endParaRPr lang="en-US" sz="750" dirty="0"/>
          </a:p>
        </p:txBody>
      </p:sp>
      <p:sp>
        <p:nvSpPr>
          <p:cNvPr id="81" name="Text 78"/>
          <p:cNvSpPr txBox="1"/>
          <p:nvPr/>
        </p:nvSpPr>
        <p:spPr>
          <a:xfrm>
            <a:off x="68580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 18 × 9 m, 3 m free zone, 7 m height = rule for all play · 5 / 6.5 m + 12.5 m = FIVB, World &amp; Official competitions only.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06 — CIRCULATION SYSTEMS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Three separate flows meet only at the court edge — and only by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43000" y="1325880"/>
            <a:ext cx="6675120" cy="397764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71800" y="1965960"/>
            <a:ext cx="3291840" cy="1920240"/>
          </a:xfrm>
          <a:prstGeom prst="rect">
            <a:avLst/>
          </a:prstGeom>
          <a:solidFill>
            <a:srgbClr val="5BAA6A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718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3886200"/>
            <a:ext cx="3291840" cy="548640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 SEATING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71800" y="4434840"/>
            <a:ext cx="3291840" cy="868680"/>
          </a:xfrm>
          <a:prstGeom prst="rect">
            <a:avLst/>
          </a:prstGeom>
          <a:solidFill>
            <a:srgbClr val="F2B134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 · FOYER · WC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1325880"/>
            <a:ext cx="1828800" cy="182880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SHOWERS · WC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3154680"/>
            <a:ext cx="1828800" cy="731520"/>
          </a:xfrm>
          <a:prstGeom prst="rect">
            <a:avLst/>
          </a:prstGeom>
          <a:solidFill>
            <a:srgbClr val="9B7FBF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1554480" cy="2560320"/>
          </a:xfrm>
          <a:prstGeom prst="rect">
            <a:avLst/>
          </a:prstGeom>
          <a:solidFill>
            <a:srgbClr val="8C8C8C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1737360"/>
            <a:ext cx="96012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1737360"/>
            <a:ext cx="91" cy="1828800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3566160"/>
            <a:ext cx="91440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606040" y="3154680"/>
            <a:ext cx="640080" cy="411480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0292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 flipV="1">
            <a:off x="4251960" y="4800600"/>
            <a:ext cx="91" cy="86868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H="1" flipV="1">
            <a:off x="3611880" y="4526280"/>
            <a:ext cx="640080" cy="27432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3611880" y="4114800"/>
            <a:ext cx="91" cy="41148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32120" y="4160520"/>
            <a:ext cx="365760" cy="64008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897880" y="4800600"/>
            <a:ext cx="91" cy="86868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154680" y="5687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ENTRANCE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5504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 flipH="1">
            <a:off x="7178040" y="1691640"/>
            <a:ext cx="105156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</a:ln>
        </p:spPr>
      </p:sp>
      <p:sp>
        <p:nvSpPr>
          <p:cNvPr id="30" name="Shape 28"/>
          <p:cNvSpPr/>
          <p:nvPr/>
        </p:nvSpPr>
        <p:spPr>
          <a:xfrm>
            <a:off x="7178040" y="1691640"/>
            <a:ext cx="91" cy="1234440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</a:ln>
        </p:spPr>
      </p:sp>
      <p:sp>
        <p:nvSpPr>
          <p:cNvPr id="31" name="Shape 29"/>
          <p:cNvSpPr/>
          <p:nvPr/>
        </p:nvSpPr>
        <p:spPr>
          <a:xfrm flipH="1">
            <a:off x="6446520" y="2926080"/>
            <a:ext cx="73152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</a:ln>
        </p:spPr>
      </p:sp>
      <p:sp>
        <p:nvSpPr>
          <p:cNvPr id="32" name="Shape 30"/>
          <p:cNvSpPr/>
          <p:nvPr/>
        </p:nvSpPr>
        <p:spPr>
          <a:xfrm flipH="1">
            <a:off x="5897880" y="2926080"/>
            <a:ext cx="54864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86384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0" y="3657600"/>
            <a:ext cx="457200" cy="457200"/>
          </a:xfrm>
          <a:prstGeom prst="ellipse">
            <a:avLst/>
          </a:prstGeom>
          <a:ln w="19050">
            <a:solidFill>
              <a:srgbClr val="D9472B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118872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crossing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(court edge only)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580644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 diagram — architectural interpretation (principle, not a specific building).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412480" y="1527048"/>
            <a:ext cx="64008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918972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189720" y="1673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entrance → changing → shower → warm-up → court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412480" y="2395728"/>
            <a:ext cx="640080" cy="91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918972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18972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entrance → reception → spectator zone → seating → exit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412480" y="3264408"/>
            <a:ext cx="64008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9189720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189720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entrance → storage → equipment → sports hall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841248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412480" y="4389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entrances on different façades.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Spectators never pass through changing or store zones.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reaches the hall floor level without steps.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Exits sized and located per fire regulation (INBR Topic 3) — verify for the chosen occupancy.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drawn from Sport England sports-hall guidance (zoning of changing, storage, spectator &amp; public areas); fire exits — INBR Topic 3 (Mabhas 3, fire protection).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07 — CHANGING ROOMS + SHOWERS + ATHLETE SUPPORT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Dry → transition → wet: a one-way sequence from entrance to hall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669280" cy="396849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01568" cy="3968496"/>
          </a:xfrm>
          <a:prstGeom prst="rect">
            <a:avLst/>
          </a:prstGeom>
          <a:solidFill>
            <a:srgbClr val="9B7FBF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41648" y="1417320"/>
            <a:ext cx="2267712" cy="2551176"/>
          </a:xfrm>
          <a:prstGeom prst="rect">
            <a:avLst/>
          </a:prstGeom>
          <a:solidFill>
            <a:srgbClr val="6FA8DC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41648" y="3968496"/>
            <a:ext cx="2267712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Shape 6"/>
          <p:cNvSpPr/>
          <p:nvPr/>
        </p:nvSpPr>
        <p:spPr>
          <a:xfrm>
            <a:off x="4041648" y="1417320"/>
            <a:ext cx="91" cy="3968496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44168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7632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1096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78024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4952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8416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1801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77240" y="2651760"/>
            <a:ext cx="3061411" cy="226771"/>
          </a:xfrm>
          <a:prstGeom prst="rect">
            <a:avLst/>
          </a:prstGeom>
          <a:solidFill>
            <a:srgbClr val="6B6B6B">
              <a:alpha val="7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60520"/>
            <a:ext cx="3061411" cy="226771"/>
          </a:xfrm>
          <a:prstGeom prst="rect">
            <a:avLst/>
          </a:prstGeom>
          <a:solidFill>
            <a:srgbClr val="6B6B6B">
              <a:alpha val="7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497019"/>
            <a:ext cx="502920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31520" y="4451299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234440" y="4451299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414723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4414723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" y="453359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/ person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2441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+ HOOKS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15968" y="1527048"/>
            <a:ext cx="118872" cy="11887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41164" y="1527048"/>
            <a:ext cx="118872" cy="11887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1527048"/>
            <a:ext cx="118872" cy="11887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91556" y="1527048"/>
            <a:ext cx="118872" cy="11887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5404" y="1920240"/>
            <a:ext cx="425196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329684" y="18745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754880" y="18745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75404" y="183794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183794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73602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178808" y="2148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COMMUNAL SHOWERS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178808" y="2971800"/>
            <a:ext cx="510235" cy="510235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62195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cubicle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min.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pref.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4178808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DRYING ZONE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(transition, drained floor)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224528" y="4242816"/>
            <a:ext cx="914400" cy="914400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30368" y="4242816"/>
            <a:ext cx="914400" cy="914400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24528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5230368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37160" y="4988966"/>
            <a:ext cx="86868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91440" y="506211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athlete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188720" y="4988966"/>
            <a:ext cx="219456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flipV="1">
            <a:off x="3383280" y="3520440"/>
            <a:ext cx="91" cy="1468526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3383280" y="3520440"/>
            <a:ext cx="82296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 flipV="1">
            <a:off x="4206240" y="2560320"/>
            <a:ext cx="365760" cy="960120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383280" y="4988966"/>
            <a:ext cx="342900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6355080" y="50621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WARM-UP /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</a:t>
            </a:r>
            <a:endParaRPr lang="en-US" sz="650" dirty="0"/>
          </a:p>
        </p:txBody>
      </p:sp>
      <p:sp>
        <p:nvSpPr>
          <p:cNvPr id="60" name="Text 58"/>
          <p:cNvSpPr txBox="1"/>
          <p:nvPr/>
        </p:nvSpPr>
        <p:spPr>
          <a:xfrm>
            <a:off x="77724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ZONE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230368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ZONE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40080" y="54955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illustrative layout by the author; only the labelled component dimensions (mm) are cited. Room size is not a standard.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mm</a:t>
            </a:r>
            <a:endParaRPr lang="en-US" sz="2000" dirty="0"/>
          </a:p>
        </p:txBody>
      </p:sp>
      <p:sp>
        <p:nvSpPr>
          <p:cNvPr id="64" name="Text 62"/>
          <p:cNvSpPr txBox="1"/>
          <p:nvPr/>
        </p:nvSpPr>
        <p:spPr>
          <a:xfrm>
            <a:off x="772668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length per person (changing).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97383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mm</a:t>
            </a:r>
            <a:endParaRPr lang="en-US" sz="2000" dirty="0"/>
          </a:p>
        </p:txBody>
      </p:sp>
      <p:sp>
        <p:nvSpPr>
          <p:cNvPr id="66" name="Text 64"/>
          <p:cNvSpPr txBox="1"/>
          <p:nvPr/>
        </p:nvSpPr>
        <p:spPr>
          <a:xfrm>
            <a:off x="973836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 between heads, communal shower.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772668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/ 900</a:t>
            </a:r>
            <a:endParaRPr lang="en-US" sz="2000" dirty="0"/>
          </a:p>
        </p:txBody>
      </p:sp>
      <p:sp>
        <p:nvSpPr>
          <p:cNvPr id="68" name="Text 66"/>
          <p:cNvSpPr txBox="1"/>
          <p:nvPr/>
        </p:nvSpPr>
        <p:spPr>
          <a:xfrm>
            <a:off x="772668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/ preferred manoeuvring width in a shower cubicle (mm).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726680" y="3108960"/>
            <a:ext cx="179771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726680" y="3122676"/>
            <a:ext cx="17977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PLANNING VALUE</a:t>
            </a:r>
            <a:endParaRPr lang="en-US" sz="650" dirty="0"/>
          </a:p>
        </p:txBody>
      </p:sp>
      <p:sp>
        <p:nvSpPr>
          <p:cNvPr id="71" name="Text 69"/>
          <p:cNvSpPr txBox="1"/>
          <p:nvPr/>
        </p:nvSpPr>
        <p:spPr>
          <a:xfrm>
            <a:off x="772668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as quoted from Sport England changing guidance by UK changing-room specifiers — verify in the current Sport England note before use.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3886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CHANGING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7726680" y="4114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separate accessible changing room with its own WC + shower on the same step-free route; Sport England AISF Part D sets layouts and grab-rail positions.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772668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FLOW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726680" y="5029200"/>
            <a:ext cx="685800" cy="347472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726680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412480" y="5202936"/>
            <a:ext cx="118872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8531352" y="5029200"/>
            <a:ext cx="685800" cy="347472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531352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SHOWER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217152" y="5202936"/>
            <a:ext cx="118872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9336024" y="5029200"/>
            <a:ext cx="685800" cy="347472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336024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0021824" y="5202936"/>
            <a:ext cx="118872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0140696" y="5029200"/>
            <a:ext cx="685800" cy="347472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140696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0826496" y="5202936"/>
            <a:ext cx="118872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10945368" y="5029200"/>
            <a:ext cx="685800" cy="347472"/>
          </a:xfrm>
          <a:prstGeom prst="rect">
            <a:avLst/>
          </a:prstGeom>
          <a:solidFill>
            <a:srgbClr val="5BAA6A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945368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values — Sport England changing-room guidance as cited by UK suppliers (e.g. sportschangingrooms.co.uk); accessible provision — Sport England, Accessible &amp; Inclusive Sports Facilities — Part D: Changing &amp; toilet provision (2024).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 Wet and dry zones must not overlap: the drying zone is the threshold that keeps the locker floor dry and defines the one-way route to the hall.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08 — PHYSICAL EDUCATION FACULTY · SPACE RELATIONSHIPS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Four functional groups under one entrance — each with its own critical adjacency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1371600"/>
            <a:ext cx="2743200" cy="457200"/>
          </a:xfrm>
          <a:prstGeom prst="rect">
            <a:avLst/>
          </a:prstGeom>
          <a:solidFill>
            <a:srgbClr val="F2B134">
              <a:alpha val="7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· ENTRANCE + FOYER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828800" cy="411480"/>
          </a:xfrm>
          <a:prstGeom prst="rect">
            <a:avLst/>
          </a:prstGeom>
          <a:solidFill>
            <a:srgbClr val="6FA8DC">
              <a:alpha val="7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182880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463040" y="2103120"/>
            <a:ext cx="265176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103120"/>
            <a:ext cx="91" cy="320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3017520"/>
            <a:ext cx="1554480" cy="347472"/>
          </a:xfrm>
          <a:prstGeom prst="rect">
            <a:avLst/>
          </a:prstGeom>
          <a:solidFill>
            <a:srgbClr val="6FA8D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1792" y="2834640"/>
            <a:ext cx="91" cy="3566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1912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474720"/>
            <a:ext cx="1554480" cy="347472"/>
          </a:xfrm>
          <a:prstGeom prst="rect">
            <a:avLst/>
          </a:prstGeom>
          <a:solidFill>
            <a:srgbClr val="6FA8D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1792" y="2834640"/>
            <a:ext cx="91" cy="8138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6484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931920"/>
            <a:ext cx="1554480" cy="347472"/>
          </a:xfrm>
          <a:prstGeom prst="rect">
            <a:avLst/>
          </a:prstGeom>
          <a:solidFill>
            <a:srgbClr val="6FA8D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1792" y="2834640"/>
            <a:ext cx="91" cy="12710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41056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2423160"/>
            <a:ext cx="1828800" cy="411480"/>
          </a:xfrm>
          <a:prstGeom prst="rect">
            <a:avLst/>
          </a:prstGeom>
          <a:solidFill>
            <a:srgbClr val="F2B134">
              <a:alpha val="7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5176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182880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3566160" y="2103120"/>
            <a:ext cx="54864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2103120"/>
            <a:ext cx="91" cy="320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788920" y="3017520"/>
            <a:ext cx="1554480" cy="347472"/>
          </a:xfrm>
          <a:prstGeom prst="rect">
            <a:avLst/>
          </a:prstGeom>
          <a:solidFill>
            <a:srgbClr val="F2B134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8892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CAFETERIA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24912" y="2834640"/>
            <a:ext cx="91" cy="3566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24912" y="31912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3474720"/>
            <a:ext cx="1554480" cy="347472"/>
          </a:xfrm>
          <a:prstGeom prst="rect">
            <a:avLst/>
          </a:prstGeom>
          <a:solidFill>
            <a:srgbClr val="F2B134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8892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LOUNGE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24912" y="2834640"/>
            <a:ext cx="91" cy="8138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24912" y="36484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3931920"/>
            <a:ext cx="1554480" cy="347472"/>
          </a:xfrm>
          <a:prstGeom prst="rect">
            <a:avLst/>
          </a:prstGeom>
          <a:solidFill>
            <a:srgbClr val="F2B134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8892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STUDY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24912" y="2834640"/>
            <a:ext cx="91" cy="12710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24912" y="41056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423160"/>
            <a:ext cx="1828800" cy="411480"/>
          </a:xfrm>
          <a:prstGeom prst="rect">
            <a:avLst/>
          </a:prstGeom>
          <a:solidFill>
            <a:srgbClr val="5BAA6A">
              <a:alpha val="7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5488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0" y="182880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0" y="2103120"/>
            <a:ext cx="155448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2103120"/>
            <a:ext cx="91" cy="320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892040" y="3017520"/>
            <a:ext cx="1554480" cy="347472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9204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2834640"/>
            <a:ext cx="91" cy="3566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28032" y="31912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92040" y="3474720"/>
            <a:ext cx="1554480" cy="347472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9204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28032" y="2834640"/>
            <a:ext cx="91" cy="8138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28032" y="36484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2040" y="3931920"/>
            <a:ext cx="1554480" cy="347472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89204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SHOWERS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28032" y="2834640"/>
            <a:ext cx="91" cy="12710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28032" y="41056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4389120"/>
            <a:ext cx="1554480" cy="347472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892040" y="4389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28032" y="2834640"/>
            <a:ext cx="91" cy="17282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28032" y="45628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0" y="2423160"/>
            <a:ext cx="1828800" cy="411480"/>
          </a:xfrm>
          <a:prstGeom prst="rect">
            <a:avLst/>
          </a:prstGeom>
          <a:solidFill>
            <a:srgbClr val="8C8C8C">
              <a:alpha val="7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85800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0" y="182880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14800" y="2103120"/>
            <a:ext cx="365760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72400" y="2103120"/>
            <a:ext cx="91" cy="320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995160" y="3017520"/>
            <a:ext cx="1554480" cy="347472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9516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931152" y="2834640"/>
            <a:ext cx="91" cy="3566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31152" y="31912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95160" y="3474720"/>
            <a:ext cx="1554480" cy="347472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99516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931152" y="2834640"/>
            <a:ext cx="91" cy="8138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31152" y="36484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95160" y="3931920"/>
            <a:ext cx="1554480" cy="347472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99516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931152" y="2834640"/>
            <a:ext cx="91" cy="12710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31152" y="41056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95160" y="4389120"/>
            <a:ext cx="1554480" cy="347472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995160" y="4389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931152" y="2834640"/>
            <a:ext cx="91" cy="17282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31152" y="45628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92040" y="4892040"/>
            <a:ext cx="1554480" cy="347472"/>
          </a:xfrm>
          <a:prstGeom prst="rect">
            <a:avLst/>
          </a:prstGeom>
          <a:solidFill>
            <a:srgbClr val="8C8C8C">
              <a:alpha val="7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892040" y="4892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ACCESS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 flipV="1">
            <a:off x="5669280" y="4736592"/>
            <a:ext cx="91" cy="15544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5" name="Text 83"/>
          <p:cNvSpPr txBox="1"/>
          <p:nvPr/>
        </p:nvSpPr>
        <p:spPr>
          <a:xfrm>
            <a:off x="548640" y="5349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ADJACENCIES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548640" y="55595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 ↔ CHANGING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· </a:t>
            </a:r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↔ EQUIPMENT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same level · </a:t>
            </a:r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CLASSROOMS ↔ LIBRARY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· </a:t>
            </a:r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CAFETERIA ↔ SERVICE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· </a:t>
            </a:r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 ↔ FOYER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(event use)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914400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USER STREAMS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144000" y="1783080"/>
            <a:ext cx="548640" cy="91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89" name="Text 87"/>
          <p:cNvSpPr txBox="1"/>
          <p:nvPr/>
        </p:nvSpPr>
        <p:spPr>
          <a:xfrm>
            <a:off x="9829800" y="1691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9829800" y="1911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 → auditorium / events → spectators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9144000" y="2468880"/>
            <a:ext cx="548640" cy="91"/>
          </a:xfrm>
          <a:prstGeom prst="line">
            <a:avLst/>
          </a:prstGeom>
          <a:noFill/>
          <a:ln w="31750">
            <a:solidFill>
              <a:srgbClr val="6FA8DC"/>
            </a:solidFill>
            <a:prstDash val="solid"/>
            <a:tailEnd type="triangle"/>
          </a:ln>
        </p:spPr>
      </p:sp>
      <p:sp>
        <p:nvSpPr>
          <p:cNvPr id="92" name="Text 90"/>
          <p:cNvSpPr txBox="1"/>
          <p:nvPr/>
        </p:nvSpPr>
        <p:spPr>
          <a:xfrm>
            <a:off x="9829800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9829800" y="2596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 → classrooms, library, cafeteria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9144000" y="3154680"/>
            <a:ext cx="54864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95" name="Text 93"/>
          <p:cNvSpPr txBox="1"/>
          <p:nvPr/>
        </p:nvSpPr>
        <p:spPr>
          <a:xfrm>
            <a:off x="9829800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982980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→ changing → hall / fields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9144000" y="3840480"/>
            <a:ext cx="548640" cy="91"/>
          </a:xfrm>
          <a:prstGeom prst="line">
            <a:avLst/>
          </a:prstGeom>
          <a:noFill/>
          <a:ln w="31750">
            <a:solidFill>
              <a:srgbClr val="9B7FBF"/>
            </a:solidFill>
            <a:prstDash val="dash"/>
            <a:tailEnd type="triangle"/>
          </a:ln>
        </p:spPr>
      </p:sp>
      <p:sp>
        <p:nvSpPr>
          <p:cNvPr id="98" name="Text 96"/>
          <p:cNvSpPr txBox="1"/>
          <p:nvPr/>
        </p:nvSpPr>
        <p:spPr>
          <a:xfrm>
            <a:off x="9829800" y="3749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982980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↔ classrooms ↔ labs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9144000" y="4526280"/>
            <a:ext cx="54864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  <a:tailEnd type="triangle"/>
          </a:ln>
        </p:spPr>
      </p:sp>
      <p:sp>
        <p:nvSpPr>
          <p:cNvPr id="101" name="Text 99"/>
          <p:cNvSpPr txBox="1"/>
          <p:nvPr/>
        </p:nvSpPr>
        <p:spPr>
          <a:xfrm>
            <a:off x="982980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9829800" y="46542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yard → kitchen, stores, plant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914400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 diagram — architectural interpretation; distances not scaled.</a:t>
            </a:r>
            <a:endParaRPr lang="en-US" sz="750" dirty="0"/>
          </a:p>
        </p:txBody>
      </p:sp>
      <p:sp>
        <p:nvSpPr>
          <p:cNvPr id="104" name="Text 102"/>
          <p:cNvSpPr txBox="1"/>
          <p:nvPr/>
        </p:nvSpPr>
        <p:spPr>
          <a:xfrm>
            <a:off x="548640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groups as defined in the studio brief; adjacency logic consistent with Sport England sports-hall guidance (hall–changing–store) and university space-planning guides. No numerical standard on this slide.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09 — FACULTY · CLASSROOM + LIBRARY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Teaching rooms sized per place, side-lit, entered from a 1.8 m corridor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25880" y="1600200"/>
            <a:ext cx="3364992" cy="290230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874520"/>
            <a:ext cx="91440" cy="640080"/>
          </a:xfrm>
          <a:prstGeom prst="rect">
            <a:avLst/>
          </a:prstGeom>
          <a:solidFill>
            <a:srgbClr val="6FA8D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743200"/>
            <a:ext cx="91440" cy="640080"/>
          </a:xfrm>
          <a:prstGeom prst="rect">
            <a:avLst/>
          </a:prstGeom>
          <a:solidFill>
            <a:srgbClr val="6FA8D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3611880"/>
            <a:ext cx="91440" cy="640080"/>
          </a:xfrm>
          <a:prstGeom prst="rect">
            <a:avLst/>
          </a:prstGeom>
          <a:solidFill>
            <a:srgbClr val="6FA8D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94560"/>
            <a:ext cx="292608" cy="91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" y="3063240"/>
            <a:ext cx="292608" cy="91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" y="3931920"/>
            <a:ext cx="292608" cy="91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" y="463966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 (left of writing hand)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874520" y="1645920"/>
            <a:ext cx="2267712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74520" y="175564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/ SCREEN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2011680"/>
            <a:ext cx="2267712" cy="5029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74520" y="214884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ZONE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645920" y="2651760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21408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4328" y="2651760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15768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816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02736" y="2651760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78224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3026664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7360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21408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4328" y="3026664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15768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99816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02736" y="3026664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94176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78224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0" y="3401568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37360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1408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24328" y="3401568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15768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99816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02736" y="3401568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94176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78224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45920" y="3776472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37360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21408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24328" y="3776472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15768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99816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02736" y="3776472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94176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78224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45920" y="4151376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37360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21408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24328" y="4151376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15768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99816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02736" y="4151376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94176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78224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45152" y="3816706"/>
            <a:ext cx="914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4279392" y="3816706"/>
            <a:ext cx="822960" cy="822960"/>
          </a:xfrm>
          <a:prstGeom prst="arc">
            <a:avLst>
              <a:gd name="adj1" fmla="val 10800000"/>
              <a:gd name="adj2" fmla="val 16200000"/>
            </a:avLst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36592" y="1600200"/>
            <a:ext cx="757123" cy="2902306"/>
          </a:xfrm>
          <a:prstGeom prst="rect">
            <a:avLst/>
          </a:prstGeom>
          <a:solidFill>
            <a:srgbClr val="F2B134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736592" y="1828800"/>
            <a:ext cx="757123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4690872" y="1783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5447995" y="1783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36592" y="17465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93715" y="17465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200754" y="1627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 m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4736592" y="2971800"/>
            <a:ext cx="757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(educational)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325880" y="4685386"/>
            <a:ext cx="336499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1280160" y="463966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4645152" y="463966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25880" y="4603090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90872" y="4603090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093976" y="472196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 m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22960" y="1600200"/>
            <a:ext cx="91" cy="2902306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777240" y="15544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77240" y="445678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0664" y="16002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0664" y="4502506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-694944" y="2959913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 m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1325880" y="495970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m² / 30 places ≈ 1.8 m² per place — example proportions by author; area from BB103.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562356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m²</a:t>
            </a:r>
            <a:endParaRPr lang="en-US" sz="1800" dirty="0"/>
          </a:p>
        </p:txBody>
      </p:sp>
      <p:sp>
        <p:nvSpPr>
          <p:cNvPr id="85" name="Text 83"/>
          <p:cNvSpPr txBox="1"/>
          <p:nvPr/>
        </p:nvSpPr>
        <p:spPr>
          <a:xfrm>
            <a:off x="5623560" y="17007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classroom for 30 (school guideline, used as a lower bound).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562356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2.5–2.75 m²</a:t>
            </a:r>
            <a:endParaRPr lang="en-US" sz="1800" dirty="0"/>
          </a:p>
        </p:txBody>
      </p:sp>
      <p:sp>
        <p:nvSpPr>
          <p:cNvPr id="87" name="Text 85"/>
          <p:cNvSpPr txBox="1"/>
          <p:nvPr/>
        </p:nvSpPr>
        <p:spPr>
          <a:xfrm>
            <a:off x="5623560" y="25237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workplace — group-work / IT / seminar rooms (university guide).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56235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 m</a:t>
            </a:r>
            <a:endParaRPr lang="en-US" sz="1800" dirty="0"/>
          </a:p>
        </p:txBody>
      </p:sp>
      <p:sp>
        <p:nvSpPr>
          <p:cNvPr id="89" name="Text 87"/>
          <p:cNvSpPr txBox="1"/>
          <p:nvPr/>
        </p:nvSpPr>
        <p:spPr>
          <a:xfrm>
            <a:off x="5623560" y="33467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corridor width, educational spaces.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623560" y="3749040"/>
            <a:ext cx="1013155" cy="182880"/>
          </a:xfrm>
          <a:prstGeom prst="rect">
            <a:avLst/>
          </a:prstGeom>
          <a:solidFill>
            <a:srgbClr val="6B6B6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5623560" y="3762756"/>
            <a:ext cx="10131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5623560" y="4005072"/>
            <a:ext cx="1369771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623560" y="4018788"/>
            <a:ext cx="13697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(IRAN)</a:t>
            </a:r>
            <a:endParaRPr lang="en-US" sz="650" dirty="0"/>
          </a:p>
        </p:txBody>
      </p:sp>
      <p:sp>
        <p:nvSpPr>
          <p:cNvPr id="94" name="Text 92"/>
          <p:cNvSpPr txBox="1"/>
          <p:nvPr/>
        </p:nvSpPr>
        <p:spPr>
          <a:xfrm>
            <a:off x="809244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— ZONING PLAN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092440" y="1783080"/>
            <a:ext cx="3657600" cy="301752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092440" y="4069080"/>
            <a:ext cx="1188720" cy="731520"/>
          </a:xfrm>
          <a:prstGeom prst="rect">
            <a:avLst/>
          </a:prstGeom>
          <a:solidFill>
            <a:srgbClr val="F2B134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092440" y="4114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+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DESK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950976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92124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033272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074420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115568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9464040" y="4114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STACKS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8229600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796528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363456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30384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497312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064240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183880" y="2167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ZONE — individual carrels along daylight façade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8183880" y="2514600"/>
            <a:ext cx="1097280" cy="1417320"/>
          </a:xfrm>
          <a:prstGeom prst="rect">
            <a:avLst/>
          </a:prstGeom>
          <a:solidFill>
            <a:srgbClr val="6FA8DC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818388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10607040" y="4069080"/>
            <a:ext cx="1143000" cy="731520"/>
          </a:xfrm>
          <a:prstGeom prst="rect">
            <a:avLst/>
          </a:prstGeom>
          <a:solidFill>
            <a:srgbClr val="9B7FBF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0607040" y="41148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STUDY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(enclosed — acoustic)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8549640" y="1581912"/>
            <a:ext cx="91" cy="173736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9464040" y="1581912"/>
            <a:ext cx="91" cy="173736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10378440" y="1581912"/>
            <a:ext cx="91" cy="173736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11292840" y="1581912"/>
            <a:ext cx="91" cy="173736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8686800" y="4023360"/>
            <a:ext cx="91" cy="1051560"/>
          </a:xfrm>
          <a:prstGeom prst="line">
            <a:avLst/>
          </a:prstGeom>
          <a:noFill/>
          <a:ln w="15875">
            <a:solidFill>
              <a:srgbClr val="2F6FB5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 flipV="1">
            <a:off x="8686800" y="2468880"/>
            <a:ext cx="777240" cy="1554480"/>
          </a:xfrm>
          <a:prstGeom prst="line">
            <a:avLst/>
          </a:prstGeom>
          <a:noFill/>
          <a:ln w="15875">
            <a:solidFill>
              <a:srgbClr val="2F6FB5"/>
            </a:solidFill>
            <a:prstDash val="dash"/>
            <a:tailEnd type="triangle"/>
          </a:ln>
        </p:spPr>
      </p:sp>
      <p:sp>
        <p:nvSpPr>
          <p:cNvPr id="121" name="Text 119"/>
          <p:cNvSpPr txBox="1"/>
          <p:nvPr/>
        </p:nvSpPr>
        <p:spPr>
          <a:xfrm>
            <a:off x="8092440" y="4892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gradient: loud (entry, group) → quiet (carrels). Accessible route ≥ 1.5 m turning space at desk and stacks.</a:t>
            </a:r>
            <a:endParaRPr lang="en-US" sz="750" dirty="0"/>
          </a:p>
        </p:txBody>
      </p:sp>
      <p:sp>
        <p:nvSpPr>
          <p:cNvPr id="122" name="Text 120"/>
          <p:cNvSpPr txBox="1"/>
          <p:nvPr/>
        </p:nvSpPr>
        <p:spPr>
          <a:xfrm>
            <a:off x="809244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per reader: no authoritative value verified for this study — not presented as a standard.</a:t>
            </a:r>
            <a:endParaRPr lang="en-US" sz="750" dirty="0"/>
          </a:p>
        </p:txBody>
      </p:sp>
      <p:sp>
        <p:nvSpPr>
          <p:cNvPr id="123" name="Text 121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DfE, Building Bulletin 103 — Area guidelines for mainstream schools (2014): general classroom 55 m² / 30 pupils.  University of York, Space Guidelines &amp; Standards (Aug 2025) — m² per workplace by room type.  Corridor: Iranian National Building Regulations (INBR), Topic 4 'General Building Requirements' (Mabhas 4), ed. 1396/2017.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10 — FACULTY · AUDITORIUM + CAFETERIA + STUDENT SPACES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Rows limited by seatway width; food moves one way from kitchen to waste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 — SECTION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7280" cy="457200"/>
          </a:xfrm>
          <a:prstGeom prst="rect">
            <a:avLst/>
          </a:prstGeom>
          <a:solidFill>
            <a:srgbClr val="F3F3F3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37360" y="2788920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066544" y="2688336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92808" y="2423160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2688336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395728" y="2587752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2322576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2587752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724912" y="2487168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1176" y="2221992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2487168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054096" y="2386584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2121408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54096" y="2386584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383280" y="2286000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9544" y="2020824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286000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712464" y="2185416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38728" y="1920240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12464" y="2185416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041648" y="2084832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67912" y="1819656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41648" y="2084832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370832" y="1984248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97096" y="1719072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1554480" y="2331720"/>
            <a:ext cx="374904" cy="137160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H="1">
            <a:off x="1554480" y="2066544"/>
            <a:ext cx="1691640" cy="265176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H="1">
            <a:off x="1554480" y="1764792"/>
            <a:ext cx="2679192" cy="566928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1828800" y="1463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sightline to stage edge → riser grows with distance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4279392" y="1847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9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WHEELCHAIR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9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 at rear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28620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— schematic; riser from sightline calculation.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ROW LENGTH vs SEATWAY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51560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98448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45336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92224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39112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32888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79776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26664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73552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67328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14216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61104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1560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98448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45336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92224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39112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0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32888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79776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26664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73552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20440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67328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14216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61104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1560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98448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45336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792224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39112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86000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532888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79776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026664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73552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20440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67328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14216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61104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0080" y="3447288"/>
            <a:ext cx="365760" cy="1005840"/>
          </a:xfrm>
          <a:prstGeom prst="rect">
            <a:avLst/>
          </a:prstGeom>
          <a:ln w="9525">
            <a:solidFill>
              <a:srgbClr val="2F6FB5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4507992" y="3447288"/>
            <a:ext cx="365760" cy="1005840"/>
          </a:xfrm>
          <a:prstGeom prst="rect">
            <a:avLst/>
          </a:prstGeom>
          <a:ln w="9525">
            <a:solidFill>
              <a:srgbClr val="2F6FB5"/>
            </a:solidFill>
            <a:prstDash val="dash"/>
          </a:ln>
        </p:spPr>
      </p:sp>
      <p:sp>
        <p:nvSpPr>
          <p:cNvPr id="82" name="Text 80"/>
          <p:cNvSpPr txBox="1"/>
          <p:nvPr/>
        </p:nvSpPr>
        <p:spPr>
          <a:xfrm>
            <a:off x="64008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</a:t>
            </a:r>
            <a:endParaRPr lang="en-US" sz="650" dirty="0"/>
          </a:p>
        </p:txBody>
      </p:sp>
      <p:sp>
        <p:nvSpPr>
          <p:cNvPr id="83" name="Text 81"/>
          <p:cNvSpPr txBox="1"/>
          <p:nvPr/>
        </p:nvSpPr>
        <p:spPr>
          <a:xfrm>
            <a:off x="4507992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aisle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965192" y="3675888"/>
            <a:ext cx="91" cy="146304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4919472" y="36301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4919472" y="377647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82896" y="36758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882896" y="3822192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020056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4919472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seatway ≥ 300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1051560" y="4480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seats between two aisles</a:t>
            </a:r>
            <a:endParaRPr lang="en-US" sz="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54880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3716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Seatway (mm)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Aisle one side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Aisles both sides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 – 324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seats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seats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 – 449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seats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seats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3" name="Text 90"/>
          <p:cNvSpPr txBox="1"/>
          <p:nvPr/>
        </p:nvSpPr>
        <p:spPr>
          <a:xfrm>
            <a:off x="640080" y="5486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BSI, BS 9999 Fire safety in the design, management and use of buildings — seating: seatway width vs. seats per row table.</a:t>
            </a:r>
            <a:endParaRPr lang="en-US" sz="750" dirty="0"/>
          </a:p>
        </p:txBody>
      </p:sp>
      <p:sp>
        <p:nvSpPr>
          <p:cNvPr id="94" name="Text 91"/>
          <p:cNvSpPr txBox="1"/>
          <p:nvPr/>
        </p:nvSpPr>
        <p:spPr>
          <a:xfrm>
            <a:off x="5120640" y="12344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CAFETERIA — PLAN + SERVICE SEQUENCE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5120640" y="1737360"/>
            <a:ext cx="3931920" cy="310896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120640" y="1737360"/>
            <a:ext cx="1280160" cy="2011680"/>
          </a:xfrm>
          <a:prstGeom prst="rect">
            <a:avLst/>
          </a:prstGeom>
          <a:solidFill>
            <a:srgbClr val="8C8C8C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512064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5120640" y="3749040"/>
            <a:ext cx="1280160" cy="548640"/>
          </a:xfrm>
          <a:prstGeom prst="rect">
            <a:avLst/>
          </a:prstGeom>
          <a:solidFill>
            <a:srgbClr val="8C8C8C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512064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5120640" y="4297680"/>
            <a:ext cx="1280160" cy="548640"/>
          </a:xfrm>
          <a:prstGeom prst="rect">
            <a:avLst/>
          </a:prstGeom>
          <a:solidFill>
            <a:srgbClr val="8C8C8C">
              <a:alpha val="1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12064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/ WASTE</a:t>
            </a:r>
            <a:endParaRPr lang="en-US" sz="750" dirty="0"/>
          </a:p>
        </p:txBody>
      </p:sp>
      <p:sp>
        <p:nvSpPr>
          <p:cNvPr id="102" name="Shape 99"/>
          <p:cNvSpPr/>
          <p:nvPr/>
        </p:nvSpPr>
        <p:spPr>
          <a:xfrm>
            <a:off x="6400800" y="1737360"/>
            <a:ext cx="411480" cy="20116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00800" y="210312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SERVERY</a:t>
            </a:r>
            <a:endParaRPr lang="en-US" sz="650" dirty="0"/>
          </a:p>
        </p:txBody>
      </p:sp>
      <p:sp>
        <p:nvSpPr>
          <p:cNvPr id="104" name="Shape 101"/>
          <p:cNvSpPr/>
          <p:nvPr/>
        </p:nvSpPr>
        <p:spPr>
          <a:xfrm>
            <a:off x="7086600" y="1965960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6967728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543800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726680" y="1965960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7607808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8183880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8366760" y="1965960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8247888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8823960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086600" y="2624328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6967728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543800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726680" y="2624328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7607808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8183880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8366760" y="2624328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8247888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8823960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7086600" y="3282696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967728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7543800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7726680" y="3282696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7607808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8183880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8366760" y="3282696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8247888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8823960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086600" y="3941064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967728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7543800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726680" y="3941064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7607808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8183880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8366760" y="3941064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8247888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8823960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760720" y="1417320"/>
            <a:ext cx="91" cy="640080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</p:sp>
      <p:sp>
        <p:nvSpPr>
          <p:cNvPr id="141" name="Text 138"/>
          <p:cNvSpPr txBox="1"/>
          <p:nvPr/>
        </p:nvSpPr>
        <p:spPr>
          <a:xfrm>
            <a:off x="5852160" y="1463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ENTRANCE ↓</a:t>
            </a:r>
            <a:endParaRPr lang="en-US" sz="650" dirty="0"/>
          </a:p>
        </p:txBody>
      </p:sp>
      <p:sp>
        <p:nvSpPr>
          <p:cNvPr id="142" name="Shape 139"/>
          <p:cNvSpPr/>
          <p:nvPr/>
        </p:nvSpPr>
        <p:spPr>
          <a:xfrm flipH="1">
            <a:off x="6949440" y="4572000"/>
            <a:ext cx="2377440" cy="91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</a:ln>
        </p:spPr>
      </p:sp>
      <p:sp>
        <p:nvSpPr>
          <p:cNvPr id="143" name="Shape 140"/>
          <p:cNvSpPr/>
          <p:nvPr/>
        </p:nvSpPr>
        <p:spPr>
          <a:xfrm flipV="1">
            <a:off x="6949440" y="2743200"/>
            <a:ext cx="91" cy="1828800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</a:ln>
        </p:spPr>
      </p:sp>
      <p:sp>
        <p:nvSpPr>
          <p:cNvPr id="144" name="Shape 141"/>
          <p:cNvSpPr/>
          <p:nvPr/>
        </p:nvSpPr>
        <p:spPr>
          <a:xfrm flipH="1">
            <a:off x="6858000" y="2743200"/>
            <a:ext cx="91440" cy="91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145" name="Shape 142"/>
          <p:cNvSpPr/>
          <p:nvPr/>
        </p:nvSpPr>
        <p:spPr>
          <a:xfrm>
            <a:off x="8046720" y="4343400"/>
            <a:ext cx="91" cy="365760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 flipH="1">
            <a:off x="6446520" y="4709160"/>
            <a:ext cx="1600200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147" name="Text 144"/>
          <p:cNvSpPr txBox="1"/>
          <p:nvPr/>
        </p:nvSpPr>
        <p:spPr>
          <a:xfrm>
            <a:off x="8412480" y="4617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</a:t>
            </a:r>
            <a:endParaRPr lang="en-US" sz="650" dirty="0"/>
          </a:p>
        </p:txBody>
      </p:sp>
      <p:sp>
        <p:nvSpPr>
          <p:cNvPr id="148" name="Shape 145"/>
          <p:cNvSpPr/>
          <p:nvPr/>
        </p:nvSpPr>
        <p:spPr>
          <a:xfrm>
            <a:off x="5120640" y="5029200"/>
            <a:ext cx="868680" cy="347472"/>
          </a:xfrm>
          <a:prstGeom prst="rect">
            <a:avLst/>
          </a:prstGeom>
          <a:solidFill>
            <a:srgbClr val="8C8C8C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49" name="Text 146"/>
          <p:cNvSpPr txBox="1"/>
          <p:nvPr/>
        </p:nvSpPr>
        <p:spPr>
          <a:xfrm>
            <a:off x="5120640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</a:t>
            </a:r>
            <a:endParaRPr lang="en-US" sz="650" dirty="0"/>
          </a:p>
        </p:txBody>
      </p:sp>
      <p:sp>
        <p:nvSpPr>
          <p:cNvPr id="150" name="Shape 147"/>
          <p:cNvSpPr/>
          <p:nvPr/>
        </p:nvSpPr>
        <p:spPr>
          <a:xfrm>
            <a:off x="5989320" y="5202936"/>
            <a:ext cx="13716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1" name="Shape 148"/>
          <p:cNvSpPr/>
          <p:nvPr/>
        </p:nvSpPr>
        <p:spPr>
          <a:xfrm>
            <a:off x="6126480" y="5029200"/>
            <a:ext cx="868680" cy="347472"/>
          </a:xfrm>
          <a:prstGeom prst="rect">
            <a:avLst/>
          </a:prstGeom>
          <a:solidFill>
            <a:srgbClr val="8C8C8C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52" name="Text 149"/>
          <p:cNvSpPr txBox="1"/>
          <p:nvPr/>
        </p:nvSpPr>
        <p:spPr>
          <a:xfrm>
            <a:off x="6126480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650" dirty="0"/>
          </a:p>
        </p:txBody>
      </p:sp>
      <p:sp>
        <p:nvSpPr>
          <p:cNvPr id="153" name="Shape 150"/>
          <p:cNvSpPr/>
          <p:nvPr/>
        </p:nvSpPr>
        <p:spPr>
          <a:xfrm>
            <a:off x="6995160" y="5202936"/>
            <a:ext cx="13716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4" name="Shape 151"/>
          <p:cNvSpPr/>
          <p:nvPr/>
        </p:nvSpPr>
        <p:spPr>
          <a:xfrm>
            <a:off x="7132320" y="5029200"/>
            <a:ext cx="868680" cy="347472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55" name="Text 152"/>
          <p:cNvSpPr txBox="1"/>
          <p:nvPr/>
        </p:nvSpPr>
        <p:spPr>
          <a:xfrm>
            <a:off x="7132320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DINING</a:t>
            </a:r>
            <a:endParaRPr lang="en-US" sz="650" dirty="0"/>
          </a:p>
        </p:txBody>
      </p:sp>
      <p:sp>
        <p:nvSpPr>
          <p:cNvPr id="156" name="Shape 153"/>
          <p:cNvSpPr/>
          <p:nvPr/>
        </p:nvSpPr>
        <p:spPr>
          <a:xfrm>
            <a:off x="8001000" y="5202936"/>
            <a:ext cx="13716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7" name="Shape 154"/>
          <p:cNvSpPr/>
          <p:nvPr/>
        </p:nvSpPr>
        <p:spPr>
          <a:xfrm>
            <a:off x="8138160" y="5029200"/>
            <a:ext cx="868680" cy="347472"/>
          </a:xfrm>
          <a:prstGeom prst="rect">
            <a:avLst/>
          </a:prstGeom>
          <a:solidFill>
            <a:srgbClr val="8C8C8C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58" name="Text 155"/>
          <p:cNvSpPr txBox="1"/>
          <p:nvPr/>
        </p:nvSpPr>
        <p:spPr>
          <a:xfrm>
            <a:off x="8138160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/ WASTE</a:t>
            </a:r>
            <a:endParaRPr lang="en-US" sz="650" dirty="0"/>
          </a:p>
        </p:txBody>
      </p:sp>
      <p:sp>
        <p:nvSpPr>
          <p:cNvPr id="159" name="Text 156"/>
          <p:cNvSpPr txBox="1"/>
          <p:nvPr/>
        </p:nvSpPr>
        <p:spPr>
          <a:xfrm>
            <a:off x="5120640" y="5440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— illustrative zoning by author. Area per seat: no authoritative value verified → derive from table + chair + aisle layout (Neufert, 'Restaurants').</a:t>
            </a:r>
            <a:endParaRPr lang="en-US" sz="750" dirty="0"/>
          </a:p>
        </p:txBody>
      </p:sp>
      <p:sp>
        <p:nvSpPr>
          <p:cNvPr id="160" name="Text 157"/>
          <p:cNvSpPr txBox="1"/>
          <p:nvPr/>
        </p:nvSpPr>
        <p:spPr>
          <a:xfrm>
            <a:off x="9418320" y="1280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/ SOCIAL</a:t>
            </a:r>
            <a:endParaRPr lang="en-US" sz="800" dirty="0"/>
          </a:p>
        </p:txBody>
      </p:sp>
      <p:sp>
        <p:nvSpPr>
          <p:cNvPr id="161" name="Shape 158"/>
          <p:cNvSpPr/>
          <p:nvPr/>
        </p:nvSpPr>
        <p:spPr>
          <a:xfrm>
            <a:off x="9418320" y="1600200"/>
            <a:ext cx="2286000" cy="347472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2" name="Text 159"/>
          <p:cNvSpPr txBox="1"/>
          <p:nvPr/>
        </p:nvSpPr>
        <p:spPr>
          <a:xfrm>
            <a:off x="941832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LOUNGE</a:t>
            </a:r>
            <a:endParaRPr lang="en-US" sz="800" dirty="0"/>
          </a:p>
        </p:txBody>
      </p:sp>
      <p:sp>
        <p:nvSpPr>
          <p:cNvPr id="163" name="Text 160"/>
          <p:cNvSpPr txBox="1"/>
          <p:nvPr/>
        </p:nvSpPr>
        <p:spPr>
          <a:xfrm>
            <a:off x="9418320" y="1984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teaching and sport — the faculty's social hinge</a:t>
            </a:r>
            <a:endParaRPr lang="en-US" sz="750" dirty="0"/>
          </a:p>
        </p:txBody>
      </p:sp>
      <p:sp>
        <p:nvSpPr>
          <p:cNvPr id="164" name="Shape 161"/>
          <p:cNvSpPr/>
          <p:nvPr/>
        </p:nvSpPr>
        <p:spPr>
          <a:xfrm>
            <a:off x="9418320" y="2514600"/>
            <a:ext cx="2286000" cy="347472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5" name="Text 162"/>
          <p:cNvSpPr txBox="1"/>
          <p:nvPr/>
        </p:nvSpPr>
        <p:spPr>
          <a:xfrm>
            <a:off x="941832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STUDY</a:t>
            </a:r>
            <a:endParaRPr lang="en-US" sz="800" dirty="0"/>
          </a:p>
        </p:txBody>
      </p:sp>
      <p:sp>
        <p:nvSpPr>
          <p:cNvPr id="166" name="Text 163"/>
          <p:cNvSpPr txBox="1"/>
          <p:nvPr/>
        </p:nvSpPr>
        <p:spPr>
          <a:xfrm>
            <a:off x="9418320" y="2898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of corridors &amp; atria, daylit, visible</a:t>
            </a:r>
            <a:endParaRPr lang="en-US" sz="750" dirty="0"/>
          </a:p>
        </p:txBody>
      </p:sp>
      <p:sp>
        <p:nvSpPr>
          <p:cNvPr id="167" name="Shape 164"/>
          <p:cNvSpPr/>
          <p:nvPr/>
        </p:nvSpPr>
        <p:spPr>
          <a:xfrm>
            <a:off x="9418320" y="3429000"/>
            <a:ext cx="2286000" cy="347472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8" name="Text 165"/>
          <p:cNvSpPr txBox="1"/>
          <p:nvPr/>
        </p:nvSpPr>
        <p:spPr>
          <a:xfrm>
            <a:off x="9418320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SPACE</a:t>
            </a:r>
            <a:endParaRPr lang="en-US" sz="800" dirty="0"/>
          </a:p>
        </p:txBody>
      </p:sp>
      <p:sp>
        <p:nvSpPr>
          <p:cNvPr id="169" name="Text 166"/>
          <p:cNvSpPr txBox="1"/>
          <p:nvPr/>
        </p:nvSpPr>
        <p:spPr>
          <a:xfrm>
            <a:off x="9418320" y="3813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foyer for auditorium + cafeteria events</a:t>
            </a:r>
            <a:endParaRPr lang="en-US" sz="750" dirty="0"/>
          </a:p>
        </p:txBody>
      </p:sp>
      <p:sp>
        <p:nvSpPr>
          <p:cNvPr id="170" name="Text 167"/>
          <p:cNvSpPr txBox="1"/>
          <p:nvPr/>
        </p:nvSpPr>
        <p:spPr>
          <a:xfrm>
            <a:off x="9418320" y="4434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AUDITORIUM CHECKLIST</a:t>
            </a:r>
            <a:endParaRPr lang="en-US" sz="800" dirty="0"/>
          </a:p>
        </p:txBody>
      </p:sp>
      <p:sp>
        <p:nvSpPr>
          <p:cNvPr id="171" name="Text 168"/>
          <p:cNvSpPr txBox="1"/>
          <p:nvPr/>
        </p:nvSpPr>
        <p:spPr>
          <a:xfrm>
            <a:off x="9418320" y="4663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Wheelchair spaces 1400 × 900 mm (SE 2010)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Exits at stage end + rear, sized per INBR Topic 3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separation from sports hall</a:t>
            </a:r>
            <a:endParaRPr lang="en-US" sz="750" dirty="0"/>
          </a:p>
        </p:txBody>
      </p:sp>
      <p:sp>
        <p:nvSpPr>
          <p:cNvPr id="172" name="Text 169"/>
          <p:cNvSpPr txBox="1"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 Row length is a fire-escape rule, not a comfort choice; the cafeteria needs its own service yard so food and waste never cross the student route.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11 — SANITARY SPACES + ACCESSIBILITY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Iranian minimums shown beside the UK reference — both dimensioned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WC — IRAN (min.)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1787652" cy="1577340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56232"/>
            <a:ext cx="1498473" cy="1498473"/>
          </a:xfrm>
          <a:prstGeom prst="ellipse">
            <a:avLst/>
          </a:prstGeom>
          <a:ln w="12700">
            <a:solidFill>
              <a:srgbClr val="D9472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44852" y="1920240"/>
            <a:ext cx="3474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4852" y="21031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610612" y="2606040"/>
            <a:ext cx="91" cy="365760"/>
          </a:xfrm>
          <a:prstGeom prst="line">
            <a:avLst/>
          </a:prstGeom>
          <a:noFill/>
          <a:ln w="31750">
            <a:solidFill>
              <a:srgbClr val="9B7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70532" y="27432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9B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rail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1097280" y="3369564"/>
            <a:ext cx="946404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" y="2459736"/>
            <a:ext cx="1892808" cy="1892808"/>
          </a:xfrm>
          <a:prstGeom prst="arc">
            <a:avLst>
              <a:gd name="adj1" fmla="val 0"/>
              <a:gd name="adj2" fmla="val 5400000"/>
            </a:avLst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3684" y="3406140"/>
            <a:ext cx="91" cy="946404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1645920"/>
            <a:ext cx="178765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22960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610612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15636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6332" y="15636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8106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cm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1828800"/>
            <a:ext cx="91" cy="157734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85800" y="1783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85800" y="33604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18288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34061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-786384" y="252603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cm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97280" y="4457700"/>
            <a:ext cx="946404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51560" y="44119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997964" y="44119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3754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43684" y="43754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6082" y="44942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90 cm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2331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Ø150 turning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68680" y="4754880"/>
            <a:ext cx="258226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4768596"/>
            <a:ext cx="2582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(IRAN) · VERIFY EDITION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001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Supreme Council of Urban Planning &amp; Architecture of Iran — 'Urban &amp; architectural regulations for people with physical-motor disabilities'.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WC — UK REFERENCE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43400" y="1828800"/>
            <a:ext cx="1303020" cy="191109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43400" y="2331720"/>
            <a:ext cx="1303020" cy="1303020"/>
          </a:xfrm>
          <a:prstGeom prst="ellipse">
            <a:avLst/>
          </a:prstGeom>
          <a:ln w="12700">
            <a:solidFill>
              <a:srgbClr val="D9472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416552" y="1901952"/>
            <a:ext cx="3474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16552" y="20848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353812" y="1938528"/>
            <a:ext cx="228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60620" y="2011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basin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343400" y="1645920"/>
            <a:ext cx="1303020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4297680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5600700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43400" y="15636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46420" y="15636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08051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mm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783580" y="1828800"/>
            <a:ext cx="91" cy="1911096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5737860" y="1783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5737860" y="369417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01284" y="18288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01284" y="3739896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838444" y="26929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2200 mm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0" y="2880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turning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343400" y="4754880"/>
            <a:ext cx="1227125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343400" y="4768596"/>
            <a:ext cx="1227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(UK)</a:t>
            </a:r>
            <a:endParaRPr lang="en-US" sz="650" dirty="0"/>
          </a:p>
        </p:txBody>
      </p:sp>
      <p:sp>
        <p:nvSpPr>
          <p:cNvPr id="58" name="Text 56"/>
          <p:cNvSpPr txBox="1"/>
          <p:nvPr/>
        </p:nvSpPr>
        <p:spPr>
          <a:xfrm>
            <a:off x="4343400" y="5001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 Government, Approved Document M, Vol. 2 (2015 ed.) — Diagram 18, wheelchair-accessible unisex WC.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7452360" y="12801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WC · BASIN · SHOWER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452360" y="1600200"/>
            <a:ext cx="685800" cy="10972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35240" y="1673352"/>
            <a:ext cx="320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40880" y="2194560"/>
            <a:ext cx="1005840" cy="1005840"/>
          </a:xfrm>
          <a:prstGeom prst="arc">
            <a:avLst>
              <a:gd name="adj1" fmla="val 16200000"/>
              <a:gd name="adj2" fmla="val 21600000"/>
            </a:avLst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38160" y="1600200"/>
            <a:ext cx="685800" cy="10972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21040" y="1673352"/>
            <a:ext cx="320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26680" y="2194560"/>
            <a:ext cx="1005840" cy="1005840"/>
          </a:xfrm>
          <a:prstGeom prst="arc">
            <a:avLst>
              <a:gd name="adj1" fmla="val 16200000"/>
              <a:gd name="adj2" fmla="val 21600000"/>
            </a:avLst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23960" y="1600200"/>
            <a:ext cx="685800" cy="10972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06840" y="1673352"/>
            <a:ext cx="320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12480" y="2194560"/>
            <a:ext cx="1005840" cy="1005840"/>
          </a:xfrm>
          <a:prstGeom prst="arc">
            <a:avLst>
              <a:gd name="adj1" fmla="val 16200000"/>
              <a:gd name="adj2" fmla="val 21600000"/>
            </a:avLst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89520" y="3200400"/>
            <a:ext cx="320040" cy="228600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38160" y="3200400"/>
            <a:ext cx="320040" cy="228600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3200400"/>
            <a:ext cx="320040" cy="228600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4523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BASINS — circulation zone in front kept clear of door swings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745236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dimensioned: cubicle and basin sizes were not verified from an authoritative source for this study (see Neufert 'Sanitary facilities').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7452360" y="4160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· RAMP · CORRIDOR (IRAN)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 flipV="1">
            <a:off x="7498080" y="5413248"/>
            <a:ext cx="91" cy="164592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98080" y="5413248"/>
            <a:ext cx="256032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7754112" y="5248656"/>
            <a:ext cx="91" cy="164592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754112" y="5248656"/>
            <a:ext cx="256032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8010144" y="5084064"/>
            <a:ext cx="91" cy="164592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10144" y="5084064"/>
            <a:ext cx="256032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8266176" y="4919472"/>
            <a:ext cx="91" cy="164592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66176" y="4919472"/>
            <a:ext cx="256032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06640" y="5413248"/>
            <a:ext cx="91" cy="164592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7360920" y="536752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7360920" y="55321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24344" y="541324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324344" y="55778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888736" y="54041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10–18 cm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754112" y="5010912"/>
            <a:ext cx="25603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7708392" y="496519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7964424" y="496519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54112" y="4928616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10144" y="4928616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967728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28 cm</a:t>
            </a:r>
            <a:endParaRPr lang="en-US" sz="700" dirty="0"/>
          </a:p>
        </p:txBody>
      </p:sp>
      <p:sp>
        <p:nvSpPr>
          <p:cNvPr id="95" name="Text 93"/>
          <p:cNvSpPr txBox="1"/>
          <p:nvPr/>
        </p:nvSpPr>
        <p:spPr>
          <a:xfrm>
            <a:off x="8641080" y="5074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2R + T = 63–64 cm · headroom ≥ 205 cm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 flipV="1">
            <a:off x="8641080" y="5349240"/>
            <a:ext cx="2148840" cy="2286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41080" y="5577840"/>
            <a:ext cx="2148840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8641080" y="5623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 ≤ 8 % · run ≤ 3 m · rise ≤ 25 cm · width ≥ 120 cm</a:t>
            </a:r>
            <a:endParaRPr lang="en-US" sz="700" dirty="0"/>
          </a:p>
        </p:txBody>
      </p:sp>
      <p:sp>
        <p:nvSpPr>
          <p:cNvPr id="99" name="Text 97"/>
          <p:cNvSpPr txBox="1"/>
          <p:nvPr/>
        </p:nvSpPr>
        <p:spPr>
          <a:xfrm>
            <a:off x="7452360" y="57790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Corridor: ≥ 1.80 m educational · ≥ 1.40 m main accessible route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8686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Stairs &amp; corridors — Iranian National Building Regulations (INBR), Topic 4 'General Building Requirements' (Mabhas 4), ed. 1396/2017. Ramp — Iranian accessibility regulations (above). Values cross-checked only via published summaries → confirm in official text.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12 — COMPARATIVE STANDARDS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Where Iranian and international values differ — and why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109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377440"/>
                <a:gridCol w="132588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Iranian 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they may differ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Accessible WC (min. room)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 × 150 cm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Iran accessibility regs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× 220 cm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ADM Vol. 2, Diag. 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 (both)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room contains basin + side transfer space + full 1500 turning circle; Iranian minimum is a compact WC-only room.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 clear width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110 cm (INBR Topic 4 summary)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115 cm (other summary)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(not compared)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secondary summaries disagree → official 1396 text must be checked; width also depends on occupant load (Topic 3).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Corridor, educational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180 cm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INBR Topic 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(BB103 sets areas, not widths)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Iran fixes a width for school/university corridors; UK guidance works through area budgets and fire design.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Basketball clear height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 (Ministry of Sport &amp; Youth guidelines not accessible)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 m FIBA · 7.5 m Sport England hall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 / recommended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FIBA = playing rule; Sport England adds margin for badminton &amp; multi-use.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Volleyball clear height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m (all) · 12.5 m FIVB official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of play: World/Official events need high-ball space.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Spectator seat width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 mm existing · 500 mm new (Green Guide)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guidance raised comfort/safety for new build.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 area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 for universities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m² / 30 (BB103) · 2.5–2.75 m²/place (Univ. York)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School vs university norms; furniture &amp; pedagogy differ.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655064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500116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REGULATION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2340864" y="5486400"/>
            <a:ext cx="1726387" cy="182880"/>
          </a:xfrm>
          <a:prstGeom prst="rect">
            <a:avLst/>
          </a:prstGeom>
          <a:solidFill>
            <a:srgbClr val="6B6B6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40864" y="5500116"/>
            <a:ext cx="1726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GUIDELINE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4204411" y="5486400"/>
            <a:ext cx="2653589" cy="182880"/>
          </a:xfrm>
          <a:prstGeom prst="rect">
            <a:avLst/>
          </a:prstGeom>
          <a:solidFill>
            <a:srgbClr val="D9472B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04411" y="5500116"/>
            <a:ext cx="26535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COMPETITION STANDARD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6995160" y="5486400"/>
            <a:ext cx="179771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5500116"/>
            <a:ext cx="17977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PLANNING VALUE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8930030" y="5486400"/>
            <a:ext cx="1013155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30030" y="5500116"/>
            <a:ext cx="10131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607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text = value could not be verified or sources conflict — not presented as a standard.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full references (next slide). Iranian values were checked through published summaries of INBR Topic 4 and the Supreme Council accessibility regulations; the printed official editions remain the authority.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13 — REFERENCES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Sources cited on the slides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IRANIAN SOURCES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Iranian National Building Regulations, Topic 3 — Fire protection Ministry of Roads &amp; Urban Development, latest ed.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مبحث ۳ — حفاظت ساختمان‌ها در مقابل حریق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21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Iranian National Building Regulations, Topic 4 — General building requirements, 1396 / 2017 ed.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مبحث ۴ — الزامات عمومی ساختمان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883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Iranian National Building Regulations, Topics 15 (elevators), 19 (energy), 22 (maintenance) — consulted for scope; no values cited.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52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Supreme Council of Urban Planning &amp; Architecture of Iran — Urban &amp; architectural regulations for people with physical-motor disabilities.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ضوابط و مقررات شهرسازی و معماری برای افراد دارای معلولیت جسمی-حرکتی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221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Sport &amp; Youth — sports facility guidelines: NOT ACCESSIBLE for verification in this study; flagged on slide 12.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SOURCES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55448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FIBA, Official Basketball Rules 2024 &amp; Basketball Equipment.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https://assets.fiba.basketball/image/upload/documents-corporate-fiba-official-rules-2024-v10a.pdf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956816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FIVB, Official Volleyball Rules 2025–2028.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https://www.fivb.com/wp-content/uploads/2025/01/FIVB-Volleyball_Rules2025_2028-EN-v05.pdf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359152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England, Sports Halls: Design &amp; Layouts (2012).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https://sportengland-production-files.s3.eu-west-2.amazonaws.com/s3fs-public/sports-halls-design-and-layouts-2012.pdf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76148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England, Accessible Sports Facilities (2010).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https://sportengland-production-files.s3.eu-west-2.amazonaws.com/s3fs-public/accessible-sports-facilities-2010.pdf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16382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England, AISF Part D — Changing &amp; toilet provision (2024).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https://sportengland-production-files.s3.eu-west-2.amazonaws.com/s3fs-public/2024-08/AISF-Part-D-Changing-and-toilet-provision.pdf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56616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SGSA, Guide to Safety at Sports Grounds, 6th ed. (2018) &amp; SG01 (2022).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https://sgsa.org.uk/document/greenguide/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968496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BSI, BS 9999 — Fire safety in the design, management &amp; use of buildings (seating).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https://knowledge.bsigroup.com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4370832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 Government, Approved Document M Vol. 2 (2015 ed.).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https://www.gov.uk/government/publications/access-to-and-use-of-buildings-approved-document-m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77316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DfE, Building Bulletin 103 — Area guidelines for mainstream schools (2014).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https://dera.ioe.ac.uk/id/eprint/20283/1/BB103_Area_Guidelines_for_Mainstream_Schools_FINAL_23_4_14.pdf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517550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York, Space Guidelines &amp; Standards (Aug 2025).</a:t>
            </a:r>
            <a:endParaRPr lang="en-US" sz="800" dirty="0"/>
          </a:p>
          <a:p>
            <a:pPr indent="0" marL="0">
              <a:buNone/>
            </a:pPr>
            <a:r>
              <a:rPr lang="en-US" sz="65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https://www.york.ac.uk/media/campusdevelopment/63697_UniofYork%20Space%20Guidelines%20and%20Standards%20v2.pdf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557784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Neufert, Architects' Data (Wiley) · Metric Handbook (Routledge) · Architectural Graphic Standards (Wiley) — general planning references; no values cited where not verified.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6035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Aquatics rules not used — no pool standards are presented in this study.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itectural Board">
  <a:themeElements>
    <a:clrScheme name="Architectural Board">
      <a:dk1>
        <a:srgbClr val="1A1A1A"/>
      </a:dk1>
      <a:lt1>
        <a:srgbClr val="FFFFFF"/>
      </a:lt1>
      <a:dk2>
        <a:srgbClr val="3A3A3A"/>
      </a:dk2>
      <a:lt2>
        <a:srgbClr val="F3F3F3"/>
      </a:lt2>
      <a:accent1>
        <a:srgbClr val="D9472B"/>
      </a:accent1>
      <a:accent2>
        <a:srgbClr val="6FA8DC"/>
      </a:accent2>
      <a:accent3>
        <a:srgbClr val="5BAA6A"/>
      </a:accent3>
      <a:accent4>
        <a:srgbClr val="F2B134"/>
      </a:accent4>
      <a:accent5>
        <a:srgbClr val="9B7FBF"/>
      </a:accent5>
      <a:accent6>
        <a:srgbClr val="8C8C8C"/>
      </a:accent6>
      <a:hlink>
        <a:srgbClr val="2F6FB5"/>
      </a:hlink>
      <a:folHlink>
        <a:srgbClr val="6B6B6B"/>
      </a:folHlink>
    </a:clrScheme>
    <a:fontScheme name="Architectural Bo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Standards of Sports Facilities &amp; Physical Education Faculty</dc:title>
  <dc:subject>PptxGenJS Presentation</dc:subject>
  <dc:creator>Architecture Studio — Design 4</dc:creator>
  <cp:lastModifiedBy>Architecture Studio — Design 4</cp:lastModifiedBy>
  <cp:revision>1</cp:revision>
  <dcterms:created xsi:type="dcterms:W3CDTF">2026-10-02T13:13:59Z</dcterms:created>
  <dcterms:modified xsi:type="dcterms:W3CDTF">2026-10-02T13:13:59Z</dcterms:modified>
</cp:coreProperties>
</file>