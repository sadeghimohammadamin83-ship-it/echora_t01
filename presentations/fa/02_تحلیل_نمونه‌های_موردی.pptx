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2-1.jpg" ContentType="image/jpg"/>
  <Override PartName="/ppt/media/image-12-2.jpg" ContentType="image/jpg"/>
  <Override PartName="/ppt/media/image-13-1.jpg" ContentType="image/jpg"/>
  <Override PartName="/ppt/media/image-13-2.jpg" ContentType="image/jpg"/>
  <Override PartName="/ppt/media/image-14-1.jpg" ContentType="image/jpg"/>
  <Override PartName="/ppt/media/image-14-2.jpg" ContentType="image/jpg"/>
  <Override PartName="/ppt/media/image-15-1.jpg" ContentType="image/jpg"/>
  <Override PartName="/ppt/media/image-15-2.jpg" ContentType="image/jpg"/>
  <Override PartName="/ppt/media/image-15-3.jpg" ContentType="image/jpg"/>
  <Override PartName="/ppt/media/image-15-4.jpg" ContentType="image/jpg"/>
  <Override PartName="/ppt/media/image-16-1.jpg" ContentType="image/jpg"/>
  <Override PartName="/ppt/media/image-16-2.jpg" ContentType="image/jpg"/>
  <Override PartName="/ppt/media/image-17-1.jpg" ContentType="image/jpg"/>
  <Override PartName="/ppt/media/image-2-1.jpg" ContentType="image/jpg"/>
  <Override PartName="/ppt/media/image-3-1.jpg" ContentType="image/jpg"/>
  <Override PartName="/ppt/media/image-3-2.jpg" ContentType="image/jpg"/>
  <Override PartName="/ppt/media/image-4-1.jpg" ContentType="image/jpg"/>
  <Override PartName="/ppt/media/image-5-1.jpg" ContentType="image/jpg"/>
  <Override PartName="/ppt/media/image-5-2.jpg" ContentType="image/jpg"/>
  <Override PartName="/ppt/media/image-5-3.jpg" ContentType="image/jpg"/>
  <Override PartName="/ppt/media/image-6-1.jpg" ContentType="image/jpg"/>
  <Override PartName="/ppt/media/image-7-1.jpg" ContentType="image/jpg"/>
  <Override PartName="/ppt/media/image-7-2.jpg" ContentType="image/jpg"/>
  <Override PartName="/ppt/media/image-7-3.jpg" ContentType="image/jpg"/>
  <Override PartName="/ppt/media/image-7-4.jpg" ContentType="image/jpg"/>
  <Override PartName="/ppt/media/image-8-1.jpg" ContentType="image/jpg"/>
  <Override PartName="/ppt/media/image-8-2.jpg" ContentType="image/jpg"/>
  <Override PartName="/ppt/media/image-9-1.jpg" ContentType="image/jpg"/>
  <Override PartName="/ppt/media/image-9-2.jpg" ContentType="image/jpg"/>
  <Override PartName="/ppt/media/image-9-3.jpg" ContentType="image/jpg"/>
  <Override PartName="/ppt/media/image-9-4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699fc96-a7f8-a5e0-bcec-515814c53027}">
          <p14:sldIdLst>
            <p14:sldId id="256"/>
            <p14:sldId id="257"/>
          </p14:sldIdLst>
        </p14:section>
        <p14:section name="Case 01 — Anna Pao Sohmen Centre" id="{eed60875-c349-3bdd-b840-9bdb3bf637b0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Case 02 — Charles University FTVS" id="{b65cb163-4506-7578-f542-1720d8385346}">
          <p14:sldIdLst>
            <p14:sldId id="273"/>
            <p14:sldId id="274"/>
            <p14:sldId id="275"/>
          </p14:sldIdLst>
        </p14:section>
        <p14:section name="Comparison + lessons" id="{d3cc3530-0de1-974e-de6a-82f2fbb4c28f}">
          <p14:sldIdLst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rtl="1" algn="r">
              <a:buNone/>
            </a:pPr>
            <a:r>
              <a:rPr lang="fa-IR" sz="644" kern="0" dirty="0">
                <a:solidFill>
                  <a:srgbClr val="9A9A9A"/>
                </a:solidFill>
                <a:latin typeface="Vazirmatn"/>
                <a:ea typeface="Vazirmatn"/>
                <a:cs typeface="Vazirmatn"/>
              </a:rPr>
              <a:t>طراحی ۴ · تحلیل نمونه‌های موردی · دانشکده تربیت بدنی</a:t>
            </a:r>
            <a:endParaRPr lang="en-US" sz="7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b="1" kern="0" dirty="0">
                <a:solidFill>
                  <a:srgbClr val="D9472B"/>
                </a:solidFill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1A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hyperlink" Target="https://www.archdaily.com/1041795/anna-pao-sohmen-centre-at-yk-pao-school-scenic-architecture-office" TargetMode="External"/><Relationship Id="rId2" Type="http://schemas.openxmlformats.org/officeDocument/2006/relationships/hyperlink" Target="https://www.gooood.cn/anna-pao-sohmen-centre-at-shanghai-yk-pao-school-by-scenic-architecture-office.htm" TargetMode="External"/><Relationship Id="rId3" Type="http://schemas.openxmlformats.org/officeDocument/2006/relationships/hyperlink" Target="https://www.ftvs.cuni.cz/en/faculty/contacts" TargetMode="External"/><Relationship Id="rId4" Type="http://schemas.openxmlformats.org/officeDocument/2006/relationships/hyperlink" Target="https://iscus.cz/kraje/praha/pasport/19361" TargetMode="External"/><Relationship Id="rId5" Type="http://schemas.openxmlformats.org/officeDocument/2006/relationships/hyperlink" Target="https://iscus.cz/kraje/praha/pasport/19360" TargetMode="External"/><Relationship Id="rId6" Type="http://schemas.openxmlformats.org/officeDocument/2006/relationships/hyperlink" Target="https://cs.wikipedia.org/wiki/Fakulta_t%C4%9Blesn%C3%A9_v%C3%BDchovy_a_sportu_Univerzity_Karlovy" TargetMode="External"/><Relationship Id="rId7" Type="http://schemas.openxmlformats.org/officeDocument/2006/relationships/hyperlink" Target="https://www.slavnevily.cz/stavby-/-unesco/stavby-prahy-6/skola-ve-veleslavine" TargetMode="External"/><Relationship Id="rId8" Type="http://schemas.openxmlformats.org/officeDocument/2006/relationships/hyperlink" Target="https://zakazky.cuni.cz/contract_display_7294.html" TargetMode="External"/><Relationship Id="rId9" Type="http://schemas.openxmlformats.org/officeDocument/2006/relationships/hyperlink" Target="https://assets.fiba.basketball/image/upload/documents-corporate-fiba-official-rules-2024-v10a.pdf" TargetMode="External"/><Relationship Id="rId10" Type="http://schemas.openxmlformats.org/officeDocument/2006/relationships/hyperlink" Target="https://www.fivb.com/wp-content/uploads/2025/01/FIVB-Volleyball_Rules2025_2028-EN-v05.pdf" TargetMode="External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chora_t01/presentations/src/img/ph_0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0"/>
            <a:ext cx="6339535" cy="4224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48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74" b="1" kern="0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آتلیه معماری · طراحی ۴ · تحلیل نمونه‌های موردی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lnSpc>
                <a:spcPct val="95000"/>
              </a:lnSpc>
              <a:buNone/>
            </a:pPr>
            <a:r>
              <a:rPr lang="fa-IR" sz="276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ورزش، آموزش و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fa-IR" sz="276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/>
            </a:r>
            <a:endParaRPr lang="en-US" sz="3000" dirty="0"/>
          </a:p>
          <a:p>
            <a:pPr indent="0" marL="0" rtl="1" algn="r">
              <a:lnSpc>
                <a:spcPct val="95000"/>
              </a:lnSpc>
              <a:buNone/>
            </a:pPr>
            <a:r>
              <a:rPr lang="fa-IR" sz="276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خدمات چگونه سازمان یافته‌اند؟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1089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119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تحلیل فضایی دو نمونه‌ی موردی برای دانشکده تربیت بدنی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1012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نمونه‌ی ۰۱ — اصلی</a:t>
            </a:r>
            <a:endParaRPr lang="en-US" sz="1100" dirty="0"/>
          </a:p>
          <a:p>
            <a:pPr indent="0" marL="0" rtl="1" algn="r">
              <a:buNone/>
            </a:pPr>
            <a:r>
              <a:rPr lang="fa-IR" sz="101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مرکز آنا پائو سومن، مدرسه YK Pao، شانگهای</a:t>
            </a:r>
            <a:endParaRPr lang="en-US" sz="1100" dirty="0"/>
          </a:p>
          <a:p>
            <a:pPr indent="0" marL="0" algn="r">
              <a:buNone/>
            </a:pPr>
            <a:r>
              <a:rPr lang="fa-IR" sz="101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Scenic Architecture Office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029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1012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نمونه‌ی ۰۲</a:t>
            </a:r>
            <a:endParaRPr lang="en-US" sz="1100" dirty="0"/>
          </a:p>
          <a:p>
            <a:pPr indent="0" marL="0" rtl="1" algn="r">
              <a:buNone/>
            </a:pPr>
            <a:r>
              <a:rPr lang="fa-IR" sz="101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دانشکده تربیت بدنی و ورزش، دانشگاه چارلز، پراگ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4261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عکس: مرکز آنا پائو سومن — مجموعه‌ی بارگذاری‌شده (ص. 28)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035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i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پرسش اصلی: چرا این فضاها این‌گونه سازمان یافته‌اند و طراحی دانشکده چه می‌تواند از آن بیاموزد؟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۰۰ — نمونه‌های موردی + روش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اول پلان‌ها: هر خوانش با برچسب «تأییدشده» یا «تفسیر» مشخص است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840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105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2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گردآوری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66544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نقشه‌ها و عکس‌های بارگذاری‌شده (نمونه‌ی ۰۱) منبع اصلی‌اند؛ نشریات خلأها را پر می‌کنند.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14600" y="1554480"/>
            <a:ext cx="228600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8" name="Text 6"/>
          <p:cNvSpPr txBox="1"/>
          <p:nvPr/>
        </p:nvSpPr>
        <p:spPr>
          <a:xfrm>
            <a:off x="2816352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840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816352" y="18105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2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خواندن پلان‌ها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816352" y="2066544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شناسایی ترازها، اتاق‌ها (ترجمه از راهنمای نقشه)، ورودی‌ها، هسته‌ها.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82312" y="1554480"/>
            <a:ext cx="228600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12" name="Text 10"/>
          <p:cNvSpPr txBox="1"/>
          <p:nvPr/>
        </p:nvSpPr>
        <p:spPr>
          <a:xfrm>
            <a:off x="5084064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840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8105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2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لایه‌گذاری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84064" y="2066544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پهنه‌بندی رنگی + گردش، ترسیم‌شده روی پلان‌های اصلی.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050024" y="1554480"/>
            <a:ext cx="228600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16" name="Text 14"/>
          <p:cNvSpPr txBox="1"/>
          <p:nvPr/>
        </p:nvSpPr>
        <p:spPr>
          <a:xfrm>
            <a:off x="7351776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840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351776" y="18105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2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ارتباط‌سنجی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51776" y="2066544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هم‌جواری، گرادیان عمومی ← خصوصی، چیدمان در مقطع.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317736" y="1554480"/>
            <a:ext cx="228600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20" name="Text 18"/>
          <p:cNvSpPr txBox="1"/>
          <p:nvPr/>
        </p:nvSpPr>
        <p:spPr>
          <a:xfrm>
            <a:off x="9619488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840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619488" y="18105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2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استخراج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619488" y="2066544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اصول طراحی ← درس‌هایی برای دانشکده تربیت بدنی.</a:t>
            </a:r>
            <a:endParaRPr lang="en-US" sz="850" dirty="0"/>
          </a:p>
        </p:txBody>
      </p:sp>
      <p:pic>
        <p:nvPicPr>
          <p:cNvPr id="23" name="Image 0" descr="/home/user/echora_t01/presentations/src/img/ph_0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017520"/>
            <a:ext cx="3657600" cy="182880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48640" y="49377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نمونه‌ی ۰۱ · اصلی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138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110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مرکز آنا پائو سومن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4132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شانگهای، چین · Scenic Architecture Office · 2025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6327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مجموعه‌ی کامل نقشه‌ها موجود است: ۶ پلان، ۳ مقطع، ۲ اکسونومتریک، سایت پلان.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480560" y="3017520"/>
            <a:ext cx="3657600" cy="182880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p>
            <a:pPr/>
          </a:p>
        </p:txBody>
      </p:sp>
      <p:sp>
        <p:nvSpPr>
          <p:cNvPr id="29" name="Text 26"/>
          <p:cNvSpPr txBox="1"/>
          <p:nvPr/>
        </p:nvSpPr>
        <p:spPr>
          <a:xfrm>
            <a:off x="4480560" y="3657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920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خلأ مستندات —</a:t>
            </a:r>
            <a:endParaRPr lang="en-US" sz="1000" dirty="0"/>
          </a:p>
          <a:p>
            <a:pPr algn="ctr" indent="0" marL="0" rtl="1">
              <a:buNone/>
            </a:pPr>
            <a:r>
              <a:rPr lang="fa-IR" sz="920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نقشه‌ای منتشر نشده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9377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نمونه‌ی ۰۲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110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FTVS، دانشگاه چارلز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4480560" y="54132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پراگ ۶ – Veleslavín، جمهوری چک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4480560" y="56327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هیچ پلان یا مقطع منتشرشده‌ای به دست نیامد ← تحلیل محدود به سطح پردیس و برنامه.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8595360" y="3017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رنگ پهنه‌ها (در همه‌ی اسلایدها)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595360" y="3291840"/>
            <a:ext cx="164592" cy="146304"/>
          </a:xfrm>
          <a:prstGeom prst="rect">
            <a:avLst/>
          </a:prstGeom>
          <a:solidFill>
            <a:srgbClr val="F2B134">
              <a:alpha val="65000"/>
            </a:srgbClr>
          </a:solidFill>
          <a:ln/>
        </p:spPr>
        <p:txBody>
          <a:bodyPr/>
          <a:p>
            <a:pPr/>
          </a:p>
        </p:txBody>
      </p:sp>
      <p:sp>
        <p:nvSpPr>
          <p:cNvPr id="36" name="Text 33"/>
          <p:cNvSpPr txBox="1"/>
          <p:nvPr/>
        </p:nvSpPr>
        <p:spPr>
          <a:xfrm>
            <a:off x="8823960" y="32826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عمومی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8595360" y="3529584"/>
            <a:ext cx="164592" cy="146304"/>
          </a:xfrm>
          <a:prstGeom prst="rect">
            <a:avLst/>
          </a:prstGeom>
          <a:solidFill>
            <a:srgbClr val="6FA8DC">
              <a:alpha val="65000"/>
            </a:srgbClr>
          </a:solidFill>
          <a:ln/>
        </p:spPr>
        <p:txBody>
          <a:bodyPr/>
          <a:p>
            <a:pPr/>
          </a:p>
        </p:txBody>
      </p:sp>
      <p:sp>
        <p:nvSpPr>
          <p:cNvPr id="38" name="Text 35"/>
          <p:cNvSpPr txBox="1"/>
          <p:nvPr/>
        </p:nvSpPr>
        <p:spPr>
          <a:xfrm>
            <a:off x="8823960" y="35204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نیمه‌عمومی / آموزشی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8595360" y="3767328"/>
            <a:ext cx="164592" cy="146304"/>
          </a:xfrm>
          <a:prstGeom prst="rect">
            <a:avLst/>
          </a:prstGeom>
          <a:solidFill>
            <a:srgbClr val="9B7FBF">
              <a:alpha val="65000"/>
            </a:srgbClr>
          </a:solidFill>
          <a:ln/>
        </p:spPr>
        <p:txBody>
          <a:bodyPr/>
          <a:p>
            <a:pPr/>
          </a:p>
        </p:txBody>
      </p:sp>
      <p:sp>
        <p:nvSpPr>
          <p:cNvPr id="40" name="Text 37"/>
          <p:cNvSpPr txBox="1"/>
          <p:nvPr/>
        </p:nvSpPr>
        <p:spPr>
          <a:xfrm>
            <a:off x="8823960" y="37581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کنترل‌شده / خصوصی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8595360" y="4005072"/>
            <a:ext cx="164592" cy="146304"/>
          </a:xfrm>
          <a:prstGeom prst="rect">
            <a:avLst/>
          </a:prstGeom>
          <a:solidFill>
            <a:srgbClr val="5BAA6A">
              <a:alpha val="65000"/>
            </a:srgbClr>
          </a:solidFill>
          <a:ln/>
        </p:spPr>
        <p:txBody>
          <a:bodyPr/>
          <a:p>
            <a:pPr/>
          </a:p>
        </p:txBody>
      </p:sp>
      <p:sp>
        <p:nvSpPr>
          <p:cNvPr id="42" name="Text 39"/>
          <p:cNvSpPr txBox="1"/>
          <p:nvPr/>
        </p:nvSpPr>
        <p:spPr>
          <a:xfrm>
            <a:off x="8823960" y="39959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ورزشی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8595360" y="4242816"/>
            <a:ext cx="164592" cy="146304"/>
          </a:xfrm>
          <a:prstGeom prst="rect">
            <a:avLst/>
          </a:prstGeom>
          <a:solidFill>
            <a:srgbClr val="8C8C8C">
              <a:alpha val="65000"/>
            </a:srgbClr>
          </a:solidFill>
          <a:ln/>
        </p:spPr>
        <p:txBody>
          <a:bodyPr/>
          <a:p>
            <a:pPr/>
          </a:p>
        </p:txBody>
      </p:sp>
      <p:sp>
        <p:nvSpPr>
          <p:cNvPr id="44" name="Text 41"/>
          <p:cNvSpPr txBox="1"/>
          <p:nvPr/>
        </p:nvSpPr>
        <p:spPr>
          <a:xfrm>
            <a:off x="8823960" y="4233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خدمات</a:t>
            </a:r>
            <a:endParaRPr lang="en-US" sz="750" dirty="0"/>
          </a:p>
        </p:txBody>
      </p:sp>
      <p:sp>
        <p:nvSpPr>
          <p:cNvPr id="45" name="Text 42"/>
          <p:cNvSpPr txBox="1"/>
          <p:nvPr/>
        </p:nvSpPr>
        <p:spPr>
          <a:xfrm>
            <a:off x="8595360" y="45720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گردش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8595360" y="4892040"/>
            <a:ext cx="411480" cy="91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  <a:tailEnd type="triangle"/>
          </a:ln>
        </p:spPr>
        <p:txBody>
          <a:bodyPr/>
          <a:p>
            <a:pPr/>
          </a:p>
        </p:txBody>
      </p:sp>
      <p:sp>
        <p:nvSpPr>
          <p:cNvPr id="47" name="Text 44"/>
          <p:cNvSpPr txBox="1"/>
          <p:nvPr/>
        </p:nvSpPr>
        <p:spPr>
          <a:xfrm>
            <a:off x="9098280" y="4809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عمومی / دانشجویان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8595360" y="5120640"/>
            <a:ext cx="411480" cy="91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49" name="Text 46"/>
          <p:cNvSpPr txBox="1"/>
          <p:nvPr/>
        </p:nvSpPr>
        <p:spPr>
          <a:xfrm>
            <a:off x="9098280" y="5038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کاربران ورزشی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8595360" y="5349240"/>
            <a:ext cx="411480" cy="91"/>
          </a:xfrm>
          <a:prstGeom prst="line">
            <a:avLst/>
          </a:prstGeom>
          <a:noFill/>
          <a:ln w="25400">
            <a:solidFill>
              <a:srgbClr val="1A1A1A"/>
            </a:solidFill>
            <a:prstDash val="lgDashDot"/>
            <a:tailEnd type="triangle"/>
          </a:ln>
        </p:spPr>
        <p:txBody>
          <a:bodyPr/>
          <a:p>
            <a:pPr/>
          </a:p>
        </p:txBody>
      </p:sp>
      <p:sp>
        <p:nvSpPr>
          <p:cNvPr id="51" name="Text 48"/>
          <p:cNvSpPr txBox="1"/>
          <p:nvPr/>
        </p:nvSpPr>
        <p:spPr>
          <a:xfrm>
            <a:off x="9098280" y="52669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خدمات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8595360" y="5669280"/>
            <a:ext cx="799186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3" name="Text 50"/>
          <p:cNvSpPr txBox="1"/>
          <p:nvPr/>
        </p:nvSpPr>
        <p:spPr>
          <a:xfrm>
            <a:off x="8595360" y="5682996"/>
            <a:ext cx="7991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تأییدشده</a:t>
            </a:r>
            <a:endParaRPr lang="en-US" sz="650" dirty="0"/>
          </a:p>
        </p:txBody>
      </p:sp>
      <p:sp>
        <p:nvSpPr>
          <p:cNvPr id="54" name="Text 51"/>
          <p:cNvSpPr txBox="1"/>
          <p:nvPr/>
        </p:nvSpPr>
        <p:spPr>
          <a:xfrm>
            <a:off x="9372600" y="56692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 نقشه یا نشریه‌ی مستند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8595360" y="5925312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6" name="Text 53"/>
          <p:cNvSpPr txBox="1"/>
          <p:nvPr/>
        </p:nvSpPr>
        <p:spPr>
          <a:xfrm>
            <a:off x="8595360" y="5939028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تفسیر معمارانه</a:t>
            </a:r>
            <a:endParaRPr lang="en-US" sz="650" dirty="0"/>
          </a:p>
        </p:txBody>
      </p:sp>
      <p:sp>
        <p:nvSpPr>
          <p:cNvPr id="57" name="Text 54"/>
          <p:cNvSpPr txBox="1"/>
          <p:nvPr/>
        </p:nvSpPr>
        <p:spPr>
          <a:xfrm>
            <a:off x="10835640" y="59253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خوانش پلان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نمونه‌ی ۰۱ — مرکز آنا پائو سومن · معرفی پروژه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«پردیس عمودی» شش‌طبقه برای ورزش، ساختن و گردهمایی در سایتی فشرده</a:t>
            </a:r>
            <a:endParaRPr lang="en-US" sz="2200" dirty="0"/>
          </a:p>
        </p:txBody>
      </p:sp>
      <p:pic>
        <p:nvPicPr>
          <p:cNvPr id="4" name="Image 0" descr="/home/user/echora_t01/presentations/src/img/ph_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840480" cy="2560320"/>
          </a:xfrm>
          <a:prstGeom prst="rect">
            <a:avLst/>
          </a:prstGeom>
        </p:spPr>
      </p:pic>
      <p:pic>
        <p:nvPicPr>
          <p:cNvPr id="5" name="Image 1" descr="/home/user/echora_t01/presentations/src/img/ph_028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3931920"/>
            <a:ext cx="3840480" cy="1920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8978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نمای ورودی (ص. 1) · حجم بلندشده روی زمین (ص. 28)</a:t>
            </a:r>
            <a:endParaRPr lang="en-US" sz="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80160"/>
          <a:ext cx="7040880" cy="914400"/>
        </p:xfrm>
        <a:graphic>
          <a:graphicData uri="http://schemas.openxmlformats.org/drawingml/2006/table">
            <a:tbl>
              <a:tblPr rtl="1"/>
              <a:tblGrid>
                <a:gridCol w="1005840"/>
                <a:gridCol w="493776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پروژه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مرکز آنا پائو سومن در مدرسه YK Pao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a-IR" sz="644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AD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معمار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Scenic Architecture Office (SAO)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a-IR" sz="644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AD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موقعیت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شانگهای، چین — پردیس مدرسه در خیابان هونگ‌چیائو (虹桥路، سایت پلان)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644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AD + نقشه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تکمیل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2025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a-IR" sz="644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AD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مساحت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D9472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2,473 m² (ArchDaily)  ·  زیربنای کل 7,911.8 m² = 6,945.5 روی زمین + 966.3 زیرزمین (gooood)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644" b="1" dirty="0">
                          <a:solidFill>
                            <a:srgbClr val="D9472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منابع متفاوت‌اند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ترازها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زیرزمین · همکف · نیم‌طبقه ۲ · طبقه ۳ · طبقه ۴ · زمین بام = ۶ تراز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644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نقشه‌ها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برنامه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استخر سرپوشیده، سالن بسکتبال چندمنظوره، تنیس روی میز، زمین ورزشی بام؛ کلاس‌های STEAM (هنر، موسیقی، فناوری اطلاعات، چوب، رباتیک، مد، عکاسی)؛ مرکز آموزش معلمان؛ فضای جمعی / سخنرانی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a-IR" sz="644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AD / gooood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نهاد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مدرسه YK Pao — پردیس مدرسه (گروه‌های سنی تأیید نشده)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a-IR" sz="644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AD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4663440" y="4709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ایده (طبق منبع منتشرشده)</a:t>
            </a:r>
            <a:endParaRPr lang="en-US" sz="800" dirty="0"/>
          </a:p>
        </p:txBody>
      </p:sp>
      <p:sp>
        <p:nvSpPr>
          <p:cNvPr id="9" name="Text 4"/>
          <p:cNvSpPr txBox="1"/>
          <p:nvPr/>
        </p:nvSpPr>
        <p:spPr>
          <a:xfrm>
            <a:off x="4663440" y="49377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74" i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«حجم بالایی روی زمین چمن مصنوعی شناور است و ستون‌های بتنی مایل بار را می‌برند، در حالی که تراز زمین باز می‌ماند» — ساختن به بالا برای افزودن شش تراز برنامه همراه با افزایش فضای باز قابل استفاده.</a:t>
            </a:r>
            <a:endParaRPr lang="en-US" sz="950" dirty="0"/>
          </a:p>
        </p:txBody>
      </p:sp>
      <p:sp>
        <p:nvSpPr>
          <p:cNvPr id="10" name="Text 5"/>
          <p:cNvSpPr txBox="1"/>
          <p:nvPr/>
        </p:nvSpPr>
        <p:spPr>
          <a:xfrm>
            <a:off x="4663440" y="55321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مساحت: دو عدد منتشرشده نمی‌توانند هر دو زیربنای ناخالص باشند؛ 2,473 m² احتمالاً سطح اشغال/سایت است — تأیید نشده. زیربنا را فقط همراه منبعش به کار ببرید.</a:t>
            </a:r>
            <a:endParaRPr lang="en-US" sz="800" dirty="0"/>
          </a:p>
        </p:txBody>
      </p:sp>
      <p:sp>
        <p:nvSpPr>
          <p:cNvPr id="11" name="Text 6"/>
          <p:cNvSpPr txBox="1"/>
          <p:nvPr/>
        </p:nvSpPr>
        <p:spPr>
          <a:xfrm>
            <a:off x="4663440" y="58978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ArchDaily، «Anna Pao Sohmen Centre at YK Pao School / Scenic Architecture Office» (2025) — archdaily.com/1041795  ·  gooood — gooood.cn  ·  نقشه‌ها: Scenic Architecture Office، منتشرشده (مجموعه‌ی بارگذاری‌شده، ص. 33–48)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نمونه‌ی ۰۱ — سایت + بستر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در لولای بین چمن پردیس و زمین ورزشی، نزدیک ورودی اصلی</a:t>
            </a:r>
            <a:endParaRPr lang="en-US" sz="2200" dirty="0"/>
          </a:p>
        </p:txBody>
      </p:sp>
      <p:pic>
        <p:nvPicPr>
          <p:cNvPr id="4" name="Image 0" descr="/home/user/echora_t01/presentations/src/img/site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949440" cy="373291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7544" y="2203565"/>
            <a:ext cx="1371600" cy="1371600"/>
          </a:xfrm>
          <a:prstGeom prst="ellipse">
            <a:avLst/>
          </a:prstGeom>
          <a:ln w="2540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" name="Text 3"/>
          <p:cNvSpPr txBox="1"/>
          <p:nvPr/>
        </p:nvSpPr>
        <p:spPr>
          <a:xfrm>
            <a:off x="4849144" y="2020685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مرکز آنا پائو سومن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2807052" y="169577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خیابان هونگ‌چیائو (虹桥路)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351277" y="2278051"/>
            <a:ext cx="146304" cy="146304"/>
          </a:xfrm>
          <a:prstGeom prst="ellipse">
            <a:avLst/>
          </a:prstGeom>
          <a:solidFill>
            <a:srgbClr val="2F6FB5"/>
          </a:solidFill>
          <a:ln/>
        </p:spPr>
        <p:txBody>
          <a:bodyPr/>
          <a:p>
            <a:pPr/>
          </a:p>
        </p:txBody>
      </p:sp>
      <p:sp>
        <p:nvSpPr>
          <p:cNvPr id="9" name="Text 6"/>
          <p:cNvSpPr txBox="1"/>
          <p:nvPr/>
        </p:nvSpPr>
        <p:spPr>
          <a:xfrm>
            <a:off x="2534157" y="2396923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b="1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 اصلی مدرسه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1187852" y="3111735"/>
            <a:ext cx="146304" cy="146304"/>
          </a:xfrm>
          <a:prstGeom prst="ellipse">
            <a:avLst/>
          </a:prstGeom>
          <a:solidFill>
            <a:srgbClr val="2F6FB5"/>
          </a:solidFill>
          <a:ln/>
        </p:spPr>
        <p:txBody>
          <a:bodyPr/>
          <a:p>
            <a:pPr/>
          </a:p>
        </p:txBody>
      </p:sp>
      <p:sp>
        <p:nvSpPr>
          <p:cNvPr id="11" name="Text 8"/>
          <p:cNvSpPr txBox="1"/>
          <p:nvPr/>
        </p:nvSpPr>
        <p:spPr>
          <a:xfrm>
            <a:off x="1370732" y="3230607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b="1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 فرعی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620467" y="3127289"/>
            <a:ext cx="146304" cy="146304"/>
          </a:xfrm>
          <a:prstGeom prst="ellipse">
            <a:avLst/>
          </a:prstGeom>
          <a:solidFill>
            <a:srgbClr val="D9472B"/>
          </a:solidFill>
          <a:ln/>
        </p:spPr>
        <p:txBody>
          <a:bodyPr/>
          <a:p>
            <a:pPr/>
          </a:p>
        </p:txBody>
      </p:sp>
      <p:sp>
        <p:nvSpPr>
          <p:cNvPr id="13" name="Text 10"/>
          <p:cNvSpPr txBox="1"/>
          <p:nvPr/>
        </p:nvSpPr>
        <p:spPr>
          <a:xfrm>
            <a:off x="2550619" y="3246161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 ساختمان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2477312" y="2447637"/>
            <a:ext cx="559937" cy="373291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15" name="Shape 12"/>
          <p:cNvSpPr/>
          <p:nvPr/>
        </p:nvSpPr>
        <p:spPr>
          <a:xfrm>
            <a:off x="3037249" y="2820928"/>
            <a:ext cx="591045" cy="342184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  <a:tailEnd type="triangle"/>
          </a:ln>
        </p:spPr>
        <p:txBody>
          <a:bodyPr/>
          <a:p>
            <a:pPr/>
          </a:p>
        </p:txBody>
      </p:sp>
      <p:sp>
        <p:nvSpPr>
          <p:cNvPr id="16" name="Text 13"/>
          <p:cNvSpPr txBox="1"/>
          <p:nvPr/>
        </p:nvSpPr>
        <p:spPr>
          <a:xfrm>
            <a:off x="4548506" y="393147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b="1" dirty="0">
                <a:solidFill>
                  <a:srgbClr val="5BAA6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زمین ورزش + پیست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2451853" y="300757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b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چمن مرکزی</a:t>
            </a:r>
            <a:endParaRPr lang="en-US" sz="750" dirty="0"/>
          </a:p>
        </p:txBody>
      </p:sp>
      <p:sp>
        <p:nvSpPr>
          <p:cNvPr id="18" name="Text 15"/>
          <p:cNvSpPr txBox="1"/>
          <p:nvPr/>
        </p:nvSpPr>
        <p:spPr>
          <a:xfrm>
            <a:off x="5588073" y="300757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b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مسکونی کم‌ارتفاع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040505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i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سایت پلان (بارگذاری‌شده ص. 46) — برچسب‌ها از چینی ترجمه شده‌اند: 学校主入口 ورودی اصلی مدرسه · 学校次入口 ورودی فرعی · 主入口 ورودی ساختمان.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7818120" y="1280160"/>
            <a:ext cx="799186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1" name="Text 18"/>
          <p:cNvSpPr txBox="1"/>
          <p:nvPr/>
        </p:nvSpPr>
        <p:spPr>
          <a:xfrm>
            <a:off x="7818120" y="1293876"/>
            <a:ext cx="7991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تأییدشده</a:t>
            </a:r>
            <a:endParaRPr lang="en-US" sz="650" dirty="0"/>
          </a:p>
        </p:txBody>
      </p:sp>
      <p:sp>
        <p:nvSpPr>
          <p:cNvPr id="22" name="Text 19"/>
          <p:cNvSpPr txBox="1"/>
          <p:nvPr/>
        </p:nvSpPr>
        <p:spPr>
          <a:xfrm>
            <a:off x="7818120" y="152704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خیابان (هونگ‌چیائو)، ورودی اصلی و فرعی مدرسه و ورودی اصلی ساختمان در سایت پلان برچسب دارند. فلش شمال و مقیاس 0–30 m روی نقشه. ساختمان بین ساختمان‌های مدرسه، چمن و زمین با پیست 400 متری (ترسیم‌شده) قرار دارد.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818120" y="2441448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4" name="Text 21"/>
          <p:cNvSpPr txBox="1"/>
          <p:nvPr/>
        </p:nvSpPr>
        <p:spPr>
          <a:xfrm>
            <a:off x="7818120" y="2455164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تفسیر معمارانه</a:t>
            </a:r>
            <a:endParaRPr lang="en-US" sz="650" dirty="0"/>
          </a:p>
        </p:txBody>
      </p:sp>
      <p:sp>
        <p:nvSpPr>
          <p:cNvPr id="25" name="Text 22"/>
          <p:cNvSpPr txBox="1"/>
          <p:nvPr/>
        </p:nvSpPr>
        <p:spPr>
          <a:xfrm>
            <a:off x="7818120" y="2688336"/>
            <a:ext cx="3886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این مرکز «چرخش» پردیس است: از سمت چمن وارد و از سمت دیگر به زمین باز می‌شود — یک لولا، نه یک شیء.</a:t>
            </a:r>
            <a:endParaRPr lang="en-US" sz="85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فاصله‌ی کوتاه از ورودی اصلی ← می‌تواند ساختمان عمومی/رویداد باشد بدون عبور از پردیس آموزشی.</a:t>
            </a:r>
            <a:endParaRPr lang="en-US" sz="85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سطح اشغال تنگ بین ساختمان‌های موجود و زمین، روی‌هم‌چینی عمودی و بلند کردن روی پیست را توضیح می‌دهد.</a:t>
            </a:r>
            <a:endParaRPr lang="en-US" sz="85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دسترسی سواره / خدماتی: از سایت پلان تأیید نشد.</a:t>
            </a:r>
            <a:endParaRPr lang="en-US" sz="85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جهت‌گیری / راهبرد خورشیدی: از منابع منتشرشده تأیید نشد.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7818120" y="58978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نقشه‌ها: Scenic Architecture Office — سایت پلان؛ ArchDaily (2025) — archdaily.com/1041795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نمونه‌ی ۰۱ — ایده‌ی معماری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به بالا بساز، زمین را آزاد کن: زمین ورزش زیر ساختمان ادامه می‌یابد</a:t>
            </a:r>
            <a:endParaRPr lang="en-US" sz="2200" dirty="0"/>
          </a:p>
        </p:txBody>
      </p:sp>
      <p:pic>
        <p:nvPicPr>
          <p:cNvPr id="4" name="Image 0" descr="/home/user/echora_t01/presentations/src/img/axo_she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520440" cy="4864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1264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اکسونومتریک انفجاری — ترسیم معماران (ص. 39)</a:t>
            </a:r>
            <a:endParaRPr lang="en-US" sz="700" dirty="0"/>
          </a:p>
        </p:txBody>
      </p:sp>
      <p:pic>
        <p:nvPicPr>
          <p:cNvPr id="6" name="Image 1" descr="/home/user/echora_t01/presentations/src/img/ph_02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34440"/>
            <a:ext cx="3657600" cy="2057400"/>
          </a:xfrm>
          <a:prstGeom prst="rect">
            <a:avLst/>
          </a:prstGeom>
        </p:spPr>
      </p:pic>
      <p:pic>
        <p:nvPicPr>
          <p:cNvPr id="7" name="Image 2" descr="/home/user/echora_t01/presentations/src/img/ph_00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3383280"/>
            <a:ext cx="3657600" cy="213969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297680" y="5577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زمین سرپوشیده زیر حجم طبقات ۳–۴؛ ستون‌های بتنی مایل در لبه‌ی پیست (ص. 26، 5)</a:t>
            </a:r>
            <a:endParaRPr lang="en-US" sz="700" dirty="0"/>
          </a:p>
        </p:txBody>
      </p:sp>
      <p:sp>
        <p:nvSpPr>
          <p:cNvPr id="9" name="Text 4"/>
          <p:cNvSpPr txBox="1"/>
          <p:nvPr/>
        </p:nvSpPr>
        <p:spPr>
          <a:xfrm>
            <a:off x="8275320" y="1325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دیاگرام ایده</a:t>
            </a:r>
            <a:endParaRPr lang="en-US" sz="800" dirty="0"/>
          </a:p>
        </p:txBody>
      </p:sp>
      <p:sp>
        <p:nvSpPr>
          <p:cNvPr id="10" name="Shape 5"/>
          <p:cNvSpPr/>
          <p:nvPr/>
        </p:nvSpPr>
        <p:spPr>
          <a:xfrm>
            <a:off x="8275320" y="2606040"/>
            <a:ext cx="3291840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" name="Shape 6"/>
          <p:cNvSpPr/>
          <p:nvPr/>
        </p:nvSpPr>
        <p:spPr>
          <a:xfrm>
            <a:off x="8458200" y="1783080"/>
            <a:ext cx="1463040" cy="822960"/>
          </a:xfrm>
          <a:prstGeom prst="rect">
            <a:avLst/>
          </a:prstGeom>
          <a:solidFill>
            <a:srgbClr val="5BAA6A">
              <a:alpha val="5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2" name="Shape 7"/>
          <p:cNvSpPr/>
          <p:nvPr/>
        </p:nvSpPr>
        <p:spPr>
          <a:xfrm>
            <a:off x="10104120" y="2514600"/>
            <a:ext cx="1280160" cy="91440"/>
          </a:xfrm>
          <a:prstGeom prst="rect">
            <a:avLst/>
          </a:prstGeom>
          <a:solidFill>
            <a:srgbClr val="5BAA6A">
              <a:alpha val="80000"/>
            </a:srgbClr>
          </a:solidFill>
          <a:ln/>
        </p:spPr>
        <p:txBody>
          <a:bodyPr/>
          <a:p>
            <a:pPr/>
          </a:p>
        </p:txBody>
      </p:sp>
      <p:sp>
        <p:nvSpPr>
          <p:cNvPr id="13" name="Text 8"/>
          <p:cNvSpPr txBox="1"/>
          <p:nvPr/>
        </p:nvSpPr>
        <p:spPr>
          <a:xfrm>
            <a:off x="8275320" y="267919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 · حجمی کنار زمین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8275320" y="4251960"/>
            <a:ext cx="3291840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5" name="Shape 10"/>
          <p:cNvSpPr/>
          <p:nvPr/>
        </p:nvSpPr>
        <p:spPr>
          <a:xfrm>
            <a:off x="8458200" y="3703320"/>
            <a:ext cx="1463040" cy="548640"/>
          </a:xfrm>
          <a:prstGeom prst="rect">
            <a:avLst/>
          </a:prstGeom>
          <a:solidFill>
            <a:srgbClr val="5BAA6A">
              <a:alpha val="5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6" name="Shape 11"/>
          <p:cNvSpPr/>
          <p:nvPr/>
        </p:nvSpPr>
        <p:spPr>
          <a:xfrm>
            <a:off x="8458200" y="3063240"/>
            <a:ext cx="2743200" cy="640080"/>
          </a:xfrm>
          <a:prstGeom prst="rect">
            <a:avLst/>
          </a:prstGeom>
          <a:solidFill>
            <a:srgbClr val="6FA8DC">
              <a:alpha val="5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7" name="Shape 12"/>
          <p:cNvSpPr/>
          <p:nvPr/>
        </p:nvSpPr>
        <p:spPr>
          <a:xfrm>
            <a:off x="8458200" y="2926080"/>
            <a:ext cx="2743200" cy="137160"/>
          </a:xfrm>
          <a:prstGeom prst="rect">
            <a:avLst/>
          </a:prstGeom>
          <a:solidFill>
            <a:srgbClr val="5BAA6A">
              <a:alpha val="80000"/>
            </a:srgbClr>
          </a:solidFill>
          <a:ln/>
        </p:spPr>
        <p:txBody>
          <a:bodyPr/>
          <a:p>
            <a:pPr/>
          </a:p>
        </p:txBody>
      </p:sp>
      <p:sp>
        <p:nvSpPr>
          <p:cNvPr id="18" name="Shape 13"/>
          <p:cNvSpPr/>
          <p:nvPr/>
        </p:nvSpPr>
        <p:spPr>
          <a:xfrm>
            <a:off x="9921240" y="4160520"/>
            <a:ext cx="1463040" cy="91440"/>
          </a:xfrm>
          <a:prstGeom prst="rect">
            <a:avLst/>
          </a:prstGeom>
          <a:solidFill>
            <a:srgbClr val="5BAA6A">
              <a:alpha val="80000"/>
            </a:srgbClr>
          </a:solidFill>
          <a:ln/>
        </p:spPr>
        <p:txBody>
          <a:bodyPr/>
          <a:p>
            <a:pPr/>
          </a:p>
        </p:txBody>
      </p:sp>
      <p:sp>
        <p:nvSpPr>
          <p:cNvPr id="19" name="Shape 14"/>
          <p:cNvSpPr/>
          <p:nvPr/>
        </p:nvSpPr>
        <p:spPr>
          <a:xfrm flipV="1">
            <a:off x="10881360" y="3703320"/>
            <a:ext cx="182880" cy="54864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0" name="Shape 15"/>
          <p:cNvSpPr/>
          <p:nvPr/>
        </p:nvSpPr>
        <p:spPr>
          <a:xfrm flipH="1" flipV="1">
            <a:off x="11064240" y="3703320"/>
            <a:ext cx="137160" cy="54864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1" name="Text 16"/>
          <p:cNvSpPr txBox="1"/>
          <p:nvPr/>
        </p:nvSpPr>
        <p:spPr>
          <a:xfrm>
            <a:off x="8275320" y="4325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B · روی‌هم‌چیده + بلندشده: زمین از زیر عبور می‌کند، بام زمین بازی می‌شود</a:t>
            </a:r>
            <a:endParaRPr lang="en-US" sz="750" dirty="0"/>
          </a:p>
        </p:txBody>
      </p:sp>
      <p:sp>
        <p:nvSpPr>
          <p:cNvPr id="22" name="Shape 17"/>
          <p:cNvSpPr/>
          <p:nvPr/>
        </p:nvSpPr>
        <p:spPr>
          <a:xfrm>
            <a:off x="8275320" y="4709160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3" name="Text 18"/>
          <p:cNvSpPr txBox="1"/>
          <p:nvPr/>
        </p:nvSpPr>
        <p:spPr>
          <a:xfrm>
            <a:off x="8275320" y="4722876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تفسیر معمارانه</a:t>
            </a:r>
            <a:endParaRPr lang="en-US" sz="650" dirty="0"/>
          </a:p>
        </p:txBody>
      </p:sp>
      <p:sp>
        <p:nvSpPr>
          <p:cNvPr id="24" name="Text 19"/>
          <p:cNvSpPr txBox="1"/>
          <p:nvPr/>
        </p:nvSpPr>
        <p:spPr>
          <a:xfrm>
            <a:off x="8275320" y="4965192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طبقات بالا (۳–۴) به سمت جنوب روی پیست طره می‌شوند — خط‌چین پلان همکف با سطح اشغال طبقه ۳ منطبق است.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حجم‌های ورزشی روی هم: استخر (همکف/زیرزمین) ← سالن (طبقه ۳–۴) ← زمین بام.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آموزش از سه طرف سالن را در بر می‌گیرد ← نور روز + چشم‌انداز (ArchDaily).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4297680" y="58978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ArchDaily (2025) — archdaily.com/1041795 (نقل مفهوم)؛ نقشه‌ها: Scenic Architecture Office، منتشرشده (مجموعه‌ی بارگذاری‌شده، ص. 33–48)؛ عکس‌ها: مجموعه‌ی بارگذاری‌شده (ص. 1–32)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نمونه‌ی ۰۱ — پلان همکف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همکف: لابی اجتماعات بین استخر و زمین؛ فضاهای خیس + خدماتی در پشت</a:t>
            </a:r>
            <a:endParaRPr lang="en-US" sz="2200" dirty="0"/>
          </a:p>
        </p:txBody>
      </p:sp>
      <p:pic>
        <p:nvPicPr>
          <p:cNvPr id="4" name="Image 0" descr="/home/user/echora_t01/presentations/src/img/plan_g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787445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277" y="2559177"/>
            <a:ext cx="2207682" cy="1046531"/>
          </a:xfrm>
          <a:prstGeom prst="rect">
            <a:avLst/>
          </a:prstGeom>
          <a:solidFill>
            <a:srgbClr val="5BAA6A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6" name="Shape 3"/>
          <p:cNvSpPr/>
          <p:nvPr/>
        </p:nvSpPr>
        <p:spPr>
          <a:xfrm>
            <a:off x="2915793" y="2559177"/>
            <a:ext cx="598018" cy="1071448"/>
          </a:xfrm>
          <a:prstGeom prst="rect">
            <a:avLst/>
          </a:prstGeom>
          <a:solidFill>
            <a:srgbClr val="9B7FBF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7" name="Shape 4"/>
          <p:cNvSpPr/>
          <p:nvPr/>
        </p:nvSpPr>
        <p:spPr>
          <a:xfrm>
            <a:off x="2018767" y="2135581"/>
            <a:ext cx="573100" cy="398678"/>
          </a:xfrm>
          <a:prstGeom prst="rect">
            <a:avLst/>
          </a:prstGeom>
          <a:solidFill>
            <a:srgbClr val="9B7FBF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8" name="Shape 5"/>
          <p:cNvSpPr/>
          <p:nvPr/>
        </p:nvSpPr>
        <p:spPr>
          <a:xfrm>
            <a:off x="1071905" y="2310003"/>
            <a:ext cx="473431" cy="224257"/>
          </a:xfrm>
          <a:prstGeom prst="rect">
            <a:avLst/>
          </a:prstGeom>
          <a:solidFill>
            <a:srgbClr val="9B7FBF">
              <a:alpha val="45000"/>
            </a:srgbClr>
          </a:solidFill>
          <a:ln/>
        </p:spPr>
        <p:txBody>
          <a:bodyPr/>
          <a:p>
            <a:pPr/>
          </a:p>
        </p:txBody>
      </p:sp>
      <p:sp>
        <p:nvSpPr>
          <p:cNvPr id="9" name="Shape 6"/>
          <p:cNvSpPr/>
          <p:nvPr/>
        </p:nvSpPr>
        <p:spPr>
          <a:xfrm>
            <a:off x="658277" y="3620658"/>
            <a:ext cx="388711" cy="259141"/>
          </a:xfrm>
          <a:prstGeom prst="rect">
            <a:avLst/>
          </a:prstGeom>
          <a:solidFill>
            <a:srgbClr val="9B7FBF">
              <a:alpha val="45000"/>
            </a:srgbClr>
          </a:solidFill>
          <a:ln/>
        </p:spPr>
        <p:txBody>
          <a:bodyPr/>
          <a:p>
            <a:pPr/>
          </a:p>
        </p:txBody>
      </p:sp>
      <p:sp>
        <p:nvSpPr>
          <p:cNvPr id="10" name="Shape 7"/>
          <p:cNvSpPr/>
          <p:nvPr/>
        </p:nvSpPr>
        <p:spPr>
          <a:xfrm>
            <a:off x="648310" y="2310003"/>
            <a:ext cx="398678" cy="224257"/>
          </a:xfrm>
          <a:prstGeom prst="rect">
            <a:avLst/>
          </a:prstGeom>
          <a:solidFill>
            <a:srgbClr val="8C8C8C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11" name="Shape 8"/>
          <p:cNvSpPr/>
          <p:nvPr/>
        </p:nvSpPr>
        <p:spPr>
          <a:xfrm>
            <a:off x="1669923" y="2135581"/>
            <a:ext cx="323926" cy="398678"/>
          </a:xfrm>
          <a:prstGeom prst="rect">
            <a:avLst/>
          </a:prstGeom>
          <a:solidFill>
            <a:srgbClr val="8C8C8C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12" name="Shape 9"/>
          <p:cNvSpPr/>
          <p:nvPr/>
        </p:nvSpPr>
        <p:spPr>
          <a:xfrm>
            <a:off x="2741371" y="2260168"/>
            <a:ext cx="274091" cy="274091"/>
          </a:xfrm>
          <a:prstGeom prst="rect">
            <a:avLst/>
          </a:prstGeom>
          <a:solidFill>
            <a:srgbClr val="8C8C8C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13" name="Shape 10"/>
          <p:cNvSpPr/>
          <p:nvPr/>
        </p:nvSpPr>
        <p:spPr>
          <a:xfrm>
            <a:off x="598475" y="1238555"/>
            <a:ext cx="1096366" cy="622935"/>
          </a:xfrm>
          <a:prstGeom prst="rect">
            <a:avLst/>
          </a:prstGeom>
          <a:solidFill>
            <a:srgbClr val="8C8C8C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14" name="Shape 11"/>
          <p:cNvSpPr/>
          <p:nvPr/>
        </p:nvSpPr>
        <p:spPr>
          <a:xfrm>
            <a:off x="1046988" y="3630625"/>
            <a:ext cx="1843888" cy="747522"/>
          </a:xfrm>
          <a:prstGeom prst="rect">
            <a:avLst/>
          </a:prstGeom>
          <a:solidFill>
            <a:srgbClr val="F2B134">
              <a:alpha val="50000"/>
            </a:srgbClr>
          </a:solidFill>
          <a:ln/>
        </p:spPr>
        <p:txBody>
          <a:bodyPr/>
          <a:p>
            <a:pPr/>
          </a:p>
        </p:txBody>
      </p:sp>
      <p:sp>
        <p:nvSpPr>
          <p:cNvPr id="15" name="Shape 12"/>
          <p:cNvSpPr/>
          <p:nvPr/>
        </p:nvSpPr>
        <p:spPr>
          <a:xfrm>
            <a:off x="3040380" y="3655543"/>
            <a:ext cx="473431" cy="722605"/>
          </a:xfrm>
          <a:prstGeom prst="rect">
            <a:avLst/>
          </a:prstGeom>
          <a:solidFill>
            <a:srgbClr val="6FA8DC">
              <a:alpha val="50000"/>
            </a:srgbClr>
          </a:solidFill>
          <a:ln/>
        </p:spPr>
        <p:txBody>
          <a:bodyPr/>
          <a:p>
            <a:pPr/>
          </a:p>
        </p:txBody>
      </p:sp>
      <p:sp>
        <p:nvSpPr>
          <p:cNvPr id="16" name="Shape 13"/>
          <p:cNvSpPr/>
          <p:nvPr/>
        </p:nvSpPr>
        <p:spPr>
          <a:xfrm>
            <a:off x="2741371" y="3680460"/>
            <a:ext cx="299009" cy="448513"/>
          </a:xfrm>
          <a:prstGeom prst="rect">
            <a:avLst/>
          </a:prstGeom>
          <a:solidFill>
            <a:srgbClr val="8C8C8C">
              <a:alpha val="35000"/>
            </a:srgbClr>
          </a:solidFill>
          <a:ln/>
        </p:spPr>
        <p:txBody>
          <a:bodyPr/>
          <a:p>
            <a:pPr/>
          </a:p>
        </p:txBody>
      </p:sp>
      <p:sp>
        <p:nvSpPr>
          <p:cNvPr id="17" name="Shape 14"/>
          <p:cNvSpPr/>
          <p:nvPr/>
        </p:nvSpPr>
        <p:spPr>
          <a:xfrm>
            <a:off x="797814" y="4228643"/>
            <a:ext cx="548183" cy="672770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8" name="Shape 15"/>
          <p:cNvSpPr/>
          <p:nvPr/>
        </p:nvSpPr>
        <p:spPr>
          <a:xfrm>
            <a:off x="2417445" y="3655543"/>
            <a:ext cx="299009" cy="448513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9" name="Shape 16"/>
          <p:cNvSpPr/>
          <p:nvPr/>
        </p:nvSpPr>
        <p:spPr>
          <a:xfrm>
            <a:off x="1221410" y="2010994"/>
            <a:ext cx="323926" cy="299009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0" name="Shape 17"/>
          <p:cNvSpPr/>
          <p:nvPr/>
        </p:nvSpPr>
        <p:spPr>
          <a:xfrm>
            <a:off x="3115132" y="2260168"/>
            <a:ext cx="274091" cy="249174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1" name="Shape 18"/>
          <p:cNvSpPr/>
          <p:nvPr/>
        </p:nvSpPr>
        <p:spPr>
          <a:xfrm>
            <a:off x="349301" y="4004386"/>
            <a:ext cx="398678" cy="91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22" name="Shape 19"/>
          <p:cNvSpPr/>
          <p:nvPr/>
        </p:nvSpPr>
        <p:spPr>
          <a:xfrm>
            <a:off x="747979" y="4004386"/>
            <a:ext cx="697687" cy="74752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  <a:tailEnd type="triangle"/>
          </a:ln>
        </p:spPr>
        <p:txBody>
          <a:bodyPr/>
          <a:p>
            <a:pPr/>
          </a:p>
        </p:txBody>
      </p:sp>
      <p:sp>
        <p:nvSpPr>
          <p:cNvPr id="23" name="Shape 20"/>
          <p:cNvSpPr/>
          <p:nvPr/>
        </p:nvSpPr>
        <p:spPr>
          <a:xfrm flipV="1">
            <a:off x="1894180" y="4378147"/>
            <a:ext cx="91" cy="299009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  <a:tailEnd type="triangle"/>
          </a:ln>
        </p:spPr>
        <p:txBody>
          <a:bodyPr/>
          <a:p>
            <a:pPr/>
          </a:p>
        </p:txBody>
      </p:sp>
      <p:sp>
        <p:nvSpPr>
          <p:cNvPr id="24" name="Shape 21"/>
          <p:cNvSpPr/>
          <p:nvPr/>
        </p:nvSpPr>
        <p:spPr>
          <a:xfrm flipV="1">
            <a:off x="2591867" y="4128973"/>
            <a:ext cx="672770" cy="99670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5" name="Shape 22"/>
          <p:cNvSpPr/>
          <p:nvPr/>
        </p:nvSpPr>
        <p:spPr>
          <a:xfrm flipV="1">
            <a:off x="3264637" y="3680460"/>
            <a:ext cx="91" cy="448513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26" name="Shape 23"/>
          <p:cNvSpPr/>
          <p:nvPr/>
        </p:nvSpPr>
        <p:spPr>
          <a:xfrm flipH="1" flipV="1">
            <a:off x="2890876" y="3381451"/>
            <a:ext cx="299009" cy="149504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27" name="Shape 24"/>
          <p:cNvSpPr/>
          <p:nvPr/>
        </p:nvSpPr>
        <p:spPr>
          <a:xfrm>
            <a:off x="1370914" y="1936242"/>
            <a:ext cx="91" cy="274091"/>
          </a:xfrm>
          <a:prstGeom prst="line">
            <a:avLst/>
          </a:prstGeom>
          <a:noFill/>
          <a:ln w="25400">
            <a:solidFill>
              <a:srgbClr val="1A1A1A"/>
            </a:solidFill>
            <a:prstDash val="lgDashDot"/>
          </a:ln>
        </p:spPr>
        <p:txBody>
          <a:bodyPr/>
          <a:p>
            <a:pPr/>
          </a:p>
        </p:txBody>
      </p:sp>
      <p:sp>
        <p:nvSpPr>
          <p:cNvPr id="28" name="Shape 25"/>
          <p:cNvSpPr/>
          <p:nvPr/>
        </p:nvSpPr>
        <p:spPr>
          <a:xfrm>
            <a:off x="1370914" y="2210333"/>
            <a:ext cx="423596" cy="124587"/>
          </a:xfrm>
          <a:prstGeom prst="line">
            <a:avLst/>
          </a:prstGeom>
          <a:noFill/>
          <a:ln w="25400">
            <a:solidFill>
              <a:srgbClr val="1A1A1A"/>
            </a:solidFill>
            <a:prstDash val="lgDashDot"/>
            <a:tailEnd type="triangle"/>
          </a:ln>
        </p:spPr>
        <p:txBody>
          <a:bodyPr/>
          <a:p>
            <a:pPr/>
          </a:p>
        </p:txBody>
      </p:sp>
      <p:sp>
        <p:nvSpPr>
          <p:cNvPr id="29" name="Shape 26"/>
          <p:cNvSpPr/>
          <p:nvPr/>
        </p:nvSpPr>
        <p:spPr>
          <a:xfrm>
            <a:off x="273634" y="3804133"/>
            <a:ext cx="201168" cy="201168"/>
          </a:xfrm>
          <a:prstGeom prst="ellipse">
            <a:avLst/>
          </a:prstGeom>
          <a:solidFill>
            <a:srgbClr val="D9472B"/>
          </a:solidFill>
          <a:ln/>
        </p:spPr>
        <p:txBody>
          <a:bodyPr/>
          <a:p>
            <a:pPr/>
          </a:p>
        </p:txBody>
      </p:sp>
      <p:sp>
        <p:nvSpPr>
          <p:cNvPr id="30" name="Text 27"/>
          <p:cNvSpPr txBox="1"/>
          <p:nvPr/>
        </p:nvSpPr>
        <p:spPr>
          <a:xfrm>
            <a:off x="273634" y="3813277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a-IR" sz="644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E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1793596" y="4651324"/>
            <a:ext cx="201168" cy="201168"/>
          </a:xfrm>
          <a:prstGeom prst="ellipse">
            <a:avLst/>
          </a:prstGeom>
          <a:solidFill>
            <a:srgbClr val="5BAA6A"/>
          </a:solidFill>
          <a:ln/>
        </p:spPr>
        <p:txBody>
          <a:bodyPr/>
          <a:p>
            <a:pPr/>
          </a:p>
        </p:txBody>
      </p:sp>
      <p:sp>
        <p:nvSpPr>
          <p:cNvPr id="32" name="Text 29"/>
          <p:cNvSpPr txBox="1"/>
          <p:nvPr/>
        </p:nvSpPr>
        <p:spPr>
          <a:xfrm>
            <a:off x="1793596" y="466046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a-IR" sz="644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F</a:t>
            </a:r>
            <a:endParaRPr lang="en-US" sz="7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2362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E ورودی (از سایت پلان) · F باز به زمین زیر طره · ▭ هسته‌ها</a:t>
            </a:r>
            <a:endParaRPr lang="en-US" sz="700" dirty="0"/>
          </a:p>
        </p:txBody>
      </p:sp>
      <p:sp>
        <p:nvSpPr>
          <p:cNvPr id="34" name="Text 31"/>
          <p:cNvSpPr txBox="1"/>
          <p:nvPr/>
        </p:nvSpPr>
        <p:spPr>
          <a:xfrm>
            <a:off x="5806440" y="1234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اتاق‌ها (راهنمای نقشه، ترجمه‌شده)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5806440" y="14630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 لابی اجتماعات · 2 انبار · 3 سرویس بهداشتی · 4 پیش‌ورودی استخر · 5 رختکن · 6 استخر · 7 تأسیسات · 8 درمانگاه اورژانس · 9 دفتر · 10 استراحت کارکنان · 11 اتاق توزیع برق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806440" y="2606040"/>
            <a:ext cx="164592" cy="146304"/>
          </a:xfrm>
          <a:prstGeom prst="rect">
            <a:avLst/>
          </a:prstGeom>
          <a:solidFill>
            <a:srgbClr val="F2B134">
              <a:alpha val="65000"/>
            </a:srgbClr>
          </a:solidFill>
          <a:ln/>
        </p:spPr>
        <p:txBody>
          <a:bodyPr/>
          <a:p>
            <a:pPr/>
          </a:p>
        </p:txBody>
      </p:sp>
      <p:sp>
        <p:nvSpPr>
          <p:cNvPr id="37" name="Text 34"/>
          <p:cNvSpPr txBox="1"/>
          <p:nvPr/>
        </p:nvSpPr>
        <p:spPr>
          <a:xfrm>
            <a:off x="6035040" y="25968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عمومی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806440" y="2843784"/>
            <a:ext cx="164592" cy="146304"/>
          </a:xfrm>
          <a:prstGeom prst="rect">
            <a:avLst/>
          </a:prstGeom>
          <a:solidFill>
            <a:srgbClr val="6FA8DC">
              <a:alpha val="65000"/>
            </a:srgbClr>
          </a:solidFill>
          <a:ln/>
        </p:spPr>
        <p:txBody>
          <a:bodyPr/>
          <a:p>
            <a:pPr/>
          </a:p>
        </p:txBody>
      </p:sp>
      <p:sp>
        <p:nvSpPr>
          <p:cNvPr id="39" name="Text 36"/>
          <p:cNvSpPr txBox="1"/>
          <p:nvPr/>
        </p:nvSpPr>
        <p:spPr>
          <a:xfrm>
            <a:off x="6035040" y="2834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نیمه‌عمومی / آموزشی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5806440" y="3081528"/>
            <a:ext cx="164592" cy="146304"/>
          </a:xfrm>
          <a:prstGeom prst="rect">
            <a:avLst/>
          </a:prstGeom>
          <a:solidFill>
            <a:srgbClr val="9B7FBF">
              <a:alpha val="65000"/>
            </a:srgbClr>
          </a:solidFill>
          <a:ln/>
        </p:spPr>
        <p:txBody>
          <a:bodyPr/>
          <a:p>
            <a:pPr/>
          </a:p>
        </p:txBody>
      </p:sp>
      <p:sp>
        <p:nvSpPr>
          <p:cNvPr id="41" name="Text 38"/>
          <p:cNvSpPr txBox="1"/>
          <p:nvPr/>
        </p:nvSpPr>
        <p:spPr>
          <a:xfrm>
            <a:off x="6035040" y="30723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کنترل‌شده / خصوصی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5806440" y="3319272"/>
            <a:ext cx="164592" cy="146304"/>
          </a:xfrm>
          <a:prstGeom prst="rect">
            <a:avLst/>
          </a:prstGeom>
          <a:solidFill>
            <a:srgbClr val="5BAA6A">
              <a:alpha val="65000"/>
            </a:srgbClr>
          </a:solidFill>
          <a:ln/>
        </p:spPr>
        <p:txBody>
          <a:bodyPr/>
          <a:p>
            <a:pPr/>
          </a:p>
        </p:txBody>
      </p:sp>
      <p:sp>
        <p:nvSpPr>
          <p:cNvPr id="43" name="Text 40"/>
          <p:cNvSpPr txBox="1"/>
          <p:nvPr/>
        </p:nvSpPr>
        <p:spPr>
          <a:xfrm>
            <a:off x="6035040" y="33101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ورزشی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5806440" y="3557016"/>
            <a:ext cx="164592" cy="146304"/>
          </a:xfrm>
          <a:prstGeom prst="rect">
            <a:avLst/>
          </a:prstGeom>
          <a:solidFill>
            <a:srgbClr val="8C8C8C">
              <a:alpha val="65000"/>
            </a:srgbClr>
          </a:solidFill>
          <a:ln/>
        </p:spPr>
        <p:txBody>
          <a:bodyPr/>
          <a:p>
            <a:pPr/>
          </a:p>
        </p:txBody>
      </p:sp>
      <p:sp>
        <p:nvSpPr>
          <p:cNvPr id="45" name="Text 42"/>
          <p:cNvSpPr txBox="1"/>
          <p:nvPr/>
        </p:nvSpPr>
        <p:spPr>
          <a:xfrm>
            <a:off x="6035040" y="3547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خدمات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5806440" y="4050792"/>
            <a:ext cx="411480" cy="91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  <a:tailEnd type="triangle"/>
          </a:ln>
        </p:spPr>
        <p:txBody>
          <a:bodyPr/>
          <a:p>
            <a:pPr/>
          </a:p>
        </p:txBody>
      </p:sp>
      <p:sp>
        <p:nvSpPr>
          <p:cNvPr id="47" name="Text 44"/>
          <p:cNvSpPr txBox="1"/>
          <p:nvPr/>
        </p:nvSpPr>
        <p:spPr>
          <a:xfrm>
            <a:off x="6309360" y="39684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عمومی / دانشجویان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5806440" y="4279392"/>
            <a:ext cx="411480" cy="91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49" name="Text 46"/>
          <p:cNvSpPr txBox="1"/>
          <p:nvPr/>
        </p:nvSpPr>
        <p:spPr>
          <a:xfrm>
            <a:off x="6309360" y="41970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کاربران ورزشی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5806440" y="4507992"/>
            <a:ext cx="411480" cy="91"/>
          </a:xfrm>
          <a:prstGeom prst="line">
            <a:avLst/>
          </a:prstGeom>
          <a:noFill/>
          <a:ln w="25400">
            <a:solidFill>
              <a:srgbClr val="1A1A1A"/>
            </a:solidFill>
            <a:prstDash val="lgDashDot"/>
            <a:tailEnd type="triangle"/>
          </a:ln>
        </p:spPr>
        <p:txBody>
          <a:bodyPr/>
          <a:p>
            <a:pPr/>
          </a:p>
        </p:txBody>
      </p:sp>
      <p:sp>
        <p:nvSpPr>
          <p:cNvPr id="51" name="Text 48"/>
          <p:cNvSpPr txBox="1"/>
          <p:nvPr/>
        </p:nvSpPr>
        <p:spPr>
          <a:xfrm>
            <a:off x="6309360" y="44256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خدمات</a:t>
            </a:r>
            <a:endParaRPr lang="en-US" sz="750" dirty="0"/>
          </a:p>
        </p:txBody>
      </p:sp>
      <p:sp>
        <p:nvSpPr>
          <p:cNvPr id="52" name="Text 49"/>
          <p:cNvSpPr txBox="1"/>
          <p:nvPr/>
        </p:nvSpPr>
        <p:spPr>
          <a:xfrm>
            <a:off x="5806440" y="420624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8732520" y="1234440"/>
            <a:ext cx="799186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4" name="Text 51"/>
          <p:cNvSpPr txBox="1"/>
          <p:nvPr/>
        </p:nvSpPr>
        <p:spPr>
          <a:xfrm>
            <a:off x="8732520" y="1248156"/>
            <a:ext cx="7991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تأییدشده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8732520" y="14813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استخر بزرگ‌ترین فضای همکف است؛ رختکن‌ها بین استخر و پیش‌ورودی؛ درمانگاه، دفتر، انبار و تأسیسات در لبه‌ی شمالی؛ پله‌ای از لابی به نیم‌طبقه‌ی ۲ بالا می‌رود.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8732520" y="2395728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7" name="Text 54"/>
          <p:cNvSpPr txBox="1"/>
          <p:nvPr/>
        </p:nvSpPr>
        <p:spPr>
          <a:xfrm>
            <a:off x="8732520" y="2409444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تفسیر معمارانه</a:t>
            </a:r>
            <a:endParaRPr lang="en-US" sz="650" dirty="0"/>
          </a:p>
        </p:txBody>
      </p:sp>
      <p:sp>
        <p:nvSpPr>
          <p:cNvPr id="58" name="Text 55"/>
          <p:cNvSpPr txBox="1"/>
          <p:nvPr/>
        </p:nvSpPr>
        <p:spPr>
          <a:xfrm>
            <a:off x="8732520" y="2642616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چرا لابی اینجاست: آستانه‌ی بین پردیس (ورودی) و زمین (جنوب) — فضای گردهمایی که به استخر و طبقات بالا هم توزیع می‌کند.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دسترسی مستقیم: پیش‌ورودی استخر ← رختکن ← استخر (توالی خیس هرگز به لابی خشک بازنمی‌گردد).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کنترل‌شده: درمانگاه و اتاق کارکنان در لبه‌ی پشتی، نزدیک پله‌ی شمالی.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خدمات: تأسیسات + انبار روی نوار شمالی، اتاق برق جدا — دور از جبهه‌ی عمومی.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آکوستیک / رطوبت: استخر با فضاهای خدماتی و رختکن احاطه شده، نه با کلاس‌ها.</a:t>
            </a:r>
            <a:endParaRPr lang="en-US" sz="800" dirty="0"/>
          </a:p>
        </p:txBody>
      </p:sp>
      <p:sp>
        <p:nvSpPr>
          <p:cNvPr id="59" name="Text 56"/>
          <p:cNvSpPr txBox="1"/>
          <p:nvPr/>
        </p:nvSpPr>
        <p:spPr>
          <a:xfrm>
            <a:off x="5806440" y="6035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نقشه‌ها: Scenic Architecture Office — پلان همکف (ص. 40). پهنه‌ها، پیکان‌ها و نشانه‌ها افزوده‌ی نگارنده.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نمونه‌ی ۰۱ — زیرزمین + طبقه دوم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پایین: تأسیسات زیر استخر. بالا: نیم‌طبقه‌ای مشرف به استخر و زمین</a:t>
            </a:r>
            <a:endParaRPr lang="en-US" sz="2200" dirty="0"/>
          </a:p>
        </p:txBody>
      </p:sp>
      <p:pic>
        <p:nvPicPr>
          <p:cNvPr id="4" name="Image 0" descr="/home/user/echora_t01/presentations/src/img/plan_b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196742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1734" y="1928470"/>
            <a:ext cx="2460650" cy="1913839"/>
          </a:xfrm>
          <a:prstGeom prst="rect">
            <a:avLst/>
          </a:prstGeom>
          <a:solidFill>
            <a:srgbClr val="8C8C8C">
              <a:alpha val="45000"/>
            </a:srgbClr>
          </a:solidFill>
          <a:ln/>
        </p:spPr>
        <p:txBody>
          <a:bodyPr/>
          <a:p>
            <a:pPr/>
          </a:p>
        </p:txBody>
      </p:sp>
      <p:sp>
        <p:nvSpPr>
          <p:cNvPr id="6" name="Shape 3"/>
          <p:cNvSpPr/>
          <p:nvPr/>
        </p:nvSpPr>
        <p:spPr>
          <a:xfrm>
            <a:off x="758952" y="2475281"/>
            <a:ext cx="1535278" cy="672998"/>
          </a:xfrm>
          <a:prstGeom prst="rect">
            <a:avLst/>
          </a:prstGeom>
          <a:ln w="12700">
            <a:solidFill>
              <a:srgbClr val="1A1A1A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7" name="Text 4"/>
          <p:cNvSpPr txBox="1"/>
          <p:nvPr/>
        </p:nvSpPr>
        <p:spPr>
          <a:xfrm>
            <a:off x="548640" y="5486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زیرزمین — اتاق‌های تأسیسات (设备间) گرداگرد فضای تهی زیر استخر (泳池下方管道空腔)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97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i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توجه: راهنمای انگلیسی نقشه، مورد 1 را «Activity mezzanine» نوشته؛ عبارت چینی 设备间 = اتاق تأسیسات ← همین به کار رفته.</a:t>
            </a:r>
            <a:endParaRPr lang="en-US" sz="700" dirty="0"/>
          </a:p>
        </p:txBody>
      </p:sp>
      <p:pic>
        <p:nvPicPr>
          <p:cNvPr id="9" name="Image 1" descr="/home/user/echora_t01/presentations/src/img/plan_2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234440"/>
            <a:ext cx="3196742" cy="4206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978737" y="2391156"/>
            <a:ext cx="1842333" cy="883310"/>
          </a:xfrm>
          <a:prstGeom prst="rect">
            <a:avLst/>
          </a:prstGeom>
          <a:ln w="12700">
            <a:solidFill>
              <a:srgbClr val="5BAA6A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11" name="Shape 7"/>
          <p:cNvSpPr/>
          <p:nvPr/>
        </p:nvSpPr>
        <p:spPr>
          <a:xfrm>
            <a:off x="5842102" y="2391156"/>
            <a:ext cx="546811" cy="904342"/>
          </a:xfrm>
          <a:prstGeom prst="rect">
            <a:avLst/>
          </a:prstGeom>
          <a:solidFill>
            <a:srgbClr val="5BAA6A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12" name="Shape 8"/>
          <p:cNvSpPr/>
          <p:nvPr/>
        </p:nvSpPr>
        <p:spPr>
          <a:xfrm>
            <a:off x="4306824" y="3295498"/>
            <a:ext cx="2082089" cy="630936"/>
          </a:xfrm>
          <a:prstGeom prst="rect">
            <a:avLst/>
          </a:prstGeom>
          <a:solidFill>
            <a:srgbClr val="F2B134">
              <a:alpha val="50000"/>
            </a:srgbClr>
          </a:solidFill>
          <a:ln/>
        </p:spPr>
        <p:txBody>
          <a:bodyPr/>
          <a:p>
            <a:pPr/>
          </a:p>
        </p:txBody>
      </p:sp>
      <p:sp>
        <p:nvSpPr>
          <p:cNvPr id="13" name="Shape 9"/>
          <p:cNvSpPr/>
          <p:nvPr/>
        </p:nvSpPr>
        <p:spPr>
          <a:xfrm>
            <a:off x="3970325" y="1970532"/>
            <a:ext cx="1724558" cy="399593"/>
          </a:xfrm>
          <a:prstGeom prst="rect">
            <a:avLst/>
          </a:prstGeom>
          <a:solidFill>
            <a:srgbClr val="8C8C8C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14" name="Shape 10"/>
          <p:cNvSpPr/>
          <p:nvPr/>
        </p:nvSpPr>
        <p:spPr>
          <a:xfrm>
            <a:off x="5800039" y="2138782"/>
            <a:ext cx="504749" cy="231343"/>
          </a:xfrm>
          <a:prstGeom prst="rect">
            <a:avLst/>
          </a:prstGeom>
          <a:solidFill>
            <a:srgbClr val="8C8C8C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15" name="Shape 11"/>
          <p:cNvSpPr/>
          <p:nvPr/>
        </p:nvSpPr>
        <p:spPr>
          <a:xfrm>
            <a:off x="4096512" y="3800246"/>
            <a:ext cx="462686" cy="567842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6" name="Shape 12"/>
          <p:cNvSpPr/>
          <p:nvPr/>
        </p:nvSpPr>
        <p:spPr>
          <a:xfrm>
            <a:off x="4454042" y="1928470"/>
            <a:ext cx="273406" cy="252374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7" name="Shape 13"/>
          <p:cNvSpPr/>
          <p:nvPr/>
        </p:nvSpPr>
        <p:spPr>
          <a:xfrm>
            <a:off x="5463540" y="3316529"/>
            <a:ext cx="252374" cy="378562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8" name="Shape 14"/>
          <p:cNvSpPr/>
          <p:nvPr/>
        </p:nvSpPr>
        <p:spPr>
          <a:xfrm flipV="1">
            <a:off x="5610758" y="3421685"/>
            <a:ext cx="91" cy="252374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19" name="Shape 15"/>
          <p:cNvSpPr/>
          <p:nvPr/>
        </p:nvSpPr>
        <p:spPr>
          <a:xfrm flipV="1">
            <a:off x="5610758" y="3337560"/>
            <a:ext cx="336499" cy="84125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  <a:tailEnd type="triangle"/>
          </a:ln>
        </p:spPr>
        <p:txBody>
          <a:bodyPr/>
          <a:p>
            <a:pPr/>
          </a:p>
        </p:txBody>
      </p:sp>
      <p:sp>
        <p:nvSpPr>
          <p:cNvPr id="20" name="Shape 16"/>
          <p:cNvSpPr/>
          <p:nvPr/>
        </p:nvSpPr>
        <p:spPr>
          <a:xfrm>
            <a:off x="6367882" y="3568903"/>
            <a:ext cx="630936" cy="91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21" name="Shape 17"/>
          <p:cNvSpPr/>
          <p:nvPr/>
        </p:nvSpPr>
        <p:spPr>
          <a:xfrm>
            <a:off x="6998818" y="3568903"/>
            <a:ext cx="91" cy="483718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  <a:tailEnd type="triangle"/>
          </a:ln>
        </p:spPr>
        <p:txBody>
          <a:bodyPr/>
          <a:p>
            <a:pPr/>
          </a:p>
        </p:txBody>
      </p:sp>
      <p:sp>
        <p:nvSpPr>
          <p:cNvPr id="22" name="Text 18"/>
          <p:cNvSpPr txBox="1"/>
          <p:nvPr/>
        </p:nvSpPr>
        <p:spPr>
          <a:xfrm>
            <a:off x="3886200" y="5486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طبقه ۲ — 1 نیم‌طبقه‌ی فعالیت · 2 تنیس روی میز · 3 انبار · 4 تأسیسات؛ خط‌چین = فضای تهی استخر در زیر</a:t>
            </a:r>
            <a:endParaRPr lang="en-US" sz="750" dirty="0"/>
          </a:p>
        </p:txBody>
      </p:sp>
      <p:pic>
        <p:nvPicPr>
          <p:cNvPr id="23" name="Image 2" descr="/home/user/echora_t01/presentations/src/img/ph_01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234440"/>
            <a:ext cx="2103120" cy="1225296"/>
          </a:xfrm>
          <a:prstGeom prst="rect">
            <a:avLst/>
          </a:prstGeom>
        </p:spPr>
      </p:pic>
      <p:pic>
        <p:nvPicPr>
          <p:cNvPr id="24" name="Image 3" descr="/home/user/echora_t01/presentations/src/img/ph_025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1234440"/>
            <a:ext cx="2103120" cy="140817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52360" y="2697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تنیس روی میز از پنجره‌های موجی به استخر دید دارد (ص. 10) · پله‌ی نشیمن لابی به نیم‌طبقه (ص. 25)</a:t>
            </a:r>
            <a:endParaRPr lang="en-US" sz="700" dirty="0"/>
          </a:p>
        </p:txBody>
      </p:sp>
      <p:sp>
        <p:nvSpPr>
          <p:cNvPr id="26" name="Shape 20"/>
          <p:cNvSpPr/>
          <p:nvPr/>
        </p:nvSpPr>
        <p:spPr>
          <a:xfrm>
            <a:off x="7452360" y="3063240"/>
            <a:ext cx="799186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7" name="Text 21"/>
          <p:cNvSpPr txBox="1"/>
          <p:nvPr/>
        </p:nvSpPr>
        <p:spPr>
          <a:xfrm>
            <a:off x="7452360" y="3076956"/>
            <a:ext cx="7991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تأییدشده</a:t>
            </a:r>
            <a:endParaRPr lang="en-US" sz="650" dirty="0"/>
          </a:p>
        </p:txBody>
      </p:sp>
      <p:sp>
        <p:nvSpPr>
          <p:cNvPr id="28" name="Text 22"/>
          <p:cNvSpPr txBox="1"/>
          <p:nvPr/>
        </p:nvSpPr>
        <p:spPr>
          <a:xfrm>
            <a:off x="7452360" y="331012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زیرزمین فقط شامل اتاق‌های تأسیسات و فضای لوله‌کشی زیر استخر است. طبقه ۲: نیم‌طبقه روی لابی، اتاق تنیس روی میز بالای رختکن‌ها، نوار تأسیسات در شمال؛ پل/پله‌ی بیرونی از ضلع شرقی خارج می‌شود.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7452360" y="4069080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0" name="Text 24"/>
          <p:cNvSpPr txBox="1"/>
          <p:nvPr/>
        </p:nvSpPr>
        <p:spPr>
          <a:xfrm>
            <a:off x="7452360" y="4082796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تفسیر معمارانه</a:t>
            </a:r>
            <a:endParaRPr lang="en-US" sz="650" dirty="0"/>
          </a:p>
        </p:txBody>
      </p:sp>
      <p:sp>
        <p:nvSpPr>
          <p:cNvPr id="31" name="Text 25"/>
          <p:cNvSpPr txBox="1"/>
          <p:nvPr/>
        </p:nvSpPr>
        <p:spPr>
          <a:xfrm>
            <a:off x="7452360" y="4315968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خدمات زیر خدمات: تأسیسات زیرزمین مستقیماً زیر استخر ← کوتاه‌ترین مسیر لوله، بدون تأسیسات در ترازهای عمومی.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ارتباط بصری: تنیس روی میز مشرف به استخر؛ نیم‌طبقه مشرف به لابی + زمین ← ورزش نمایش داده می‌شود، نه پنهان.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پله‌ی لابی نشیمن هم هست (عکس) ← گردش، فضای تماشاگر هم می‌شود.</a:t>
            </a:r>
            <a:endParaRPr lang="en-US" sz="800" dirty="0"/>
          </a:p>
        </p:txBody>
      </p:sp>
      <p:sp>
        <p:nvSpPr>
          <p:cNvPr id="32" name="Text 26"/>
          <p:cNvSpPr txBox="1"/>
          <p:nvPr/>
        </p:nvSpPr>
        <p:spPr>
          <a:xfrm>
            <a:off x="7452360" y="5989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نقشه‌ها: Scenic Architecture Office — پلان زیرزمین (ص. 42) و طبقه دوم (ص. 35)؛ عکس‌ها: مجموعه‌ی بارگذاری‌شده (ص. 1–32)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نمونه‌ی ۰۱ — پلان طبقه سوم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طبقه ۳: سالن ورزشی در مرکز، پیچیده در کلاس‌ها، دفاتر و حلقه‌ی آتریوم</a:t>
            </a:r>
            <a:endParaRPr lang="en-US" sz="2200" dirty="0"/>
          </a:p>
        </p:txBody>
      </p:sp>
      <p:pic>
        <p:nvPicPr>
          <p:cNvPr id="4" name="Image 0" descr="/home/user/echora_t01/presentations/src/img/plan_3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787445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19427" y="2509342"/>
            <a:ext cx="2267483" cy="1669466"/>
          </a:xfrm>
          <a:prstGeom prst="rect">
            <a:avLst/>
          </a:prstGeom>
          <a:solidFill>
            <a:srgbClr val="5BAA6A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6" name="Shape 3"/>
          <p:cNvSpPr/>
          <p:nvPr/>
        </p:nvSpPr>
        <p:spPr>
          <a:xfrm>
            <a:off x="1894180" y="2135581"/>
            <a:ext cx="2192731" cy="358811"/>
          </a:xfrm>
          <a:prstGeom prst="rect">
            <a:avLst/>
          </a:prstGeom>
          <a:solidFill>
            <a:srgbClr val="8C8C8C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7" name="Shape 4"/>
          <p:cNvSpPr/>
          <p:nvPr/>
        </p:nvSpPr>
        <p:spPr>
          <a:xfrm>
            <a:off x="1944014" y="4253560"/>
            <a:ext cx="897026" cy="174422"/>
          </a:xfrm>
          <a:prstGeom prst="rect">
            <a:avLst/>
          </a:prstGeom>
          <a:solidFill>
            <a:srgbClr val="8C8C8C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8" name="Shape 5"/>
          <p:cNvSpPr/>
          <p:nvPr/>
        </p:nvSpPr>
        <p:spPr>
          <a:xfrm>
            <a:off x="648310" y="2584094"/>
            <a:ext cx="672770" cy="548183"/>
          </a:xfrm>
          <a:prstGeom prst="rect">
            <a:avLst/>
          </a:prstGeom>
          <a:solidFill>
            <a:srgbClr val="6FA8DC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9" name="Shape 6"/>
          <p:cNvSpPr/>
          <p:nvPr/>
        </p:nvSpPr>
        <p:spPr>
          <a:xfrm>
            <a:off x="648310" y="3605708"/>
            <a:ext cx="672770" cy="573100"/>
          </a:xfrm>
          <a:prstGeom prst="rect">
            <a:avLst/>
          </a:prstGeom>
          <a:solidFill>
            <a:srgbClr val="6FA8DC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10" name="Shape 7"/>
          <p:cNvSpPr/>
          <p:nvPr/>
        </p:nvSpPr>
        <p:spPr>
          <a:xfrm>
            <a:off x="648310" y="3157195"/>
            <a:ext cx="647852" cy="448513"/>
          </a:xfrm>
          <a:prstGeom prst="rect">
            <a:avLst/>
          </a:prstGeom>
          <a:ln w="12700">
            <a:solidFill>
              <a:srgbClr val="5BAA6A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11" name="Shape 8"/>
          <p:cNvSpPr/>
          <p:nvPr/>
        </p:nvSpPr>
        <p:spPr>
          <a:xfrm>
            <a:off x="648310" y="4677156"/>
            <a:ext cx="1071448" cy="897026"/>
          </a:xfrm>
          <a:prstGeom prst="rect">
            <a:avLst/>
          </a:prstGeom>
          <a:solidFill>
            <a:srgbClr val="F2B134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12" name="Shape 9"/>
          <p:cNvSpPr/>
          <p:nvPr/>
        </p:nvSpPr>
        <p:spPr>
          <a:xfrm>
            <a:off x="1744675" y="5001082"/>
            <a:ext cx="1196035" cy="573100"/>
          </a:xfrm>
          <a:prstGeom prst="rect">
            <a:avLst/>
          </a:prstGeom>
          <a:solidFill>
            <a:srgbClr val="6FA8DC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13" name="Shape 10"/>
          <p:cNvSpPr/>
          <p:nvPr/>
        </p:nvSpPr>
        <p:spPr>
          <a:xfrm>
            <a:off x="2965628" y="5001082"/>
            <a:ext cx="1146200" cy="573100"/>
          </a:xfrm>
          <a:prstGeom prst="rect">
            <a:avLst/>
          </a:prstGeom>
          <a:solidFill>
            <a:srgbClr val="9B7FBF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14" name="Shape 11"/>
          <p:cNvSpPr/>
          <p:nvPr/>
        </p:nvSpPr>
        <p:spPr>
          <a:xfrm>
            <a:off x="2965628" y="4253560"/>
            <a:ext cx="523265" cy="423596"/>
          </a:xfrm>
          <a:prstGeom prst="rect">
            <a:avLst/>
          </a:prstGeom>
          <a:solidFill>
            <a:srgbClr val="9B7FBF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15" name="Shape 12"/>
          <p:cNvSpPr/>
          <p:nvPr/>
        </p:nvSpPr>
        <p:spPr>
          <a:xfrm>
            <a:off x="3488893" y="4228643"/>
            <a:ext cx="622935" cy="622935"/>
          </a:xfrm>
          <a:prstGeom prst="rect">
            <a:avLst/>
          </a:prstGeom>
          <a:solidFill>
            <a:srgbClr val="8C8C8C">
              <a:alpha val="40000"/>
            </a:srgbClr>
          </a:solidFill>
          <a:ln/>
        </p:spPr>
        <p:txBody>
          <a:bodyPr/>
          <a:p>
            <a:pPr/>
          </a:p>
        </p:txBody>
      </p:sp>
      <p:sp>
        <p:nvSpPr>
          <p:cNvPr id="16" name="Shape 13"/>
          <p:cNvSpPr/>
          <p:nvPr/>
        </p:nvSpPr>
        <p:spPr>
          <a:xfrm>
            <a:off x="1620088" y="4427982"/>
            <a:ext cx="1495044" cy="448513"/>
          </a:xfrm>
          <a:prstGeom prst="rect">
            <a:avLst/>
          </a:prstGeom>
          <a:ln w="12700">
            <a:solidFill>
              <a:srgbClr val="1A1A1A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17" name="Shape 14"/>
          <p:cNvSpPr/>
          <p:nvPr/>
        </p:nvSpPr>
        <p:spPr>
          <a:xfrm>
            <a:off x="822731" y="4253560"/>
            <a:ext cx="622935" cy="722605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8" name="Shape 15"/>
          <p:cNvSpPr/>
          <p:nvPr/>
        </p:nvSpPr>
        <p:spPr>
          <a:xfrm>
            <a:off x="1121740" y="2010994"/>
            <a:ext cx="423596" cy="348844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9" name="Shape 16"/>
          <p:cNvSpPr/>
          <p:nvPr/>
        </p:nvSpPr>
        <p:spPr>
          <a:xfrm>
            <a:off x="4111828" y="4851578"/>
            <a:ext cx="174422" cy="1121283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0" name="Shape 17"/>
          <p:cNvSpPr/>
          <p:nvPr/>
        </p:nvSpPr>
        <p:spPr>
          <a:xfrm>
            <a:off x="1196492" y="4627321"/>
            <a:ext cx="498348" cy="348844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21" name="Shape 18"/>
          <p:cNvSpPr/>
          <p:nvPr/>
        </p:nvSpPr>
        <p:spPr>
          <a:xfrm flipV="1">
            <a:off x="1694840" y="4951247"/>
            <a:ext cx="1345540" cy="24917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22" name="Shape 19"/>
          <p:cNvSpPr/>
          <p:nvPr/>
        </p:nvSpPr>
        <p:spPr>
          <a:xfrm flipV="1">
            <a:off x="3040380" y="4926330"/>
            <a:ext cx="847192" cy="24917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  <a:tailEnd type="triangle"/>
          </a:ln>
        </p:spPr>
        <p:txBody>
          <a:bodyPr/>
          <a:p>
            <a:pPr/>
          </a:p>
        </p:txBody>
      </p:sp>
      <p:sp>
        <p:nvSpPr>
          <p:cNvPr id="23" name="Shape 20"/>
          <p:cNvSpPr/>
          <p:nvPr/>
        </p:nvSpPr>
        <p:spPr>
          <a:xfrm flipV="1">
            <a:off x="1445666" y="2434590"/>
            <a:ext cx="24917" cy="1993392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  <a:tailEnd type="triangle"/>
          </a:ln>
        </p:spPr>
        <p:txBody>
          <a:bodyPr/>
          <a:p>
            <a:pPr/>
          </a:p>
        </p:txBody>
      </p:sp>
      <p:sp>
        <p:nvSpPr>
          <p:cNvPr id="24" name="Shape 21"/>
          <p:cNvSpPr/>
          <p:nvPr/>
        </p:nvSpPr>
        <p:spPr>
          <a:xfrm flipV="1">
            <a:off x="3239719" y="4378147"/>
            <a:ext cx="91" cy="299009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5" name="Shape 22"/>
          <p:cNvSpPr/>
          <p:nvPr/>
        </p:nvSpPr>
        <p:spPr>
          <a:xfrm flipH="1" flipV="1">
            <a:off x="3090215" y="4178808"/>
            <a:ext cx="149504" cy="199339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26" name="Shape 23"/>
          <p:cNvSpPr/>
          <p:nvPr/>
        </p:nvSpPr>
        <p:spPr>
          <a:xfrm>
            <a:off x="871652" y="3280867"/>
            <a:ext cx="201168" cy="201168"/>
          </a:xfrm>
          <a:prstGeom prst="ellipse">
            <a:avLst/>
          </a:prstGeom>
          <a:solidFill>
            <a:srgbClr val="5BAA6A"/>
          </a:solidFill>
          <a:ln/>
        </p:spPr>
        <p:txBody>
          <a:bodyPr/>
          <a:p>
            <a:pPr/>
          </a:p>
        </p:txBody>
      </p:sp>
      <p:sp>
        <p:nvSpPr>
          <p:cNvPr id="27" name="Text 24"/>
          <p:cNvSpPr txBox="1"/>
          <p:nvPr/>
        </p:nvSpPr>
        <p:spPr>
          <a:xfrm>
            <a:off x="871652" y="3290011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a-IR" sz="644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C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2267026" y="4576572"/>
            <a:ext cx="201168" cy="201168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p>
            <a:pPr/>
          </a:p>
        </p:txBody>
      </p:sp>
      <p:sp>
        <p:nvSpPr>
          <p:cNvPr id="29" name="Text 26"/>
          <p:cNvSpPr txBox="1"/>
          <p:nvPr/>
        </p:nvSpPr>
        <p:spPr>
          <a:xfrm>
            <a:off x="2267026" y="458571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a-IR" sz="644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</a:t>
            </a:r>
            <a:endParaRPr lang="en-US" sz="7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2362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 فضای تهی آتریوم با نورگیر سقفی · C حیاط پوملو (باز) · ▭ هسته‌ها</a:t>
            </a:r>
            <a:endParaRPr lang="en-US" sz="700" dirty="0"/>
          </a:p>
        </p:txBody>
      </p:sp>
      <p:sp>
        <p:nvSpPr>
          <p:cNvPr id="31" name="Text 28"/>
          <p:cNvSpPr txBox="1"/>
          <p:nvPr/>
        </p:nvSpPr>
        <p:spPr>
          <a:xfrm>
            <a:off x="5806440" y="1234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اتاق‌ها (راهنمای نقشه)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5806440" y="14630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 آتریوم · 2 انبار · 3 سرویس بهداشتی · 4 سالن ورزشی سرپوشیده · 5 رختکن · 6 کلاس · 7 تأسیسات · 8 سالن چندمنظوره · 9 سمینار · 10 دفتر · 11 حیاط درخت پوملو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806440" y="2606040"/>
            <a:ext cx="164592" cy="146304"/>
          </a:xfrm>
          <a:prstGeom prst="rect">
            <a:avLst/>
          </a:prstGeom>
          <a:solidFill>
            <a:srgbClr val="F2B134">
              <a:alpha val="65000"/>
            </a:srgbClr>
          </a:solidFill>
          <a:ln/>
        </p:spPr>
        <p:txBody>
          <a:bodyPr/>
          <a:p>
            <a:pPr/>
          </a:p>
        </p:txBody>
      </p:sp>
      <p:sp>
        <p:nvSpPr>
          <p:cNvPr id="34" name="Text 31"/>
          <p:cNvSpPr txBox="1"/>
          <p:nvPr/>
        </p:nvSpPr>
        <p:spPr>
          <a:xfrm>
            <a:off x="6035040" y="25968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عمومی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5806440" y="2843784"/>
            <a:ext cx="164592" cy="146304"/>
          </a:xfrm>
          <a:prstGeom prst="rect">
            <a:avLst/>
          </a:prstGeom>
          <a:solidFill>
            <a:srgbClr val="6FA8DC">
              <a:alpha val="65000"/>
            </a:srgbClr>
          </a:solidFill>
          <a:ln/>
        </p:spPr>
        <p:txBody>
          <a:bodyPr/>
          <a:p>
            <a:pPr/>
          </a:p>
        </p:txBody>
      </p:sp>
      <p:sp>
        <p:nvSpPr>
          <p:cNvPr id="36" name="Text 33"/>
          <p:cNvSpPr txBox="1"/>
          <p:nvPr/>
        </p:nvSpPr>
        <p:spPr>
          <a:xfrm>
            <a:off x="6035040" y="2834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نیمه‌عمومی / آموزشی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806440" y="3081528"/>
            <a:ext cx="164592" cy="146304"/>
          </a:xfrm>
          <a:prstGeom prst="rect">
            <a:avLst/>
          </a:prstGeom>
          <a:solidFill>
            <a:srgbClr val="9B7FBF">
              <a:alpha val="65000"/>
            </a:srgbClr>
          </a:solidFill>
          <a:ln/>
        </p:spPr>
        <p:txBody>
          <a:bodyPr/>
          <a:p>
            <a:pPr/>
          </a:p>
        </p:txBody>
      </p:sp>
      <p:sp>
        <p:nvSpPr>
          <p:cNvPr id="38" name="Text 35"/>
          <p:cNvSpPr txBox="1"/>
          <p:nvPr/>
        </p:nvSpPr>
        <p:spPr>
          <a:xfrm>
            <a:off x="6035040" y="30723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کنترل‌شده / خصوصی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5806440" y="3319272"/>
            <a:ext cx="164592" cy="146304"/>
          </a:xfrm>
          <a:prstGeom prst="rect">
            <a:avLst/>
          </a:prstGeom>
          <a:solidFill>
            <a:srgbClr val="5BAA6A">
              <a:alpha val="65000"/>
            </a:srgbClr>
          </a:solidFill>
          <a:ln/>
        </p:spPr>
        <p:txBody>
          <a:bodyPr/>
          <a:p>
            <a:pPr/>
          </a:p>
        </p:txBody>
      </p:sp>
      <p:sp>
        <p:nvSpPr>
          <p:cNvPr id="40" name="Text 37"/>
          <p:cNvSpPr txBox="1"/>
          <p:nvPr/>
        </p:nvSpPr>
        <p:spPr>
          <a:xfrm>
            <a:off x="6035040" y="33101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ورزشی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5806440" y="3557016"/>
            <a:ext cx="164592" cy="146304"/>
          </a:xfrm>
          <a:prstGeom prst="rect">
            <a:avLst/>
          </a:prstGeom>
          <a:solidFill>
            <a:srgbClr val="8C8C8C">
              <a:alpha val="65000"/>
            </a:srgbClr>
          </a:solidFill>
          <a:ln/>
        </p:spPr>
        <p:txBody>
          <a:bodyPr/>
          <a:p>
            <a:pPr/>
          </a:p>
        </p:txBody>
      </p:sp>
      <p:sp>
        <p:nvSpPr>
          <p:cNvPr id="42" name="Text 39"/>
          <p:cNvSpPr txBox="1"/>
          <p:nvPr/>
        </p:nvSpPr>
        <p:spPr>
          <a:xfrm>
            <a:off x="6035040" y="3547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خدمات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806440" y="4050792"/>
            <a:ext cx="411480" cy="91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  <a:tailEnd type="triangle"/>
          </a:ln>
        </p:spPr>
        <p:txBody>
          <a:bodyPr/>
          <a:p>
            <a:pPr/>
          </a:p>
        </p:txBody>
      </p:sp>
      <p:sp>
        <p:nvSpPr>
          <p:cNvPr id="44" name="Text 41"/>
          <p:cNvSpPr txBox="1"/>
          <p:nvPr/>
        </p:nvSpPr>
        <p:spPr>
          <a:xfrm>
            <a:off x="6309360" y="39684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عمومی / دانشجویان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5806440" y="4279392"/>
            <a:ext cx="411480" cy="91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46" name="Text 43"/>
          <p:cNvSpPr txBox="1"/>
          <p:nvPr/>
        </p:nvSpPr>
        <p:spPr>
          <a:xfrm>
            <a:off x="6309360" y="41970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کاربران ورزشی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5806440" y="4507992"/>
            <a:ext cx="411480" cy="91"/>
          </a:xfrm>
          <a:prstGeom prst="line">
            <a:avLst/>
          </a:prstGeom>
          <a:noFill/>
          <a:ln w="25400">
            <a:solidFill>
              <a:srgbClr val="1A1A1A"/>
            </a:solidFill>
            <a:prstDash val="lgDashDot"/>
            <a:tailEnd type="triangle"/>
          </a:ln>
        </p:spPr>
        <p:txBody>
          <a:bodyPr/>
          <a:p>
            <a:pPr/>
          </a:p>
        </p:txBody>
      </p:sp>
      <p:sp>
        <p:nvSpPr>
          <p:cNvPr id="48" name="Text 45"/>
          <p:cNvSpPr txBox="1"/>
          <p:nvPr/>
        </p:nvSpPr>
        <p:spPr>
          <a:xfrm>
            <a:off x="6309360" y="44256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خدمات</a:t>
            </a:r>
            <a:endParaRPr lang="en-US" sz="750" dirty="0"/>
          </a:p>
        </p:txBody>
      </p:sp>
      <p:pic>
        <p:nvPicPr>
          <p:cNvPr id="49" name="Image 1" descr="/home/user/echora_t01/presentations/src/img/ph_02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4709160"/>
            <a:ext cx="1828800" cy="1042416"/>
          </a:xfrm>
          <a:prstGeom prst="rect">
            <a:avLst/>
          </a:prstGeom>
        </p:spPr>
      </p:pic>
      <p:sp>
        <p:nvSpPr>
          <p:cNvPr id="50" name="Text 46"/>
          <p:cNvSpPr txBox="1"/>
          <p:nvPr/>
        </p:nvSpPr>
        <p:spPr>
          <a:xfrm>
            <a:off x="7680960" y="4754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آتریوم + نورگیر بیضی (ص. 21)</a:t>
            </a:r>
            <a:endParaRPr lang="en-US" sz="700" dirty="0"/>
          </a:p>
        </p:txBody>
      </p:sp>
      <p:sp>
        <p:nvSpPr>
          <p:cNvPr id="51" name="Shape 47"/>
          <p:cNvSpPr/>
          <p:nvPr/>
        </p:nvSpPr>
        <p:spPr>
          <a:xfrm>
            <a:off x="8732520" y="1234440"/>
            <a:ext cx="799186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2" name="Text 48"/>
          <p:cNvSpPr txBox="1"/>
          <p:nvPr/>
        </p:nvSpPr>
        <p:spPr>
          <a:xfrm>
            <a:off x="8732520" y="1248156"/>
            <a:ext cx="7991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تأییدشده</a:t>
            </a:r>
            <a:endParaRPr lang="en-US" sz="650" dirty="0"/>
          </a:p>
        </p:txBody>
      </p:sp>
      <p:sp>
        <p:nvSpPr>
          <p:cNvPr id="53" name="Text 49"/>
          <p:cNvSpPr txBox="1"/>
          <p:nvPr/>
        </p:nvSpPr>
        <p:spPr>
          <a:xfrm>
            <a:off x="8732520" y="14813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(4) مرکز–شمال را گرفته؛ کلاس‌ها + حیاط در غرب؛ چندمنظوره، سمینار و دفاتر در نمای جنوبی؛ رختکن + سرویس بین سالن و دفاتر؛ پله‌ی مجسمه‌وار + آسانسور هسته‌ی جنوب‌غربی را می‌سازند.</a:t>
            </a:r>
            <a:endParaRPr lang="en-US" sz="800" dirty="0"/>
          </a:p>
        </p:txBody>
      </p:sp>
      <p:sp>
        <p:nvSpPr>
          <p:cNvPr id="54" name="Shape 50"/>
          <p:cNvSpPr/>
          <p:nvPr/>
        </p:nvSpPr>
        <p:spPr>
          <a:xfrm>
            <a:off x="8732520" y="2551176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5" name="Text 51"/>
          <p:cNvSpPr txBox="1"/>
          <p:nvPr/>
        </p:nvSpPr>
        <p:spPr>
          <a:xfrm>
            <a:off x="8732520" y="2564892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تفسیر معمارانه</a:t>
            </a:r>
            <a:endParaRPr lang="en-US" sz="650" dirty="0"/>
          </a:p>
        </p:txBody>
      </p:sp>
      <p:sp>
        <p:nvSpPr>
          <p:cNvPr id="56" name="Text 52"/>
          <p:cNvSpPr txBox="1"/>
          <p:nvPr/>
        </p:nvSpPr>
        <p:spPr>
          <a:xfrm>
            <a:off x="8732520" y="2798064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= حجم سازمان‌دهنده؛ بقیه‌ی اتاق‌ها «لایه‌ی پیرامونی» در امتداد نما ← نور روز برای آموزش، نور سالن از سقف/پنجره‌های بالا.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رختکن‌ها (5) در سمت آتریوم سالن‌اند ← ورزشکاران بدون عبور از کلاس‌ها وارد سالن می‌شوند.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حلقه‌ی آتریوم = ستون فقرات عمومی: هسته، سالن چندمنظوره (رویدادها)، سمینارها و درهای سالن را به هم وصل می‌کند.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حیاط بال کلاس‌ها را می‌شکافد ← نور، هوا و مکثی آرام در فضای باز.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دفاتر در گوشه‌ی جنوب‌شرقی: کنترل‌شده، کنار پله‌ی بیرونی نه هسته‌ی عمومی.</a:t>
            </a:r>
            <a:endParaRPr lang="en-US" sz="800" dirty="0"/>
          </a:p>
        </p:txBody>
      </p:sp>
      <p:sp>
        <p:nvSpPr>
          <p:cNvPr id="57" name="Text 53"/>
          <p:cNvSpPr txBox="1"/>
          <p:nvPr/>
        </p:nvSpPr>
        <p:spPr>
          <a:xfrm>
            <a:off x="5806440" y="6035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نقشه‌ها: Scenic Architecture Office — پلان طبقه سوم (ص. 33). لایه‌ی تحلیلی از نگارنده.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نمونه‌ی ۰۱ — طبقه چهارم + بام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آتلیه‌های طبقه ۴ گرداگرد فضای تهی سالن؛ بام زمین دوم و روباز است</a:t>
            </a:r>
            <a:endParaRPr lang="en-US" sz="2200" dirty="0"/>
          </a:p>
        </p:txBody>
      </p:sp>
      <p:pic>
        <p:nvPicPr>
          <p:cNvPr id="4" name="Image 0" descr="/home/user/echora_t01/presentations/src/img/plan_4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196742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21231" y="2349094"/>
            <a:ext cx="1913839" cy="1451153"/>
          </a:xfrm>
          <a:prstGeom prst="rect">
            <a:avLst/>
          </a:prstGeom>
          <a:ln w="12700">
            <a:solidFill>
              <a:srgbClr val="5BAA6A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6" name="Shape 3"/>
          <p:cNvSpPr/>
          <p:nvPr/>
        </p:nvSpPr>
        <p:spPr>
          <a:xfrm>
            <a:off x="1516075" y="2033626"/>
            <a:ext cx="2018995" cy="302849"/>
          </a:xfrm>
          <a:prstGeom prst="rect">
            <a:avLst/>
          </a:prstGeom>
          <a:solidFill>
            <a:srgbClr val="8C8C8C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7" name="Shape 4"/>
          <p:cNvSpPr/>
          <p:nvPr/>
        </p:nvSpPr>
        <p:spPr>
          <a:xfrm>
            <a:off x="632765" y="2412187"/>
            <a:ext cx="567842" cy="483718"/>
          </a:xfrm>
          <a:prstGeom prst="rect">
            <a:avLst/>
          </a:prstGeom>
          <a:solidFill>
            <a:srgbClr val="6FA8DC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8" name="Shape 5"/>
          <p:cNvSpPr/>
          <p:nvPr/>
        </p:nvSpPr>
        <p:spPr>
          <a:xfrm>
            <a:off x="632765" y="3274466"/>
            <a:ext cx="567842" cy="525780"/>
          </a:xfrm>
          <a:prstGeom prst="rect">
            <a:avLst/>
          </a:prstGeom>
          <a:solidFill>
            <a:srgbClr val="6FA8DC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9" name="Shape 6"/>
          <p:cNvSpPr/>
          <p:nvPr/>
        </p:nvSpPr>
        <p:spPr>
          <a:xfrm>
            <a:off x="1347826" y="2349094"/>
            <a:ext cx="252374" cy="1409090"/>
          </a:xfrm>
          <a:prstGeom prst="rect">
            <a:avLst/>
          </a:prstGeom>
          <a:solidFill>
            <a:srgbClr val="9B7FBF">
              <a:alpha val="45000"/>
            </a:srgbClr>
          </a:solidFill>
          <a:ln/>
        </p:spPr>
        <p:txBody>
          <a:bodyPr/>
          <a:p>
            <a:pPr/>
          </a:p>
        </p:txBody>
      </p:sp>
      <p:sp>
        <p:nvSpPr>
          <p:cNvPr id="10" name="Shape 7"/>
          <p:cNvSpPr/>
          <p:nvPr/>
        </p:nvSpPr>
        <p:spPr>
          <a:xfrm>
            <a:off x="632765" y="4431182"/>
            <a:ext cx="2923337" cy="504749"/>
          </a:xfrm>
          <a:prstGeom prst="rect">
            <a:avLst/>
          </a:prstGeom>
          <a:solidFill>
            <a:srgbClr val="6FA8DC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11" name="Shape 8"/>
          <p:cNvSpPr/>
          <p:nvPr/>
        </p:nvSpPr>
        <p:spPr>
          <a:xfrm>
            <a:off x="2925166" y="3926434"/>
            <a:ext cx="609905" cy="294437"/>
          </a:xfrm>
          <a:prstGeom prst="rect">
            <a:avLst/>
          </a:prstGeom>
          <a:solidFill>
            <a:srgbClr val="8C8C8C">
              <a:alpha val="40000"/>
            </a:srgbClr>
          </a:solidFill>
          <a:ln/>
        </p:spPr>
        <p:txBody>
          <a:bodyPr/>
          <a:p>
            <a:pPr/>
          </a:p>
        </p:txBody>
      </p:sp>
      <p:sp>
        <p:nvSpPr>
          <p:cNvPr id="12" name="Shape 9"/>
          <p:cNvSpPr/>
          <p:nvPr/>
        </p:nvSpPr>
        <p:spPr>
          <a:xfrm>
            <a:off x="1305763" y="3800246"/>
            <a:ext cx="1598371" cy="630936"/>
          </a:xfrm>
          <a:prstGeom prst="rect">
            <a:avLst/>
          </a:prstGeom>
          <a:solidFill>
            <a:srgbClr val="F2B134">
              <a:alpha val="35000"/>
            </a:srgbClr>
          </a:solidFill>
          <a:ln/>
        </p:spPr>
        <p:txBody>
          <a:bodyPr/>
          <a:p>
            <a:pPr/>
          </a:p>
        </p:txBody>
      </p:sp>
      <p:sp>
        <p:nvSpPr>
          <p:cNvPr id="13" name="Shape 10"/>
          <p:cNvSpPr/>
          <p:nvPr/>
        </p:nvSpPr>
        <p:spPr>
          <a:xfrm>
            <a:off x="779983" y="3821278"/>
            <a:ext cx="525780" cy="609905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4" name="Shape 11"/>
          <p:cNvSpPr/>
          <p:nvPr/>
        </p:nvSpPr>
        <p:spPr>
          <a:xfrm>
            <a:off x="1032358" y="1928470"/>
            <a:ext cx="357530" cy="294437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5" name="Text 12"/>
          <p:cNvSpPr txBox="1"/>
          <p:nvPr/>
        </p:nvSpPr>
        <p:spPr>
          <a:xfrm>
            <a:off x="548640" y="5486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طبقه ۴ — آتلیه‌ها: هنرهای تجسمی، فناوری اطلاعات، رباتیک، ساخت، چوب، گلخانه، مد، عکاسی، تاریکخانه، چاپ سه‌بعدی، ضبط صدا؛ خط‌چین = فضای تهی سالن</a:t>
            </a:r>
            <a:endParaRPr lang="en-US" sz="750" dirty="0"/>
          </a:p>
        </p:txBody>
      </p:sp>
      <p:pic>
        <p:nvPicPr>
          <p:cNvPr id="16" name="Image 1" descr="/home/user/echora_t01/presentations/src/img/plan_roo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234440"/>
            <a:ext cx="3196742" cy="42062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021885" y="2307031"/>
            <a:ext cx="1724558" cy="1535278"/>
          </a:xfrm>
          <a:prstGeom prst="rect">
            <a:avLst/>
          </a:prstGeom>
          <a:solidFill>
            <a:srgbClr val="5BAA6A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18" name="Shape 14"/>
          <p:cNvSpPr/>
          <p:nvPr/>
        </p:nvSpPr>
        <p:spPr>
          <a:xfrm>
            <a:off x="4622292" y="2328062"/>
            <a:ext cx="315468" cy="1514246"/>
          </a:xfrm>
          <a:prstGeom prst="rect">
            <a:avLst/>
          </a:prstGeom>
          <a:solidFill>
            <a:srgbClr val="8C8C8C">
              <a:alpha val="55000"/>
            </a:srgbClr>
          </a:solidFill>
          <a:ln/>
        </p:spPr>
        <p:txBody>
          <a:bodyPr/>
          <a:p>
            <a:pPr/>
          </a:p>
        </p:txBody>
      </p:sp>
      <p:sp>
        <p:nvSpPr>
          <p:cNvPr id="19" name="Shape 15"/>
          <p:cNvSpPr/>
          <p:nvPr/>
        </p:nvSpPr>
        <p:spPr>
          <a:xfrm>
            <a:off x="3970325" y="3863340"/>
            <a:ext cx="2923337" cy="567842"/>
          </a:xfrm>
          <a:prstGeom prst="rect">
            <a:avLst/>
          </a:prstGeom>
          <a:solidFill>
            <a:srgbClr val="5BAA6A">
              <a:alpha val="25000"/>
            </a:srgbClr>
          </a:solidFill>
          <a:ln/>
        </p:spPr>
        <p:txBody>
          <a:bodyPr/>
          <a:p>
            <a:pPr/>
          </a:p>
        </p:txBody>
      </p:sp>
      <p:sp>
        <p:nvSpPr>
          <p:cNvPr id="20" name="Shape 16"/>
          <p:cNvSpPr/>
          <p:nvPr/>
        </p:nvSpPr>
        <p:spPr>
          <a:xfrm>
            <a:off x="4916729" y="4010558"/>
            <a:ext cx="1030529" cy="336499"/>
          </a:xfrm>
          <a:prstGeom prst="rect">
            <a:avLst/>
          </a:prstGeom>
          <a:ln w="12700">
            <a:solidFill>
              <a:srgbClr val="F2B134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21" name="Text 17"/>
          <p:cNvSpPr txBox="1"/>
          <p:nvPr/>
        </p:nvSpPr>
        <p:spPr>
          <a:xfrm>
            <a:off x="3886200" y="5486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بام — 1 زمین بازی بام (زمین + سکوهای پله‌ای شمال و جنوب) · 2 فضای فعالیت · 3 سکوی تجهیزات خورشیدی · 4 میزهای نورگیر</a:t>
            </a:r>
            <a:endParaRPr lang="en-US" sz="750" dirty="0"/>
          </a:p>
        </p:txBody>
      </p:sp>
      <p:pic>
        <p:nvPicPr>
          <p:cNvPr id="22" name="Image 2" descr="/home/user/echora_t01/presentations/src/img/ph_00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234440"/>
            <a:ext cx="2103120" cy="1408176"/>
          </a:xfrm>
          <a:prstGeom prst="rect">
            <a:avLst/>
          </a:prstGeom>
        </p:spPr>
      </p:pic>
      <p:pic>
        <p:nvPicPr>
          <p:cNvPr id="23" name="Image 3" descr="/home/user/echora_t01/presentations/src/img/ph_016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1234440"/>
            <a:ext cx="2103120" cy="140817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52360" y="2697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زمین بام بالای نمای آتلیه (ص. 3) · آتلیه‌ی چوب با سقف شیبدار (ص. 16)</a:t>
            </a:r>
            <a:endParaRPr lang="en-US" sz="700" dirty="0"/>
          </a:p>
        </p:txBody>
      </p:sp>
      <p:sp>
        <p:nvSpPr>
          <p:cNvPr id="25" name="Shape 19"/>
          <p:cNvSpPr/>
          <p:nvPr/>
        </p:nvSpPr>
        <p:spPr>
          <a:xfrm>
            <a:off x="7452360" y="3063240"/>
            <a:ext cx="799186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6" name="Text 20"/>
          <p:cNvSpPr txBox="1"/>
          <p:nvPr/>
        </p:nvSpPr>
        <p:spPr>
          <a:xfrm>
            <a:off x="7452360" y="3076956"/>
            <a:ext cx="7991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تأییدشده</a:t>
            </a:r>
            <a:endParaRPr lang="en-US" sz="650" dirty="0"/>
          </a:p>
        </p:txBody>
      </p:sp>
      <p:sp>
        <p:nvSpPr>
          <p:cNvPr id="27" name="Text 21"/>
          <p:cNvSpPr txBox="1"/>
          <p:nvPr/>
        </p:nvSpPr>
        <p:spPr>
          <a:xfrm>
            <a:off x="7452360" y="331012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آتلیه‌های طبقه ۴ در امتداد نماهای غربی و جنوبی؛ دفاتر/تاریکخانه/آتلیه‌ی عکاسی کنار دیوار غربی سالن. بام: زمین کامل با سکوهای پله‌ای در هر دو ضلع طولی، سکوی تأسیسات خورشیدی و «میزهای نورگیر» بالای آتریوم.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7452360" y="4069080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9" name="Text 23"/>
          <p:cNvSpPr txBox="1"/>
          <p:nvPr/>
        </p:nvSpPr>
        <p:spPr>
          <a:xfrm>
            <a:off x="7452360" y="4082796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تفسیر معمارانه</a:t>
            </a:r>
            <a:endParaRPr lang="en-US" sz="650" dirty="0"/>
          </a:p>
        </p:txBody>
      </p:sp>
      <p:sp>
        <p:nvSpPr>
          <p:cNvPr id="30" name="Text 24"/>
          <p:cNvSpPr txBox="1"/>
          <p:nvPr/>
        </p:nvSpPr>
        <p:spPr>
          <a:xfrm>
            <a:off x="7452360" y="4315968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آتلیه‌های ساخت که صدا/آلودگی را تحمل می‌کنند در یک طبقه، بالای کلاس‌های آرام‌تر.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زمین بام سطح اشغال سالن را تکرار می‌کند ← سازه‌ی دهانه‌بلند دو بار بازی را حمل می‌کند.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سکوهای پله‌ای بام را آرنای کوچک باز می‌کنند؛ میزهای نورگیر = نورگیرهایی که مبلمان هم هستند.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تأسیسات (خورشیدی) در نواری کنار زمین، دور از لبه‌ی بازی.</a:t>
            </a:r>
            <a:endParaRPr lang="en-US" sz="800" dirty="0"/>
          </a:p>
        </p:txBody>
      </p:sp>
      <p:sp>
        <p:nvSpPr>
          <p:cNvPr id="31" name="Text 25"/>
          <p:cNvSpPr txBox="1"/>
          <p:nvPr/>
        </p:nvSpPr>
        <p:spPr>
          <a:xfrm>
            <a:off x="7452360" y="5989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نقشه‌ها: Scenic Architecture Office — پلان طبقه چهارم (ص. 41) و بام (ص. 37)؛ عکس‌ها: مجموعه‌ی بارگذاری‌شده (ص. 1–32)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نمونه‌ی ۰۱ — پهنه‌بندی عملکردی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پهنه‌بندی عمودی است: ورزش خیس پایین، ورزش خشک بالا، آموزش پیرامون، خدمات زیر</a:t>
            </a:r>
            <a:endParaRPr lang="en-US" sz="2200" dirty="0"/>
          </a:p>
        </p:txBody>
      </p:sp>
      <p:pic>
        <p:nvPicPr>
          <p:cNvPr id="4" name="Image 0" descr="/home/user/echora_t01/presentations/src/img/axo_pro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434840" cy="4864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08076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اکسونومتریک برنامه — ترسیم و رنگ‌های معماران (ص. 38)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6080760" y="1325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44" b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عمومی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1325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44" b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نیمه‌عمومی / آموزشی</a:t>
            </a:r>
            <a:endParaRPr lang="en-US" sz="7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1325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44" b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کنترل‌شده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9646920" y="1325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44" b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ورزشی</a:t>
            </a:r>
            <a:endParaRPr lang="en-US" sz="700" dirty="0"/>
          </a:p>
        </p:txBody>
      </p:sp>
      <p:sp>
        <p:nvSpPr>
          <p:cNvPr id="10" name="Text 7"/>
          <p:cNvSpPr txBox="1"/>
          <p:nvPr/>
        </p:nvSpPr>
        <p:spPr>
          <a:xfrm>
            <a:off x="10835640" y="1325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44" b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خدمات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92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بام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80760" y="1645920"/>
            <a:ext cx="1143000" cy="5943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p>
            <a:pPr/>
          </a:p>
        </p:txBody>
      </p:sp>
      <p:sp>
        <p:nvSpPr>
          <p:cNvPr id="13" name="Shape 10"/>
          <p:cNvSpPr/>
          <p:nvPr/>
        </p:nvSpPr>
        <p:spPr>
          <a:xfrm>
            <a:off x="7269480" y="1645920"/>
            <a:ext cx="1143000" cy="5943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p>
            <a:pPr/>
          </a:p>
        </p:txBody>
      </p:sp>
      <p:sp>
        <p:nvSpPr>
          <p:cNvPr id="14" name="Shape 11"/>
          <p:cNvSpPr/>
          <p:nvPr/>
        </p:nvSpPr>
        <p:spPr>
          <a:xfrm>
            <a:off x="8458200" y="1645920"/>
            <a:ext cx="1143000" cy="5943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p>
            <a:pPr/>
          </a:p>
        </p:txBody>
      </p:sp>
      <p:sp>
        <p:nvSpPr>
          <p:cNvPr id="15" name="Shape 12"/>
          <p:cNvSpPr/>
          <p:nvPr/>
        </p:nvSpPr>
        <p:spPr>
          <a:xfrm>
            <a:off x="9646920" y="1645920"/>
            <a:ext cx="1143000" cy="594360"/>
          </a:xfrm>
          <a:prstGeom prst="rect">
            <a:avLst/>
          </a:prstGeom>
          <a:solidFill>
            <a:srgbClr val="5BAA6A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6" name="Text 13"/>
          <p:cNvSpPr txBox="1"/>
          <p:nvPr/>
        </p:nvSpPr>
        <p:spPr>
          <a:xfrm>
            <a:off x="9646920" y="164592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زمین بام + سکوها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10835640" y="1645920"/>
            <a:ext cx="1143000" cy="594360"/>
          </a:xfrm>
          <a:prstGeom prst="rect">
            <a:avLst/>
          </a:prstGeom>
          <a:solidFill>
            <a:srgbClr val="8C8C8C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8" name="Text 15"/>
          <p:cNvSpPr txBox="1"/>
          <p:nvPr/>
        </p:nvSpPr>
        <p:spPr>
          <a:xfrm>
            <a:off x="10835640" y="164592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سکوی خورشیدی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5394960" y="2487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92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طبقه ۴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080760" y="2304288"/>
            <a:ext cx="1143000" cy="594360"/>
          </a:xfrm>
          <a:prstGeom prst="rect">
            <a:avLst/>
          </a:prstGeom>
          <a:solidFill>
            <a:srgbClr val="F2B134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1" name="Text 18"/>
          <p:cNvSpPr txBox="1"/>
          <p:nvPr/>
        </p:nvSpPr>
        <p:spPr>
          <a:xfrm>
            <a:off x="6080760" y="230428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آتریوم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69480" y="2304288"/>
            <a:ext cx="1143000" cy="594360"/>
          </a:xfrm>
          <a:prstGeom prst="rect">
            <a:avLst/>
          </a:prstGeom>
          <a:solidFill>
            <a:srgbClr val="6FA8DC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3" name="Text 20"/>
          <p:cNvSpPr txBox="1"/>
          <p:nvPr/>
        </p:nvSpPr>
        <p:spPr>
          <a:xfrm>
            <a:off x="7269480" y="230428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آتلیه، فناوری، هنر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8458200" y="2304288"/>
            <a:ext cx="1143000" cy="594360"/>
          </a:xfrm>
          <a:prstGeom prst="rect">
            <a:avLst/>
          </a:prstGeom>
          <a:solidFill>
            <a:srgbClr val="9B7FBF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5" name="Text 22"/>
          <p:cNvSpPr txBox="1"/>
          <p:nvPr/>
        </p:nvSpPr>
        <p:spPr>
          <a:xfrm>
            <a:off x="8458200" y="230428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دفاتر، تاریکخانه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9646920" y="2304288"/>
            <a:ext cx="1143000" cy="594360"/>
          </a:xfrm>
          <a:prstGeom prst="rect">
            <a:avLst/>
          </a:prstGeom>
          <a:solidFill>
            <a:srgbClr val="5BAA6A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7" name="Text 24"/>
          <p:cNvSpPr txBox="1"/>
          <p:nvPr/>
        </p:nvSpPr>
        <p:spPr>
          <a:xfrm>
            <a:off x="9646920" y="230428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(فضای تهی سالن)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10835640" y="2304288"/>
            <a:ext cx="1143000" cy="594360"/>
          </a:xfrm>
          <a:prstGeom prst="rect">
            <a:avLst/>
          </a:prstGeom>
          <a:solidFill>
            <a:srgbClr val="8C8C8C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9" name="Text 26"/>
          <p:cNvSpPr txBox="1"/>
          <p:nvPr/>
        </p:nvSpPr>
        <p:spPr>
          <a:xfrm>
            <a:off x="10835640" y="230428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تأسیسات، سرویس</a:t>
            </a:r>
            <a:endParaRPr lang="en-US" sz="750" dirty="0"/>
          </a:p>
        </p:txBody>
      </p:sp>
      <p:sp>
        <p:nvSpPr>
          <p:cNvPr id="30" name="Text 27"/>
          <p:cNvSpPr txBox="1"/>
          <p:nvPr/>
        </p:nvSpPr>
        <p:spPr>
          <a:xfrm>
            <a:off x="5394960" y="3145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92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طبقه ۳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080760" y="2962656"/>
            <a:ext cx="1143000" cy="594360"/>
          </a:xfrm>
          <a:prstGeom prst="rect">
            <a:avLst/>
          </a:prstGeom>
          <a:solidFill>
            <a:srgbClr val="F2B134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2" name="Text 29"/>
          <p:cNvSpPr txBox="1"/>
          <p:nvPr/>
        </p:nvSpPr>
        <p:spPr>
          <a:xfrm>
            <a:off x="6080760" y="2962656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آتریوم، چندمنظوره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7269480" y="2962656"/>
            <a:ext cx="1143000" cy="594360"/>
          </a:xfrm>
          <a:prstGeom prst="rect">
            <a:avLst/>
          </a:prstGeom>
          <a:solidFill>
            <a:srgbClr val="6FA8DC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4" name="Text 31"/>
          <p:cNvSpPr txBox="1"/>
          <p:nvPr/>
        </p:nvSpPr>
        <p:spPr>
          <a:xfrm>
            <a:off x="7269480" y="2962656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کلاس‌ها، سمینار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8458200" y="2962656"/>
            <a:ext cx="1143000" cy="594360"/>
          </a:xfrm>
          <a:prstGeom prst="rect">
            <a:avLst/>
          </a:prstGeom>
          <a:solidFill>
            <a:srgbClr val="9B7FBF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6" name="Text 33"/>
          <p:cNvSpPr txBox="1"/>
          <p:nvPr/>
        </p:nvSpPr>
        <p:spPr>
          <a:xfrm>
            <a:off x="8458200" y="2962656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دفاتر، رختکن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9646920" y="2962656"/>
            <a:ext cx="1143000" cy="594360"/>
          </a:xfrm>
          <a:prstGeom prst="rect">
            <a:avLst/>
          </a:prstGeom>
          <a:solidFill>
            <a:srgbClr val="5BAA6A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8" name="Text 35"/>
          <p:cNvSpPr txBox="1"/>
          <p:nvPr/>
        </p:nvSpPr>
        <p:spPr>
          <a:xfrm>
            <a:off x="9646920" y="2962656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ورزشی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10835640" y="2962656"/>
            <a:ext cx="1143000" cy="594360"/>
          </a:xfrm>
          <a:prstGeom prst="rect">
            <a:avLst/>
          </a:prstGeom>
          <a:solidFill>
            <a:srgbClr val="8C8C8C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0" name="Text 37"/>
          <p:cNvSpPr txBox="1"/>
          <p:nvPr/>
        </p:nvSpPr>
        <p:spPr>
          <a:xfrm>
            <a:off x="10835640" y="2962656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انبار، سرویس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5394960" y="3803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92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طبقه ۲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080760" y="3621024"/>
            <a:ext cx="1143000" cy="594360"/>
          </a:xfrm>
          <a:prstGeom prst="rect">
            <a:avLst/>
          </a:prstGeom>
          <a:solidFill>
            <a:srgbClr val="F2B134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3" name="Text 40"/>
          <p:cNvSpPr txBox="1"/>
          <p:nvPr/>
        </p:nvSpPr>
        <p:spPr>
          <a:xfrm>
            <a:off x="6080760" y="3621024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نیم‌طبقه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7269480" y="3621024"/>
            <a:ext cx="1143000" cy="5943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p>
            <a:pPr/>
          </a:p>
        </p:txBody>
      </p:sp>
      <p:sp>
        <p:nvSpPr>
          <p:cNvPr id="45" name="Shape 42"/>
          <p:cNvSpPr/>
          <p:nvPr/>
        </p:nvSpPr>
        <p:spPr>
          <a:xfrm>
            <a:off x="8458200" y="3621024"/>
            <a:ext cx="1143000" cy="5943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p>
            <a:pPr/>
          </a:p>
        </p:txBody>
      </p:sp>
      <p:sp>
        <p:nvSpPr>
          <p:cNvPr id="46" name="Shape 43"/>
          <p:cNvSpPr/>
          <p:nvPr/>
        </p:nvSpPr>
        <p:spPr>
          <a:xfrm>
            <a:off x="9646920" y="3621024"/>
            <a:ext cx="1143000" cy="594360"/>
          </a:xfrm>
          <a:prstGeom prst="rect">
            <a:avLst/>
          </a:prstGeom>
          <a:solidFill>
            <a:srgbClr val="5BAA6A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7" name="Text 44"/>
          <p:cNvSpPr txBox="1"/>
          <p:nvPr/>
        </p:nvSpPr>
        <p:spPr>
          <a:xfrm>
            <a:off x="9646920" y="3621024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تنیس روی میز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10835640" y="3621024"/>
            <a:ext cx="1143000" cy="594360"/>
          </a:xfrm>
          <a:prstGeom prst="rect">
            <a:avLst/>
          </a:prstGeom>
          <a:solidFill>
            <a:srgbClr val="8C8C8C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9" name="Text 46"/>
          <p:cNvSpPr txBox="1"/>
          <p:nvPr/>
        </p:nvSpPr>
        <p:spPr>
          <a:xfrm>
            <a:off x="10835640" y="3621024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تأسیسات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5394960" y="44622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92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همکف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080760" y="4279392"/>
            <a:ext cx="1143000" cy="594360"/>
          </a:xfrm>
          <a:prstGeom prst="rect">
            <a:avLst/>
          </a:prstGeom>
          <a:solidFill>
            <a:srgbClr val="F2B134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2" name="Text 49"/>
          <p:cNvSpPr txBox="1"/>
          <p:nvPr/>
        </p:nvSpPr>
        <p:spPr>
          <a:xfrm>
            <a:off x="6080760" y="427939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لابی اجتماعات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7269480" y="4279392"/>
            <a:ext cx="1143000" cy="594360"/>
          </a:xfrm>
          <a:prstGeom prst="rect">
            <a:avLst/>
          </a:prstGeom>
          <a:solidFill>
            <a:srgbClr val="6FA8DC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4" name="Text 51"/>
          <p:cNvSpPr txBox="1"/>
          <p:nvPr/>
        </p:nvSpPr>
        <p:spPr>
          <a:xfrm>
            <a:off x="7269480" y="427939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پیش‌ورودی استخر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8458200" y="4279392"/>
            <a:ext cx="1143000" cy="594360"/>
          </a:xfrm>
          <a:prstGeom prst="rect">
            <a:avLst/>
          </a:prstGeom>
          <a:solidFill>
            <a:srgbClr val="9B7FBF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6" name="Text 53"/>
          <p:cNvSpPr txBox="1"/>
          <p:nvPr/>
        </p:nvSpPr>
        <p:spPr>
          <a:xfrm>
            <a:off x="8458200" y="427939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درمانگاه، کارکنان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9646920" y="4279392"/>
            <a:ext cx="1143000" cy="594360"/>
          </a:xfrm>
          <a:prstGeom prst="rect">
            <a:avLst/>
          </a:prstGeom>
          <a:solidFill>
            <a:srgbClr val="5BAA6A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8" name="Text 55"/>
          <p:cNvSpPr txBox="1"/>
          <p:nvPr/>
        </p:nvSpPr>
        <p:spPr>
          <a:xfrm>
            <a:off x="9646920" y="427939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استخر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10835640" y="4279392"/>
            <a:ext cx="1143000" cy="594360"/>
          </a:xfrm>
          <a:prstGeom prst="rect">
            <a:avLst/>
          </a:prstGeom>
          <a:solidFill>
            <a:srgbClr val="8C8C8C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0" name="Text 57"/>
          <p:cNvSpPr txBox="1"/>
          <p:nvPr/>
        </p:nvSpPr>
        <p:spPr>
          <a:xfrm>
            <a:off x="10835640" y="427939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انبار، برق</a:t>
            </a:r>
            <a:endParaRPr lang="en-US" sz="750" dirty="0"/>
          </a:p>
        </p:txBody>
      </p:sp>
      <p:sp>
        <p:nvSpPr>
          <p:cNvPr id="61" name="Text 58"/>
          <p:cNvSpPr txBox="1"/>
          <p:nvPr/>
        </p:nvSpPr>
        <p:spPr>
          <a:xfrm>
            <a:off x="5394960" y="5120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92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زیرزمین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6080760" y="4937760"/>
            <a:ext cx="1143000" cy="5943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p>
            <a:pPr/>
          </a:p>
        </p:txBody>
      </p:sp>
      <p:sp>
        <p:nvSpPr>
          <p:cNvPr id="63" name="Shape 60"/>
          <p:cNvSpPr/>
          <p:nvPr/>
        </p:nvSpPr>
        <p:spPr>
          <a:xfrm>
            <a:off x="7269480" y="4937760"/>
            <a:ext cx="1143000" cy="5943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p>
            <a:pPr/>
          </a:p>
        </p:txBody>
      </p:sp>
      <p:sp>
        <p:nvSpPr>
          <p:cNvPr id="64" name="Shape 61"/>
          <p:cNvSpPr/>
          <p:nvPr/>
        </p:nvSpPr>
        <p:spPr>
          <a:xfrm>
            <a:off x="8458200" y="4937760"/>
            <a:ext cx="1143000" cy="5943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p>
            <a:pPr/>
          </a:p>
        </p:txBody>
      </p:sp>
      <p:sp>
        <p:nvSpPr>
          <p:cNvPr id="65" name="Shape 62"/>
          <p:cNvSpPr/>
          <p:nvPr/>
        </p:nvSpPr>
        <p:spPr>
          <a:xfrm>
            <a:off x="9646920" y="4937760"/>
            <a:ext cx="1143000" cy="5943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p>
            <a:pPr/>
          </a:p>
        </p:txBody>
      </p:sp>
      <p:sp>
        <p:nvSpPr>
          <p:cNvPr id="66" name="Shape 63"/>
          <p:cNvSpPr/>
          <p:nvPr/>
        </p:nvSpPr>
        <p:spPr>
          <a:xfrm>
            <a:off x="10835640" y="4937760"/>
            <a:ext cx="1143000" cy="594360"/>
          </a:xfrm>
          <a:prstGeom prst="rect">
            <a:avLst/>
          </a:prstGeom>
          <a:solidFill>
            <a:srgbClr val="8C8C8C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7" name="Text 64"/>
          <p:cNvSpPr txBox="1"/>
          <p:nvPr/>
        </p:nvSpPr>
        <p:spPr>
          <a:xfrm>
            <a:off x="10835640" y="49377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تأسیسات زیر استخر</a:t>
            </a:r>
            <a:endParaRPr lang="en-US" sz="750" dirty="0"/>
          </a:p>
        </p:txBody>
      </p:sp>
      <p:sp>
        <p:nvSpPr>
          <p:cNvPr id="68" name="Shape 65"/>
          <p:cNvSpPr/>
          <p:nvPr/>
        </p:nvSpPr>
        <p:spPr>
          <a:xfrm>
            <a:off x="5394960" y="5623560"/>
            <a:ext cx="3723437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9" name="Text 66"/>
          <p:cNvSpPr txBox="1"/>
          <p:nvPr/>
        </p:nvSpPr>
        <p:spPr>
          <a:xfrm>
            <a:off x="5394960" y="5637276"/>
            <a:ext cx="37234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اتاق‌ها تأییدشده · تخصیص پهنه = تفسیر</a:t>
            </a:r>
            <a:endParaRPr lang="en-US" sz="650" dirty="0"/>
          </a:p>
        </p:txBody>
      </p:sp>
      <p:sp>
        <p:nvSpPr>
          <p:cNvPr id="70" name="Text 67"/>
          <p:cNvSpPr txBox="1"/>
          <p:nvPr/>
        </p:nvSpPr>
        <p:spPr>
          <a:xfrm>
            <a:off x="5394960" y="5897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نقشه‌ها: Scenic Architecture Office — همه‌ی پلان‌ها + اکسونومتریک برنامه (ص. 38).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نمونه‌ی ۰۱ — روابط فضایی / هم‌جواری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دو قلب — لابی (همکف) و آتریوم (طبقه ۳) — متصل با یک هسته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011680" cy="411480"/>
          </a:xfrm>
          <a:prstGeom prst="rect">
            <a:avLst/>
          </a:prstGeom>
          <a:solidFill>
            <a:srgbClr val="F2B134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چمن پردیس / ورودی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011680" cy="411480"/>
          </a:xfrm>
          <a:prstGeom prst="rect">
            <a:avLst/>
          </a:prstGeom>
          <a:solidFill>
            <a:srgbClr val="F2B134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لابی اجتماعات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463040" cy="411480"/>
          </a:xfrm>
          <a:prstGeom prst="rect">
            <a:avLst/>
          </a:prstGeom>
          <a:solidFill>
            <a:srgbClr val="5BAA6A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" name="Text 7"/>
          <p:cNvSpPr txBox="1"/>
          <p:nvPr/>
        </p:nvSpPr>
        <p:spPr>
          <a:xfrm>
            <a:off x="54864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زمین + پیست</a:t>
            </a:r>
            <a:endParaRPr lang="en-US" sz="800" dirty="0"/>
          </a:p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(زیر ساختمان)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017520" y="2286000"/>
            <a:ext cx="1554480" cy="411480"/>
          </a:xfrm>
          <a:prstGeom prst="rect">
            <a:avLst/>
          </a:prstGeom>
          <a:solidFill>
            <a:srgbClr val="6FA8DC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" name="Text 9"/>
          <p:cNvSpPr txBox="1"/>
          <p:nvPr/>
        </p:nvSpPr>
        <p:spPr>
          <a:xfrm>
            <a:off x="3017520" y="2286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پیش‌ورودی استخر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37760" y="2286000"/>
            <a:ext cx="1554480" cy="411480"/>
          </a:xfrm>
          <a:prstGeom prst="rect">
            <a:avLst/>
          </a:prstGeom>
          <a:solidFill>
            <a:srgbClr val="9B7FBF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3" name="Text 11"/>
          <p:cNvSpPr txBox="1"/>
          <p:nvPr/>
        </p:nvSpPr>
        <p:spPr>
          <a:xfrm>
            <a:off x="4937760" y="2286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رختکن‌ها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0" y="2286000"/>
            <a:ext cx="1280160" cy="411480"/>
          </a:xfrm>
          <a:prstGeom prst="rect">
            <a:avLst/>
          </a:prstGeom>
          <a:solidFill>
            <a:srgbClr val="5BAA6A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5" name="Text 13"/>
          <p:cNvSpPr txBox="1"/>
          <p:nvPr/>
        </p:nvSpPr>
        <p:spPr>
          <a:xfrm>
            <a:off x="6858000" y="2286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استخر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58000" y="3200400"/>
            <a:ext cx="1280160" cy="411480"/>
          </a:xfrm>
          <a:prstGeom prst="rect">
            <a:avLst/>
          </a:prstGeom>
          <a:solidFill>
            <a:srgbClr val="8C8C8C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7" name="Text 15"/>
          <p:cNvSpPr txBox="1"/>
          <p:nvPr/>
        </p:nvSpPr>
        <p:spPr>
          <a:xfrm>
            <a:off x="6858000" y="3200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تأسیسات (زیرزمین)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017520" y="3200400"/>
            <a:ext cx="1554480" cy="411480"/>
          </a:xfrm>
          <a:prstGeom prst="rect">
            <a:avLst/>
          </a:prstGeom>
          <a:solidFill>
            <a:srgbClr val="F2B134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9" name="Text 17"/>
          <p:cNvSpPr txBox="1"/>
          <p:nvPr/>
        </p:nvSpPr>
        <p:spPr>
          <a:xfrm>
            <a:off x="3017520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نیم‌طبقه (طبقه ۲)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937760" y="3200400"/>
            <a:ext cx="1554480" cy="411480"/>
          </a:xfrm>
          <a:prstGeom prst="rect">
            <a:avLst/>
          </a:prstGeom>
          <a:solidFill>
            <a:srgbClr val="5BAA6A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1" name="Text 19"/>
          <p:cNvSpPr txBox="1"/>
          <p:nvPr/>
        </p:nvSpPr>
        <p:spPr>
          <a:xfrm>
            <a:off x="4937760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تنیس روی میز (طبقه ۲)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2011680" cy="411480"/>
          </a:xfrm>
          <a:prstGeom prst="rect">
            <a:avLst/>
          </a:prstGeom>
          <a:solidFill>
            <a:srgbClr val="FFFFFF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3" name="Text 21"/>
          <p:cNvSpPr txBox="1"/>
          <p:nvPr/>
        </p:nvSpPr>
        <p:spPr>
          <a:xfrm>
            <a:off x="548640" y="4206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هسته‌ی غربی: آسانسور + پله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17520" y="4206240"/>
            <a:ext cx="1554480" cy="411480"/>
          </a:xfrm>
          <a:prstGeom prst="rect">
            <a:avLst/>
          </a:prstGeom>
          <a:solidFill>
            <a:srgbClr val="F2B134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5" name="Text 23"/>
          <p:cNvSpPr txBox="1"/>
          <p:nvPr/>
        </p:nvSpPr>
        <p:spPr>
          <a:xfrm>
            <a:off x="301752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آتریوم (طبقه ۳–۴)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937760" y="5120640"/>
            <a:ext cx="1554480" cy="411480"/>
          </a:xfrm>
          <a:prstGeom prst="rect">
            <a:avLst/>
          </a:prstGeom>
          <a:solidFill>
            <a:srgbClr val="5BAA6A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7" name="Text 25"/>
          <p:cNvSpPr txBox="1"/>
          <p:nvPr/>
        </p:nvSpPr>
        <p:spPr>
          <a:xfrm>
            <a:off x="4937760" y="5120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ورزشی سرپوشیده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937760" y="4206240"/>
            <a:ext cx="1554480" cy="411480"/>
          </a:xfrm>
          <a:prstGeom prst="rect">
            <a:avLst/>
          </a:prstGeom>
          <a:solidFill>
            <a:srgbClr val="9B7FBF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9" name="Text 27"/>
          <p:cNvSpPr txBox="1"/>
          <p:nvPr/>
        </p:nvSpPr>
        <p:spPr>
          <a:xfrm>
            <a:off x="493776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رختکن (طبقه ۳)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017520" y="5120640"/>
            <a:ext cx="1554480" cy="411480"/>
          </a:xfrm>
          <a:prstGeom prst="rect">
            <a:avLst/>
          </a:prstGeom>
          <a:solidFill>
            <a:srgbClr val="6FA8DC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1" name="Text 29"/>
          <p:cNvSpPr txBox="1"/>
          <p:nvPr/>
        </p:nvSpPr>
        <p:spPr>
          <a:xfrm>
            <a:off x="3017520" y="5120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کلاس‌ها / آتلیه‌ها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5120640"/>
            <a:ext cx="2011680" cy="411480"/>
          </a:xfrm>
          <a:prstGeom prst="rect">
            <a:avLst/>
          </a:prstGeom>
          <a:solidFill>
            <a:srgbClr val="5BAA6A">
              <a:alpha val="2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3" name="Text 31"/>
          <p:cNvSpPr txBox="1"/>
          <p:nvPr/>
        </p:nvSpPr>
        <p:spPr>
          <a:xfrm>
            <a:off x="548640" y="5120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حیاط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58000" y="4206240"/>
            <a:ext cx="1280160" cy="411480"/>
          </a:xfrm>
          <a:prstGeom prst="rect">
            <a:avLst/>
          </a:prstGeom>
          <a:solidFill>
            <a:srgbClr val="F2B134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5" name="Text 33"/>
          <p:cNvSpPr txBox="1"/>
          <p:nvPr/>
        </p:nvSpPr>
        <p:spPr>
          <a:xfrm>
            <a:off x="6858000" y="4206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4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چندمنظوره / سمینار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858000" y="5120640"/>
            <a:ext cx="1280160" cy="411480"/>
          </a:xfrm>
          <a:prstGeom prst="rect">
            <a:avLst/>
          </a:prstGeom>
          <a:solidFill>
            <a:srgbClr val="9B7FBF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7" name="Text 35"/>
          <p:cNvSpPr txBox="1"/>
          <p:nvPr/>
        </p:nvSpPr>
        <p:spPr>
          <a:xfrm>
            <a:off x="6858000" y="5120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دفاتر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17520" y="5806440"/>
            <a:ext cx="1554480" cy="411480"/>
          </a:xfrm>
          <a:prstGeom prst="rect">
            <a:avLst/>
          </a:prstGeom>
          <a:solidFill>
            <a:srgbClr val="5BAA6A">
              <a:alpha val="4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9" name="Text 37"/>
          <p:cNvSpPr txBox="1"/>
          <p:nvPr/>
        </p:nvSpPr>
        <p:spPr>
          <a:xfrm>
            <a:off x="3017520" y="5806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زمین بام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554480" y="1783080"/>
            <a:ext cx="91" cy="50292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1" name="Shape 39"/>
          <p:cNvSpPr/>
          <p:nvPr/>
        </p:nvSpPr>
        <p:spPr>
          <a:xfrm>
            <a:off x="1280160" y="2697480"/>
            <a:ext cx="91" cy="50292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2" name="Shape 40"/>
          <p:cNvSpPr/>
          <p:nvPr/>
        </p:nvSpPr>
        <p:spPr>
          <a:xfrm>
            <a:off x="2560320" y="2487168"/>
            <a:ext cx="457200" cy="91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3" name="Shape 41"/>
          <p:cNvSpPr/>
          <p:nvPr/>
        </p:nvSpPr>
        <p:spPr>
          <a:xfrm>
            <a:off x="4572000" y="2487168"/>
            <a:ext cx="365760" cy="91"/>
          </a:xfrm>
          <a:prstGeom prst="line">
            <a:avLst/>
          </a:prstGeom>
          <a:noFill/>
          <a:ln w="285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4" name="Shape 42"/>
          <p:cNvSpPr/>
          <p:nvPr/>
        </p:nvSpPr>
        <p:spPr>
          <a:xfrm>
            <a:off x="6492240" y="2487168"/>
            <a:ext cx="365760" cy="91"/>
          </a:xfrm>
          <a:prstGeom prst="line">
            <a:avLst/>
          </a:prstGeom>
          <a:noFill/>
          <a:ln w="285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5" name="Shape 43"/>
          <p:cNvSpPr/>
          <p:nvPr/>
        </p:nvSpPr>
        <p:spPr>
          <a:xfrm>
            <a:off x="7498080" y="2697480"/>
            <a:ext cx="91" cy="502920"/>
          </a:xfrm>
          <a:prstGeom prst="line">
            <a:avLst/>
          </a:prstGeom>
          <a:noFill/>
          <a:ln w="12700">
            <a:solidFill>
              <a:srgbClr val="1A1A1A"/>
            </a:solidFill>
            <a:prstDash val="lgDashDot"/>
          </a:ln>
        </p:spPr>
        <p:txBody>
          <a:bodyPr/>
          <a:p>
            <a:pPr/>
          </a:p>
        </p:txBody>
      </p:sp>
      <p:sp>
        <p:nvSpPr>
          <p:cNvPr id="46" name="Shape 44"/>
          <p:cNvSpPr/>
          <p:nvPr/>
        </p:nvSpPr>
        <p:spPr>
          <a:xfrm>
            <a:off x="2560320" y="2606040"/>
            <a:ext cx="457200" cy="6858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7" name="Shape 45"/>
          <p:cNvSpPr/>
          <p:nvPr/>
        </p:nvSpPr>
        <p:spPr>
          <a:xfrm flipV="1">
            <a:off x="5715000" y="2606040"/>
            <a:ext cx="1143000" cy="594360"/>
          </a:xfrm>
          <a:prstGeom prst="line">
            <a:avLst/>
          </a:prstGeom>
          <a:noFill/>
          <a:ln w="12700">
            <a:solidFill>
              <a:srgbClr val="2F6FB5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48" name="Shape 46"/>
          <p:cNvSpPr/>
          <p:nvPr/>
        </p:nvSpPr>
        <p:spPr>
          <a:xfrm>
            <a:off x="2286000" y="2697480"/>
            <a:ext cx="91" cy="150876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9" name="Shape 47"/>
          <p:cNvSpPr/>
          <p:nvPr/>
        </p:nvSpPr>
        <p:spPr>
          <a:xfrm>
            <a:off x="2560320" y="4407408"/>
            <a:ext cx="457200" cy="91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0" name="Shape 48"/>
          <p:cNvSpPr/>
          <p:nvPr/>
        </p:nvSpPr>
        <p:spPr>
          <a:xfrm>
            <a:off x="4572000" y="4407408"/>
            <a:ext cx="365760" cy="91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1" name="Shape 49"/>
          <p:cNvSpPr/>
          <p:nvPr/>
        </p:nvSpPr>
        <p:spPr>
          <a:xfrm>
            <a:off x="5715000" y="4617720"/>
            <a:ext cx="91" cy="502920"/>
          </a:xfrm>
          <a:prstGeom prst="line">
            <a:avLst/>
          </a:prstGeom>
          <a:noFill/>
          <a:ln w="285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2" name="Shape 50"/>
          <p:cNvSpPr/>
          <p:nvPr/>
        </p:nvSpPr>
        <p:spPr>
          <a:xfrm flipV="1">
            <a:off x="3794760" y="4069080"/>
            <a:ext cx="91" cy="13716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3" name="Shape 51"/>
          <p:cNvSpPr/>
          <p:nvPr/>
        </p:nvSpPr>
        <p:spPr>
          <a:xfrm>
            <a:off x="3794760" y="4069080"/>
            <a:ext cx="3703320" cy="91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4" name="Shape 52"/>
          <p:cNvSpPr/>
          <p:nvPr/>
        </p:nvSpPr>
        <p:spPr>
          <a:xfrm>
            <a:off x="7498080" y="4069080"/>
            <a:ext cx="91" cy="13716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5" name="Shape 53"/>
          <p:cNvSpPr/>
          <p:nvPr/>
        </p:nvSpPr>
        <p:spPr>
          <a:xfrm>
            <a:off x="3794760" y="4617720"/>
            <a:ext cx="91" cy="50292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6" name="Shape 54"/>
          <p:cNvSpPr/>
          <p:nvPr/>
        </p:nvSpPr>
        <p:spPr>
          <a:xfrm>
            <a:off x="2560320" y="5321808"/>
            <a:ext cx="457200" cy="91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7" name="Shape 55"/>
          <p:cNvSpPr/>
          <p:nvPr/>
        </p:nvSpPr>
        <p:spPr>
          <a:xfrm>
            <a:off x="7498080" y="4617720"/>
            <a:ext cx="91" cy="50292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8" name="Shape 56"/>
          <p:cNvSpPr/>
          <p:nvPr/>
        </p:nvSpPr>
        <p:spPr>
          <a:xfrm>
            <a:off x="3794760" y="5532120"/>
            <a:ext cx="91" cy="274320"/>
          </a:xfrm>
          <a:prstGeom prst="line">
            <a:avLst/>
          </a:prstGeom>
          <a:noFill/>
          <a:ln w="12700">
            <a:solidFill>
              <a:srgbClr val="1A1A1A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59" name="Text 57"/>
          <p:cNvSpPr txBox="1"/>
          <p:nvPr/>
        </p:nvSpPr>
        <p:spPr>
          <a:xfrm>
            <a:off x="8595360" y="1371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انواع خط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595360" y="1719072"/>
            <a:ext cx="457200" cy="91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1" name="Text 59"/>
          <p:cNvSpPr txBox="1"/>
          <p:nvPr/>
        </p:nvSpPr>
        <p:spPr>
          <a:xfrm>
            <a:off x="9144000" y="16367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مستقیم / الزامی (تأییدشده در پلان)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595360" y="1993392"/>
            <a:ext cx="457200" cy="91"/>
          </a:xfrm>
          <a:prstGeom prst="line">
            <a:avLst/>
          </a:prstGeom>
          <a:noFill/>
          <a:ln w="285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3" name="Text 61"/>
          <p:cNvSpPr txBox="1"/>
          <p:nvPr/>
        </p:nvSpPr>
        <p:spPr>
          <a:xfrm>
            <a:off x="9144000" y="19110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توالی ورزشی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8595360" y="2267712"/>
            <a:ext cx="457200" cy="91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5" name="Text 63"/>
          <p:cNvSpPr txBox="1"/>
          <p:nvPr/>
        </p:nvSpPr>
        <p:spPr>
          <a:xfrm>
            <a:off x="9144000" y="21854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نزدیک / راهروی مشترک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595360" y="2542032"/>
            <a:ext cx="457200" cy="91"/>
          </a:xfrm>
          <a:prstGeom prst="line">
            <a:avLst/>
          </a:prstGeom>
          <a:noFill/>
          <a:ln w="12700">
            <a:solidFill>
              <a:srgbClr val="2F6FB5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67" name="Text 65"/>
          <p:cNvSpPr txBox="1"/>
          <p:nvPr/>
        </p:nvSpPr>
        <p:spPr>
          <a:xfrm>
            <a:off x="9144000" y="24597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ارتباط بصری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595360" y="2816352"/>
            <a:ext cx="457200" cy="91"/>
          </a:xfrm>
          <a:prstGeom prst="line">
            <a:avLst/>
          </a:prstGeom>
          <a:noFill/>
          <a:ln w="12700">
            <a:solidFill>
              <a:srgbClr val="1A1A1A"/>
            </a:solidFill>
            <a:prstDash val="lgDashDot"/>
          </a:ln>
        </p:spPr>
        <p:txBody>
          <a:bodyPr/>
          <a:p>
            <a:pPr/>
          </a:p>
        </p:txBody>
      </p:sp>
      <p:sp>
        <p:nvSpPr>
          <p:cNvPr id="69" name="Text 67"/>
          <p:cNvSpPr txBox="1"/>
          <p:nvPr/>
        </p:nvSpPr>
        <p:spPr>
          <a:xfrm>
            <a:off x="9144000" y="273405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خدمات (عمودی)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8595360" y="3200400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1" name="Text 69"/>
          <p:cNvSpPr txBox="1"/>
          <p:nvPr/>
        </p:nvSpPr>
        <p:spPr>
          <a:xfrm>
            <a:off x="8595360" y="3214116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تفسیر معمارانه</a:t>
            </a:r>
            <a:endParaRPr lang="en-US" sz="650" dirty="0"/>
          </a:p>
        </p:txBody>
      </p:sp>
      <p:sp>
        <p:nvSpPr>
          <p:cNvPr id="72" name="Text 70"/>
          <p:cNvSpPr txBox="1"/>
          <p:nvPr/>
        </p:nvSpPr>
        <p:spPr>
          <a:xfrm>
            <a:off x="8595360" y="3456432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استخر ⇄ رختکن ⇄ سرسرا: توالی خطی خیس در همکف (پلان).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⇄ رختکن (طبقه ۳): رختکن‌ها کنار درهای سالن به آتریوم باز می‌شوند.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لابی ⇄ زمین: لابی شیشه‌ای و پله‌ای به سمت پیست (مقطع ص. 34).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آتریوم ⇄ چندمنظوره / سمینار: اتاق‌های رویداد روی حلقه‌ی عمومی.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تأسیسات مستقیماً زیر استخر: هم‌جواری عمودی خدماتی.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تنیس روی میز ⇄ استخر: فقط دید (پنجره‌های موجی، عکس ص. 10).</a:t>
            </a:r>
            <a:endParaRPr lang="en-US" sz="800" dirty="0"/>
          </a:p>
        </p:txBody>
      </p:sp>
      <p:sp>
        <p:nvSpPr>
          <p:cNvPr id="73" name="Text 71"/>
          <p:cNvSpPr txBox="1"/>
          <p:nvPr/>
        </p:nvSpPr>
        <p:spPr>
          <a:xfrm>
            <a:off x="548640" y="62362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نقشه‌ها: Scenic Architecture Office (مجموعه‌ی بارگذاری‌شده، ص. 33–48) (پلان‌ها ص. 33–42، مقطع ص. 34)؛ عکس‌ها: مجموعه‌ی بارگذاری‌شده (ص. 1–32)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نمونه‌ی ۰۱ — گردش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یک هسته‌ی عمومی، یک پله‌ی پشتی، یک پله‌ی بیرونی — و پله‌هایی که نشیمن هم هستند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5760720"/>
            <a:ext cx="6583680" cy="91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" name="Text 3"/>
          <p:cNvSpPr txBox="1"/>
          <p:nvPr/>
        </p:nvSpPr>
        <p:spPr>
          <a:xfrm>
            <a:off x="411480" y="55595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زیرزمین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" y="5102352"/>
            <a:ext cx="6583680" cy="91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" name="Text 5"/>
          <p:cNvSpPr txBox="1"/>
          <p:nvPr/>
        </p:nvSpPr>
        <p:spPr>
          <a:xfrm>
            <a:off x="411480" y="49011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همکف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4443984"/>
            <a:ext cx="6583680" cy="91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" name="Text 7"/>
          <p:cNvSpPr txBox="1"/>
          <p:nvPr/>
        </p:nvSpPr>
        <p:spPr>
          <a:xfrm>
            <a:off x="411480" y="4242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طبقه ۲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3785616"/>
            <a:ext cx="6583680" cy="91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" name="Text 9"/>
          <p:cNvSpPr txBox="1"/>
          <p:nvPr/>
        </p:nvSpPr>
        <p:spPr>
          <a:xfrm>
            <a:off x="411480" y="35844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طبقه ۳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22960" y="3127248"/>
            <a:ext cx="6583680" cy="91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3" name="Text 11"/>
          <p:cNvSpPr txBox="1"/>
          <p:nvPr/>
        </p:nvSpPr>
        <p:spPr>
          <a:xfrm>
            <a:off x="411480" y="29260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طبقه ۴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22960" y="2468880"/>
            <a:ext cx="6583680" cy="91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5" name="Text 13"/>
          <p:cNvSpPr txBox="1"/>
          <p:nvPr/>
        </p:nvSpPr>
        <p:spPr>
          <a:xfrm>
            <a:off x="411480" y="22677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بام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 flipV="1">
            <a:off x="1280160" y="2468880"/>
            <a:ext cx="91" cy="2633472"/>
          </a:xfrm>
          <a:prstGeom prst="line">
            <a:avLst/>
          </a:prstGeom>
          <a:noFill/>
          <a:ln w="38100">
            <a:solidFill>
              <a:srgbClr val="2F6FB5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7" name="Text 15"/>
          <p:cNvSpPr txBox="1"/>
          <p:nvPr/>
        </p:nvSpPr>
        <p:spPr>
          <a:xfrm>
            <a:off x="731520" y="20848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44" b="1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هسته‌ی غربی</a:t>
            </a:r>
            <a:endParaRPr lang="en-US" sz="700" dirty="0"/>
          </a:p>
          <a:p>
            <a:pPr algn="ctr" indent="0" marL="0" rtl="1">
              <a:buNone/>
            </a:pPr>
            <a:r>
              <a:rPr lang="fa-IR" sz="644" b="1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آسانسور + پله‌ی مجسمه‌وار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 flipV="1">
            <a:off x="2743200" y="2468880"/>
            <a:ext cx="91" cy="3291840"/>
          </a:xfrm>
          <a:prstGeom prst="line">
            <a:avLst/>
          </a:prstGeom>
          <a:noFill/>
          <a:ln w="38100">
            <a:solidFill>
              <a:srgbClr val="1A1A1A"/>
            </a:solidFill>
            <a:prstDash val="lgDashDot"/>
          </a:ln>
        </p:spPr>
        <p:txBody>
          <a:bodyPr/>
          <a:p>
            <a:pPr/>
          </a:p>
        </p:txBody>
      </p:sp>
      <p:sp>
        <p:nvSpPr>
          <p:cNvPr id="19" name="Text 17"/>
          <p:cNvSpPr txBox="1"/>
          <p:nvPr/>
        </p:nvSpPr>
        <p:spPr>
          <a:xfrm>
            <a:off x="2194560" y="20848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4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پله‌ی شمالی</a:t>
            </a:r>
            <a:endParaRPr lang="en-US" sz="700" dirty="0"/>
          </a:p>
          <a:p>
            <a:pPr algn="ctr" indent="0" marL="0" rtl="1">
              <a:buNone/>
            </a:pPr>
            <a:r>
              <a:rPr lang="fa-IR" sz="64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(پشت صحنه)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 flipV="1">
            <a:off x="6309360" y="3785616"/>
            <a:ext cx="91" cy="1316736"/>
          </a:xfrm>
          <a:prstGeom prst="line">
            <a:avLst/>
          </a:prstGeom>
          <a:noFill/>
          <a:ln w="3810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1" name="Text 19"/>
          <p:cNvSpPr txBox="1"/>
          <p:nvPr/>
        </p:nvSpPr>
        <p:spPr>
          <a:xfrm>
            <a:off x="5760720" y="34015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4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پله‌ی بیرونی شرقی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 flipV="1">
            <a:off x="4023360" y="4443984"/>
            <a:ext cx="548640" cy="658368"/>
          </a:xfrm>
          <a:prstGeom prst="line">
            <a:avLst/>
          </a:prstGeom>
          <a:noFill/>
          <a:ln w="38100">
            <a:solidFill>
              <a:srgbClr val="2F6FB5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3" name="Text 21"/>
          <p:cNvSpPr txBox="1"/>
          <p:nvPr/>
        </p:nvSpPr>
        <p:spPr>
          <a:xfrm>
            <a:off x="3840480" y="48737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b="1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پله‌ی نشیمن لابی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280160" y="3739896"/>
            <a:ext cx="5029200" cy="91"/>
          </a:xfrm>
          <a:prstGeom prst="line">
            <a:avLst/>
          </a:prstGeom>
          <a:noFill/>
          <a:ln w="19050">
            <a:solidFill>
              <a:srgbClr val="2F6FB5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25" name="Text 23"/>
          <p:cNvSpPr txBox="1"/>
          <p:nvPr/>
        </p:nvSpPr>
        <p:spPr>
          <a:xfrm>
            <a:off x="3291840" y="35112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حلقه‌ی آتریوم طبقه ۳ (ستون فقرات عمومی)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280160" y="5056632"/>
            <a:ext cx="2743200" cy="91"/>
          </a:xfrm>
          <a:prstGeom prst="line">
            <a:avLst/>
          </a:prstGeom>
          <a:noFill/>
          <a:ln w="19050">
            <a:solidFill>
              <a:srgbClr val="2F6FB5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27" name="Text 25"/>
          <p:cNvSpPr txBox="1"/>
          <p:nvPr/>
        </p:nvSpPr>
        <p:spPr>
          <a:xfrm>
            <a:off x="1463040" y="4828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لابی همکف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978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i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دیاگرام شماتیک گردش عمودی بر اساس هسته‌های شناسایی‌شده در همه‌ی پلان‌ها (بدون مقیاس).</a:t>
            </a:r>
            <a:endParaRPr lang="en-US" sz="750" dirty="0"/>
          </a:p>
        </p:txBody>
      </p:sp>
      <p:pic>
        <p:nvPicPr>
          <p:cNvPr id="29" name="Image 0" descr="/home/user/echora_t01/presentations/src/img/ph_0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234440"/>
            <a:ext cx="1920240" cy="1280160"/>
          </a:xfrm>
          <a:prstGeom prst="rect">
            <a:avLst/>
          </a:prstGeom>
        </p:spPr>
      </p:pic>
      <p:pic>
        <p:nvPicPr>
          <p:cNvPr id="30" name="Image 1" descr="/home/user/echora_t01/presentations/src/img/ph_02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34440"/>
            <a:ext cx="1920240" cy="128016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7818120" y="25603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پله با پرده‌ی چوبی (ص. 23) · پاگرد پله‌ی آتریوم (ص. 20)</a:t>
            </a:r>
            <a:endParaRPr lang="en-US" sz="700" dirty="0"/>
          </a:p>
        </p:txBody>
      </p:sp>
      <p:sp>
        <p:nvSpPr>
          <p:cNvPr id="32" name="Shape 28"/>
          <p:cNvSpPr/>
          <p:nvPr/>
        </p:nvSpPr>
        <p:spPr>
          <a:xfrm>
            <a:off x="7818120" y="2834640"/>
            <a:ext cx="799186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3" name="Text 29"/>
          <p:cNvSpPr txBox="1"/>
          <p:nvPr/>
        </p:nvSpPr>
        <p:spPr>
          <a:xfrm>
            <a:off x="7818120" y="2848356"/>
            <a:ext cx="7991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تأییدشده</a:t>
            </a:r>
            <a:endParaRPr lang="en-US" sz="650" dirty="0"/>
          </a:p>
        </p:txBody>
      </p:sp>
      <p:sp>
        <p:nvSpPr>
          <p:cNvPr id="34" name="Text 30"/>
          <p:cNvSpPr txBox="1"/>
          <p:nvPr/>
        </p:nvSpPr>
        <p:spPr>
          <a:xfrm>
            <a:off x="7818120" y="308152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هسته‌ها در پلان‌ها: آسانسور + پله‌ی منحنی (جنوب‌غربی، همه‌ی ترازها همکف–۴)، پله‌ی شمالی (زیرزمین–بام)، پله‌ی مستقیم لابی←طبقه ۲، پله/پل بیرونی شرقی (طبقه ۲–۳).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7818120" y="3685032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6" name="Text 32"/>
          <p:cNvSpPr txBox="1"/>
          <p:nvPr/>
        </p:nvSpPr>
        <p:spPr>
          <a:xfrm>
            <a:off x="7818120" y="3698748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تفسیر معمارانه</a:t>
            </a:r>
            <a:endParaRPr lang="en-US" sz="650" dirty="0"/>
          </a:p>
        </p:txBody>
      </p:sp>
      <p:sp>
        <p:nvSpPr>
          <p:cNvPr id="37" name="Text 33"/>
          <p:cNvSpPr txBox="1"/>
          <p:nvPr/>
        </p:nvSpPr>
        <p:spPr>
          <a:xfrm>
            <a:off x="7818120" y="393192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دانشجویان / بازدیدکنندگان: لابی ← هسته‌ی غربی یا پله‌ی نشیمن ← حلقه‌ی آتریوم ← اتاق‌ها.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ورزشکاران: زمین/لابی ← رختکن ← استخر یا سالن بدون عبور از آتلیه‌ها.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کارکنان: دفاتر کنار پله‌ی بیرونی شرقی؛ پله‌ی شمالی به‌عنوان مسیر پشتی.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خدمات: پله‌ی شمالی + نوار تجهیزات، تأسیسات زیرزمین را به همه‌ی ترازها وصل می‌کنند.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جداسازی کاربران احتمالاً با برنامه‌ی زمانی است، نه مسیرهای کاملاً جدا — تأیید نشده.</a:t>
            </a:r>
            <a:endParaRPr lang="en-US" sz="800" dirty="0"/>
          </a:p>
        </p:txBody>
      </p:sp>
      <p:sp>
        <p:nvSpPr>
          <p:cNvPr id="38" name="Text 34"/>
          <p:cNvSpPr txBox="1"/>
          <p:nvPr/>
        </p:nvSpPr>
        <p:spPr>
          <a:xfrm>
            <a:off x="7818120" y="5989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نقشه‌ها: Scenic Architecture Office (مجموعه‌ی بارگذاری‌شده، ص. 33–48)؛ عکس‌ها: مجموعه‌ی بارگذاری‌شده (ص. 1–32)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نمونه‌ی ۰۱ — گرادیان عمومی ← خصوصی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کنترل با افزایش ارتفاع و فاصله از لابی بیشتر می‌شود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583680" cy="868680"/>
          </a:xfrm>
          <a:prstGeom prst="rect">
            <a:avLst/>
          </a:prstGeom>
          <a:solidFill>
            <a:srgbClr val="F2B134">
              <a:alpha val="65000"/>
            </a:srgbClr>
          </a:solidFill>
          <a:ln/>
        </p:spPr>
        <p:txBody>
          <a:bodyPr/>
          <a:p>
            <a:pPr/>
          </a:p>
        </p:txBody>
      </p:sp>
      <p:sp>
        <p:nvSpPr>
          <p:cNvPr id="5" name="Text 3"/>
          <p:cNvSpPr txBox="1"/>
          <p:nvPr/>
        </p:nvSpPr>
        <p:spPr>
          <a:xfrm>
            <a:off x="685800" y="14447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101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عمومی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زمین زیر ساختمان · لابی · پله‌ی نشیمن · نیم‌طبقه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3852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i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لبه‌ی باز به زمین؛ لابی محل اجتماعات هم هست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2395728"/>
            <a:ext cx="5760720" cy="868680"/>
          </a:xfrm>
          <a:prstGeom prst="rect">
            <a:avLst/>
          </a:prstGeom>
          <a:solidFill>
            <a:srgbClr val="6FA8DC">
              <a:alpha val="65000"/>
            </a:srgbClr>
          </a:solidFill>
          <a:ln/>
        </p:spPr>
        <p:txBody>
          <a:bodyPr/>
          <a:p>
            <a:pPr/>
          </a:p>
        </p:txBody>
      </p:sp>
      <p:sp>
        <p:nvSpPr>
          <p:cNvPr id="9" name="Text 7"/>
          <p:cNvSpPr txBox="1"/>
          <p:nvPr/>
        </p:nvSpPr>
        <p:spPr>
          <a:xfrm>
            <a:off x="109728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101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نیمه‌عمومی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743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حلقه‌ی آتریوم · سالن چندمنظوره · سمینارها · پیش‌ورودی استخر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9626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i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دسترسی از هسته‌ی عمومی؛ اتاق‌های قابل رویداد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371600" y="3419856"/>
            <a:ext cx="4937760" cy="868680"/>
          </a:xfrm>
          <a:prstGeom prst="rect">
            <a:avLst/>
          </a:prstGeom>
          <a:solidFill>
            <a:srgbClr val="9B7FBF">
              <a:alpha val="65000"/>
            </a:srgbClr>
          </a:solidFill>
          <a:ln/>
        </p:spPr>
        <p:txBody>
          <a:bodyPr/>
          <a:p>
            <a:pPr/>
          </a:p>
        </p:txBody>
      </p:sp>
      <p:sp>
        <p:nvSpPr>
          <p:cNvPr id="13" name="Text 11"/>
          <p:cNvSpPr txBox="1"/>
          <p:nvPr/>
        </p:nvSpPr>
        <p:spPr>
          <a:xfrm>
            <a:off x="1508760" y="34930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101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کنترل‌شده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76732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کلاس‌ها · آتلیه‌ها · رختکن‌ها · درمانگاه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98678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i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درها از حلقه؛ رختکن‌ها دروازه‌ی حجم‌های ورزشی‌اند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783080" y="4443984"/>
            <a:ext cx="4114800" cy="868680"/>
          </a:xfrm>
          <a:prstGeom prst="rect">
            <a:avLst/>
          </a:prstGeom>
          <a:solidFill>
            <a:srgbClr val="8C8C8C">
              <a:alpha val="65000"/>
            </a:srgbClr>
          </a:solidFill>
          <a:ln/>
        </p:spPr>
        <p:txBody>
          <a:bodyPr/>
          <a:p>
            <a:pPr/>
          </a:p>
        </p:txBody>
      </p:sp>
      <p:sp>
        <p:nvSpPr>
          <p:cNvPr id="17" name="Text 15"/>
          <p:cNvSpPr txBox="1"/>
          <p:nvPr/>
        </p:nvSpPr>
        <p:spPr>
          <a:xfrm>
            <a:off x="1920240" y="4517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101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خصوصی / خدماتی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4791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دفاتر · استراحت کارکنان · تجهیزات · تأسیسات (زیرزمین) · سکوی خورشیدی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50109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i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لبه‌ها، پله‌ی پشتی، زیرزمین و نوار بام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86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↓ افزایش کنترل</a:t>
            </a:r>
            <a:endParaRPr lang="en-US" sz="900" dirty="0"/>
          </a:p>
        </p:txBody>
      </p:sp>
      <p:pic>
        <p:nvPicPr>
          <p:cNvPr id="21" name="Image 0" descr="/home/user/echora_t01/presentations/src/img/ph_0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25880"/>
            <a:ext cx="2011680" cy="1353312"/>
          </a:xfrm>
          <a:prstGeom prst="rect">
            <a:avLst/>
          </a:prstGeom>
        </p:spPr>
      </p:pic>
      <p:pic>
        <p:nvPicPr>
          <p:cNvPr id="22" name="Image 1" descr="/home/user/echora_t01/presentations/src/img/ph_03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325880"/>
            <a:ext cx="2011680" cy="13533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589520" y="27249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آستانه‌ی حیاط (ص. 29) · ورودی (ص. 31)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7589520" y="3063240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5" name="Text 21"/>
          <p:cNvSpPr txBox="1"/>
          <p:nvPr/>
        </p:nvSpPr>
        <p:spPr>
          <a:xfrm>
            <a:off x="7589520" y="3076956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تفسیر معمارانه</a:t>
            </a:r>
            <a:endParaRPr lang="en-US" sz="650" dirty="0"/>
          </a:p>
        </p:txBody>
      </p:sp>
      <p:sp>
        <p:nvSpPr>
          <p:cNvPr id="26" name="Text 22"/>
          <p:cNvSpPr txBox="1"/>
          <p:nvPr/>
        </p:nvSpPr>
        <p:spPr>
          <a:xfrm>
            <a:off x="7589520" y="3310128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کنترل معمارانه است، نه فقط با در: ارتفاع (همکف باز ← آتلیه‌های طبقه ۴)، عمق (لابی جلو ← دفاتر عقب) و توالی (رختکن پیش از زمین).</a:t>
            </a:r>
            <a:endParaRPr lang="en-US" sz="85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لابی می‌تواند برای رویداد باز باشد در حالی که طبقات آموزشی بسته‌اند — هسته تنها نقطه‌ی کنترل است.</a:t>
            </a:r>
            <a:endParaRPr lang="en-US" sz="85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دسترسی به استخر دو بار کنترل می‌شود: پیش‌ورودی استخر ← رختکن.</a:t>
            </a:r>
            <a:endParaRPr lang="en-US" sz="85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فضاهای خدماتی هرگز رو به لابی نیستند: نوار شمالی، زیرزمین، لبه‌ی بام.</a:t>
            </a:r>
            <a:endParaRPr lang="en-US" sz="85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برگرفته از نقشه‌های Scenic Architecture Office (مجموعه‌ی بارگذاری‌شده، ص. 33–48)؛ عکس‌ها: مجموعه‌ی بارگذاری‌شده (ص. 1–32)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نمونه‌ی ۰۱ — سازمان‌دهی مقطع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سه دهانه‌ی بلند روی هم: استخر ← سالن ← زمین بام</a:t>
            </a:r>
            <a:endParaRPr lang="en-US" sz="2200" dirty="0"/>
          </a:p>
        </p:txBody>
      </p:sp>
      <p:pic>
        <p:nvPicPr>
          <p:cNvPr id="4" name="Image 0" descr="/home/user/echora_t01/presentations/src/img/sec_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309360" cy="29794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54858" y="1304544"/>
            <a:ext cx="2208276" cy="595884"/>
          </a:xfrm>
          <a:prstGeom prst="rect">
            <a:avLst/>
          </a:prstGeom>
          <a:solidFill>
            <a:srgbClr val="5BAA6A">
              <a:alpha val="35000"/>
            </a:srgbClr>
          </a:solidFill>
          <a:ln/>
        </p:spPr>
        <p:txBody>
          <a:bodyPr/>
          <a:p>
            <a:pPr/>
          </a:p>
        </p:txBody>
      </p:sp>
      <p:sp>
        <p:nvSpPr>
          <p:cNvPr id="6" name="Shape 3"/>
          <p:cNvSpPr/>
          <p:nvPr/>
        </p:nvSpPr>
        <p:spPr>
          <a:xfrm>
            <a:off x="3124962" y="1970532"/>
            <a:ext cx="2033016" cy="718566"/>
          </a:xfrm>
          <a:prstGeom prst="rect">
            <a:avLst/>
          </a:prstGeom>
          <a:solidFill>
            <a:srgbClr val="5BAA6A">
              <a:alpha val="45000"/>
            </a:srgbClr>
          </a:solidFill>
          <a:ln/>
        </p:spPr>
        <p:txBody>
          <a:bodyPr/>
          <a:p>
            <a:pPr/>
          </a:p>
        </p:txBody>
      </p:sp>
      <p:sp>
        <p:nvSpPr>
          <p:cNvPr id="7" name="Shape 4"/>
          <p:cNvSpPr/>
          <p:nvPr/>
        </p:nvSpPr>
        <p:spPr>
          <a:xfrm>
            <a:off x="3878580" y="2811780"/>
            <a:ext cx="1279398" cy="701040"/>
          </a:xfrm>
          <a:prstGeom prst="rect">
            <a:avLst/>
          </a:prstGeom>
          <a:solidFill>
            <a:srgbClr val="5BAA6A">
              <a:alpha val="60000"/>
            </a:srgbClr>
          </a:solidFill>
          <a:ln/>
        </p:spPr>
        <p:txBody>
          <a:bodyPr/>
          <a:p>
            <a:pPr/>
          </a:p>
        </p:txBody>
      </p:sp>
      <p:sp>
        <p:nvSpPr>
          <p:cNvPr id="8" name="Shape 5"/>
          <p:cNvSpPr/>
          <p:nvPr/>
        </p:nvSpPr>
        <p:spPr>
          <a:xfrm>
            <a:off x="2967228" y="2776728"/>
            <a:ext cx="858774" cy="473202"/>
          </a:xfrm>
          <a:prstGeom prst="rect">
            <a:avLst/>
          </a:prstGeom>
          <a:solidFill>
            <a:srgbClr val="F2B134">
              <a:alpha val="45000"/>
            </a:srgbClr>
          </a:solidFill>
          <a:ln/>
        </p:spPr>
        <p:txBody>
          <a:bodyPr/>
          <a:p>
            <a:pPr/>
          </a:p>
        </p:txBody>
      </p:sp>
      <p:sp>
        <p:nvSpPr>
          <p:cNvPr id="9" name="Shape 6"/>
          <p:cNvSpPr/>
          <p:nvPr/>
        </p:nvSpPr>
        <p:spPr>
          <a:xfrm>
            <a:off x="3054858" y="3284982"/>
            <a:ext cx="806196" cy="438150"/>
          </a:xfrm>
          <a:prstGeom prst="rect">
            <a:avLst/>
          </a:prstGeom>
          <a:solidFill>
            <a:srgbClr val="8C8C8C">
              <a:alpha val="45000"/>
            </a:srgbClr>
          </a:solidFill>
          <a:ln/>
        </p:spPr>
        <p:txBody>
          <a:bodyPr/>
          <a:p>
            <a:pPr/>
          </a:p>
        </p:txBody>
      </p:sp>
      <p:sp>
        <p:nvSpPr>
          <p:cNvPr id="10" name="Shape 7"/>
          <p:cNvSpPr/>
          <p:nvPr/>
        </p:nvSpPr>
        <p:spPr>
          <a:xfrm>
            <a:off x="5193030" y="1917954"/>
            <a:ext cx="350520" cy="1787652"/>
          </a:xfrm>
          <a:prstGeom prst="rect">
            <a:avLst/>
          </a:prstGeom>
          <a:solidFill>
            <a:srgbClr val="8C8C8C">
              <a:alpha val="35000"/>
            </a:srgbClr>
          </a:solidFill>
          <a:ln/>
        </p:spPr>
        <p:txBody>
          <a:bodyPr/>
          <a:p>
            <a:pPr/>
          </a:p>
        </p:txBody>
      </p:sp>
      <p:sp>
        <p:nvSpPr>
          <p:cNvPr id="11" name="Shape 8"/>
          <p:cNvSpPr/>
          <p:nvPr/>
        </p:nvSpPr>
        <p:spPr>
          <a:xfrm>
            <a:off x="1512570" y="1830324"/>
            <a:ext cx="806196" cy="490728"/>
          </a:xfrm>
          <a:prstGeom prst="rect">
            <a:avLst/>
          </a:prstGeom>
          <a:solidFill>
            <a:srgbClr val="6FA8DC">
              <a:alpha val="45000"/>
            </a:srgbClr>
          </a:solidFill>
          <a:ln/>
        </p:spPr>
        <p:txBody>
          <a:bodyPr/>
          <a:p>
            <a:pPr/>
          </a:p>
        </p:txBody>
      </p:sp>
      <p:sp>
        <p:nvSpPr>
          <p:cNvPr id="12" name="Shape 9"/>
          <p:cNvSpPr/>
          <p:nvPr/>
        </p:nvSpPr>
        <p:spPr>
          <a:xfrm>
            <a:off x="1512570" y="2338578"/>
            <a:ext cx="613410" cy="350520"/>
          </a:xfrm>
          <a:prstGeom prst="rect">
            <a:avLst/>
          </a:prstGeom>
          <a:solidFill>
            <a:srgbClr val="6FA8DC">
              <a:alpha val="45000"/>
            </a:srgbClr>
          </a:solidFill>
          <a:ln/>
        </p:spPr>
        <p:txBody>
          <a:bodyPr/>
          <a:p>
            <a:pPr/>
          </a:p>
        </p:txBody>
      </p:sp>
      <p:sp>
        <p:nvSpPr>
          <p:cNvPr id="13" name="Shape 10"/>
          <p:cNvSpPr/>
          <p:nvPr/>
        </p:nvSpPr>
        <p:spPr>
          <a:xfrm>
            <a:off x="2827020" y="2110740"/>
            <a:ext cx="280416" cy="578358"/>
          </a:xfrm>
          <a:prstGeom prst="rect">
            <a:avLst/>
          </a:prstGeom>
          <a:solidFill>
            <a:srgbClr val="F2B134">
              <a:alpha val="30000"/>
            </a:srgbClr>
          </a:solidFill>
          <a:ln/>
        </p:spPr>
        <p:txBody>
          <a:bodyPr/>
          <a:p>
            <a:pPr/>
          </a:p>
        </p:txBody>
      </p:sp>
      <p:sp>
        <p:nvSpPr>
          <p:cNvPr id="14" name="Text 11"/>
          <p:cNvSpPr txBox="1"/>
          <p:nvPr/>
        </p:nvSpPr>
        <p:spPr>
          <a:xfrm>
            <a:off x="5333238" y="14798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زمین بام + سکوها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4001262" y="23911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ورزشی سرپوشیده</a:t>
            </a:r>
            <a:endParaRPr lang="en-US" sz="700" dirty="0"/>
          </a:p>
        </p:txBody>
      </p:sp>
      <p:sp>
        <p:nvSpPr>
          <p:cNvPr id="16" name="Text 13"/>
          <p:cNvSpPr txBox="1"/>
          <p:nvPr/>
        </p:nvSpPr>
        <p:spPr>
          <a:xfrm>
            <a:off x="4001262" y="33726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استخر</a:t>
            </a:r>
            <a:endParaRPr lang="en-US" sz="700" dirty="0"/>
          </a:p>
        </p:txBody>
      </p:sp>
      <p:sp>
        <p:nvSpPr>
          <p:cNvPr id="17" name="Text 14"/>
          <p:cNvSpPr txBox="1"/>
          <p:nvPr/>
        </p:nvSpPr>
        <p:spPr>
          <a:xfrm>
            <a:off x="3019806" y="30571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لابی</a:t>
            </a:r>
            <a:endParaRPr lang="en-US" sz="700" dirty="0"/>
          </a:p>
        </p:txBody>
      </p:sp>
      <p:sp>
        <p:nvSpPr>
          <p:cNvPr id="18" name="Text 15"/>
          <p:cNvSpPr txBox="1"/>
          <p:nvPr/>
        </p:nvSpPr>
        <p:spPr>
          <a:xfrm>
            <a:off x="1547622" y="21107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آتلیه‌ها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3160014" y="35128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تأسیسات</a:t>
            </a:r>
            <a:endParaRPr lang="en-US" sz="7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2412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مقطع شمالی–جنوبی (ص. 36) — لایه‌ی تحلیلی از نگارنده</a:t>
            </a:r>
            <a:endParaRPr lang="en-US" sz="700" dirty="0"/>
          </a:p>
        </p:txBody>
      </p:sp>
      <p:pic>
        <p:nvPicPr>
          <p:cNvPr id="21" name="Image 1" descr="/home/user/echora_t01/presentations/src/img/sec_poo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88180"/>
            <a:ext cx="3108960" cy="1784119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1668572" y="4883866"/>
            <a:ext cx="1716994" cy="466344"/>
          </a:xfrm>
          <a:prstGeom prst="rect">
            <a:avLst/>
          </a:prstGeom>
          <a:solidFill>
            <a:srgbClr val="5BAA6A">
              <a:alpha val="45000"/>
            </a:srgbClr>
          </a:solidFill>
          <a:ln/>
        </p:spPr>
        <p:txBody>
          <a:bodyPr/>
          <a:p>
            <a:pPr/>
          </a:p>
        </p:txBody>
      </p:sp>
      <p:sp>
        <p:nvSpPr>
          <p:cNvPr id="23" name="Shape 19"/>
          <p:cNvSpPr/>
          <p:nvPr/>
        </p:nvSpPr>
        <p:spPr>
          <a:xfrm>
            <a:off x="831273" y="5466796"/>
            <a:ext cx="1600408" cy="381554"/>
          </a:xfrm>
          <a:prstGeom prst="rect">
            <a:avLst/>
          </a:prstGeom>
          <a:solidFill>
            <a:srgbClr val="5BAA6A">
              <a:alpha val="60000"/>
            </a:srgbClr>
          </a:solidFill>
          <a:ln/>
        </p:spPr>
        <p:txBody>
          <a:bodyPr/>
          <a:p>
            <a:pPr/>
          </a:p>
        </p:txBody>
      </p:sp>
      <p:sp>
        <p:nvSpPr>
          <p:cNvPr id="24" name="Shape 20"/>
          <p:cNvSpPr/>
          <p:nvPr/>
        </p:nvSpPr>
        <p:spPr>
          <a:xfrm>
            <a:off x="2442279" y="5435000"/>
            <a:ext cx="508739" cy="116586"/>
          </a:xfrm>
          <a:prstGeom prst="rect">
            <a:avLst/>
          </a:prstGeom>
          <a:solidFill>
            <a:srgbClr val="5BAA6A">
              <a:alpha val="70000"/>
            </a:srgbClr>
          </a:solidFill>
          <a:ln/>
        </p:spPr>
        <p:txBody>
          <a:bodyPr/>
          <a:p>
            <a:pPr/>
          </a:p>
        </p:txBody>
      </p:sp>
      <p:sp>
        <p:nvSpPr>
          <p:cNvPr id="25" name="Shape 21"/>
          <p:cNvSpPr/>
          <p:nvPr/>
        </p:nvSpPr>
        <p:spPr>
          <a:xfrm>
            <a:off x="2495273" y="5593981"/>
            <a:ext cx="370955" cy="105987"/>
          </a:xfrm>
          <a:prstGeom prst="rect">
            <a:avLst/>
          </a:prstGeom>
          <a:solidFill>
            <a:srgbClr val="9B7FBF">
              <a:alpha val="45000"/>
            </a:srgbClr>
          </a:solidFill>
          <a:ln/>
        </p:spPr>
        <p:txBody>
          <a:bodyPr/>
          <a:p>
            <a:pPr/>
          </a:p>
        </p:txBody>
      </p:sp>
      <p:sp>
        <p:nvSpPr>
          <p:cNvPr id="26" name="Shape 22"/>
          <p:cNvSpPr/>
          <p:nvPr/>
        </p:nvSpPr>
        <p:spPr>
          <a:xfrm>
            <a:off x="831273" y="5763560"/>
            <a:ext cx="2119745" cy="211975"/>
          </a:xfrm>
          <a:prstGeom prst="rect">
            <a:avLst/>
          </a:prstGeom>
          <a:solidFill>
            <a:srgbClr val="8C8C8C">
              <a:alpha val="40000"/>
            </a:srgbClr>
          </a:solidFill>
          <a:ln/>
        </p:spPr>
        <p:txBody>
          <a:bodyPr/>
          <a:p>
            <a:pPr/>
          </a:p>
        </p:txBody>
      </p:sp>
      <p:sp>
        <p:nvSpPr>
          <p:cNvPr id="27" name="Shape 23"/>
          <p:cNvSpPr/>
          <p:nvPr/>
        </p:nvSpPr>
        <p:spPr>
          <a:xfrm>
            <a:off x="810075" y="4830872"/>
            <a:ext cx="339159" cy="519338"/>
          </a:xfrm>
          <a:prstGeom prst="rect">
            <a:avLst/>
          </a:prstGeom>
          <a:solidFill>
            <a:srgbClr val="5BAA6A">
              <a:alpha val="20000"/>
            </a:srgbClr>
          </a:solidFill>
          <a:ln/>
        </p:spPr>
        <p:txBody>
          <a:bodyPr/>
          <a:p>
            <a:pPr/>
          </a:p>
        </p:txBody>
      </p:sp>
      <p:sp>
        <p:nvSpPr>
          <p:cNvPr id="28" name="Text 24"/>
          <p:cNvSpPr txBox="1"/>
          <p:nvPr/>
        </p:nvSpPr>
        <p:spPr>
          <a:xfrm>
            <a:off x="3794760" y="45796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مقطع شرقی–غربی از استخر، تنیس روی میز، رختکن‌ها و حیاط (ص. 48) — لایه‌ی تحلیلی از نگارنده</a:t>
            </a:r>
            <a:endParaRPr lang="en-US" sz="700" dirty="0"/>
          </a:p>
        </p:txBody>
      </p:sp>
      <p:sp>
        <p:nvSpPr>
          <p:cNvPr id="29" name="Shape 25"/>
          <p:cNvSpPr/>
          <p:nvPr/>
        </p:nvSpPr>
        <p:spPr>
          <a:xfrm>
            <a:off x="7589520" y="1234440"/>
            <a:ext cx="799186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0" name="Text 26"/>
          <p:cNvSpPr txBox="1"/>
          <p:nvPr/>
        </p:nvSpPr>
        <p:spPr>
          <a:xfrm>
            <a:off x="7589520" y="1248156"/>
            <a:ext cx="7991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تأییدشده</a:t>
            </a:r>
            <a:endParaRPr lang="en-US" sz="650" dirty="0"/>
          </a:p>
        </p:txBody>
      </p:sp>
      <p:sp>
        <p:nvSpPr>
          <p:cNvPr id="31" name="Text 27"/>
          <p:cNvSpPr txBox="1"/>
          <p:nvPr/>
        </p:nvSpPr>
        <p:spPr>
          <a:xfrm>
            <a:off x="7589520" y="148132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مقاطع نشان می‌دهند استخر هم‌تراز/زیر زمین با تأسیسات در زیرش است، سالن ورزشی حجمی دوطبقه در طبقات ۳–۴ مستقیماً بالای آن، و زمین بام با سکوهای پله‌ای در بالا. لابی اجتماعات + نیم‌طبقه کنار استخر و باز به سمت پیست‌اند.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7589520" y="2395728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3" name="Text 29"/>
          <p:cNvSpPr txBox="1"/>
          <p:nvPr/>
        </p:nvSpPr>
        <p:spPr>
          <a:xfrm>
            <a:off x="7589520" y="2409444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تفسیر معمارانه</a:t>
            </a:r>
            <a:endParaRPr lang="en-US" sz="650" dirty="0"/>
          </a:p>
        </p:txBody>
      </p:sp>
      <p:sp>
        <p:nvSpPr>
          <p:cNvPr id="34" name="Text 30"/>
          <p:cNvSpPr txBox="1"/>
          <p:nvPr/>
        </p:nvSpPr>
        <p:spPr>
          <a:xfrm>
            <a:off x="7589520" y="2642616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دوطبقه روی کف انتقال عمیق بالای استخر ← سنگین‌ترین دهانه‌ها روی هم‌اند و بار مستقیم پایین می‌رود.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نورگیر موجی استخر: نور روز زیر کف سالن (ArchDaily: پنجره‌های نورگیر قوسی).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طبقات آموزشی (≈ ۲ طبقه) ارتفاع سالن را در بر می‌گیرند ← کلاس‌ها در مقطع سالن شریک‌اند، نه در صدای آن.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حیاط طبقه ۳ (با درخت) در دل حجم بریده شده — فضای باز در تراز بالا.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ارتفاع طبقه به طبقه اینجا اندازه‌گذاری نشده: در منابع ذکر نشده؛ اندازه‌گیری از نقشه تقریبی خواهد بود.</a:t>
            </a:r>
            <a:endParaRPr lang="en-US" sz="800" dirty="0"/>
          </a:p>
        </p:txBody>
      </p:sp>
      <p:sp>
        <p:nvSpPr>
          <p:cNvPr id="35" name="Text 31"/>
          <p:cNvSpPr txBox="1"/>
          <p:nvPr/>
        </p:nvSpPr>
        <p:spPr>
          <a:xfrm>
            <a:off x="3794760" y="5669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نقشه‌ها: Scenic Architecture Office — مقاطع ص. 34، 36، 48؛ ArchDaily (2025) — archdaily.com/1041795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نمونه‌ی ۰۱ — درون / بیرون + محیط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فضای باز در سه تراز: زیر، درون و روی ساختمان</a:t>
            </a:r>
            <a:endParaRPr lang="en-US" sz="2200" dirty="0"/>
          </a:p>
        </p:txBody>
      </p:sp>
      <p:pic>
        <p:nvPicPr>
          <p:cNvPr id="4" name="Image 0" descr="/home/user/echora_t01/presentations/src/img/ph_02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2697480" cy="1783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0906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زیر — زمین سرپوشیده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 + تفریح + سرپناه</a:t>
            </a:r>
            <a:endParaRPr lang="en-US" sz="800" dirty="0"/>
          </a:p>
        </p:txBody>
      </p:sp>
      <p:pic>
        <p:nvPicPr>
          <p:cNvPr id="7" name="Image 1" descr="/home/user/echora_t01/presentations/src/img/ph_029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83280" y="1234440"/>
            <a:ext cx="2697480" cy="1783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83280" y="30906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درون — حیاط پوملو (طبقه ۳)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3383280" y="32918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اجتماعی + منظر + نور</a:t>
            </a:r>
            <a:endParaRPr lang="en-US" sz="800" dirty="0"/>
          </a:p>
        </p:txBody>
      </p:sp>
      <p:pic>
        <p:nvPicPr>
          <p:cNvPr id="10" name="Image 2" descr="/home/user/echora_t01/presentations/src/img/ph_00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1234440"/>
            <a:ext cx="2697480" cy="17830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217920" y="30906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روی بام — زمین بام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6217920" y="32918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 + تماشاگر</a:t>
            </a:r>
            <a:endParaRPr lang="en-US" sz="800" dirty="0"/>
          </a:p>
        </p:txBody>
      </p:sp>
      <p:pic>
        <p:nvPicPr>
          <p:cNvPr id="13" name="Image 3" descr="/home/user/echora_t01/presentations/src/img/ph_002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52560" y="1234440"/>
            <a:ext cx="2697480" cy="17830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052560" y="30906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لبه — نورگیر استخر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9052560" y="32918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نور روز + ارتباط بصری با خیابان</a:t>
            </a:r>
            <a:endParaRPr lang="en-US" sz="8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3520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عکس‌ها: مجموعه‌ی بارگذاری‌شده ص. 26، 29، 3، 2</a:t>
            </a:r>
            <a:endParaRPr lang="en-US" sz="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155680" cy="914400"/>
        </p:xfrm>
        <a:graphic>
          <a:graphicData uri="http://schemas.openxmlformats.org/drawingml/2006/table">
            <a:tbl>
              <a:tblPr rtl="1"/>
              <a:tblGrid>
                <a:gridCol w="2377440"/>
                <a:gridCol w="6400800"/>
                <a:gridCol w="2377440"/>
              </a:tblGrid>
              <a:tr h="246888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راهبرد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شواهد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وضعیت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نور روز در فضاهای آموزشی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کلاس‌ها «از نور طبیعی و چشم‌انداز بهره می‌برند» (ArchDaily)؛ در پلان‌ها اتاق‌ها در امتداد نماها قرار دارند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تأییدشده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نور روز استخر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پنجره‌های نورگیر قوسی در طول استخر؛ تیرهای چوبی نور را پخش می‌کنند (ArchDaily)؛ پنجره‌های موجی در عکس‌ها/مقطع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تأییدشده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نورگیر سقفی آتریوم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آتریوم بیضی + «میزهای نورگیر» در پلان بام؛ عکس‌های ص. 20–21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تأییدشده (نقشه‌ها)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نمای سبز / سایه‌اندازی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پرده‌های گیاهی و شبکه‌ی چوبی‌رنگ روی نماها (عکس‌های ص. 1–6)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قابل مشاهده — عملکرد تأیید نشده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انرژی خورشیدی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«سکوی تجهیزات خورشیدی» در پلان بام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تأییدشده (نقشه) — ظرفیت نامعلوم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تهویه‌ی طبیعی / جهت‌گیری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بیانیه‌ی منتشرشده‌ای نیست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36" dirty="0">
                          <a:solidFill>
                            <a:srgbClr val="D9472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تأیید نشده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1"/>
          <p:cNvSpPr txBox="1"/>
          <p:nvPr/>
        </p:nvSpPr>
        <p:spPr>
          <a:xfrm>
            <a:off x="548640" y="6035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ArchDaily (2025) — archdaily.com/1041795؛ نقشه‌ها: Scenic Architecture Office (مجموعه‌ی بارگذاری‌شده، ص. 33–48)؛ عکس‌ها: مجموعه‌ی بارگذاری‌شده (ص. 1–32)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نمونه‌ی ۰۱ — منطق سازه‌ای / معمارانه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دهانه‌های بلند روی یک سطح اشغال؛ ستون‌های مایل زمین را آزاد می‌کنند</a:t>
            </a:r>
            <a:endParaRPr lang="en-US" sz="2200" dirty="0"/>
          </a:p>
        </p:txBody>
      </p:sp>
      <p:pic>
        <p:nvPicPr>
          <p:cNvPr id="4" name="Image 0" descr="/home/user/echora_t01/presentations/src/img/ph_0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840480" cy="2249424"/>
          </a:xfrm>
          <a:prstGeom prst="rect">
            <a:avLst/>
          </a:prstGeom>
        </p:spPr>
      </p:pic>
      <p:pic>
        <p:nvPicPr>
          <p:cNvPr id="5" name="Image 1" descr="/home/user/echora_t01/presentations/src/img/ph_01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66160"/>
            <a:ext cx="3840480" cy="2560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1447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ستون‌های مایل در لبه‌ی زمین (ص. 5) · سازه‌ی سقف سالن با نورگیرها (ص. 12)</a:t>
            </a:r>
            <a:endParaRPr lang="en-US" sz="700" dirty="0"/>
          </a:p>
        </p:txBody>
      </p:sp>
      <p:sp>
        <p:nvSpPr>
          <p:cNvPr id="7" name="Shape 3"/>
          <p:cNvSpPr/>
          <p:nvPr/>
        </p:nvSpPr>
        <p:spPr>
          <a:xfrm>
            <a:off x="4754880" y="4937760"/>
            <a:ext cx="3657600" cy="91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8" name="Shape 4"/>
          <p:cNvSpPr/>
          <p:nvPr/>
        </p:nvSpPr>
        <p:spPr>
          <a:xfrm>
            <a:off x="4846320" y="4206240"/>
            <a:ext cx="2103120" cy="731520"/>
          </a:xfrm>
          <a:prstGeom prst="rect">
            <a:avLst/>
          </a:prstGeom>
          <a:solidFill>
            <a:srgbClr val="5BAA6A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" name="Text 5"/>
          <p:cNvSpPr txBox="1"/>
          <p:nvPr/>
        </p:nvSpPr>
        <p:spPr>
          <a:xfrm>
            <a:off x="4846320" y="44348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دهانه‌ی استخر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846320" y="3749040"/>
            <a:ext cx="3017520" cy="457200"/>
          </a:xfrm>
          <a:prstGeom prst="rect">
            <a:avLst/>
          </a:prstGeom>
          <a:solidFill>
            <a:srgbClr val="F3F3F3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" name="Text 7"/>
          <p:cNvSpPr txBox="1"/>
          <p:nvPr/>
        </p:nvSpPr>
        <p:spPr>
          <a:xfrm>
            <a:off x="6995160" y="4434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لابی / نیم‌طبقه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4846320" y="2697480"/>
            <a:ext cx="3017520" cy="16459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p>
            <a:pPr/>
          </a:p>
        </p:txBody>
      </p:sp>
      <p:sp>
        <p:nvSpPr>
          <p:cNvPr id="13" name="Shape 9"/>
          <p:cNvSpPr/>
          <p:nvPr/>
        </p:nvSpPr>
        <p:spPr>
          <a:xfrm>
            <a:off x="4846320" y="2862072"/>
            <a:ext cx="3017520" cy="886968"/>
          </a:xfrm>
          <a:prstGeom prst="rect">
            <a:avLst/>
          </a:prstGeom>
          <a:solidFill>
            <a:srgbClr val="5BAA6A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4" name="Text 10"/>
          <p:cNvSpPr txBox="1"/>
          <p:nvPr/>
        </p:nvSpPr>
        <p:spPr>
          <a:xfrm>
            <a:off x="4846320" y="3154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دهانه‌ی سالن (طبقه ۳–۴)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846320" y="2423160"/>
            <a:ext cx="3017520" cy="274320"/>
          </a:xfrm>
          <a:prstGeom prst="rect">
            <a:avLst/>
          </a:prstGeom>
          <a:solidFill>
            <a:srgbClr val="5BAA6A">
              <a:alpha val="2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6" name="Text 12"/>
          <p:cNvSpPr txBox="1"/>
          <p:nvPr/>
        </p:nvSpPr>
        <p:spPr>
          <a:xfrm>
            <a:off x="4846320" y="24505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زمین بام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7863840" y="3749040"/>
            <a:ext cx="182880" cy="118872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8" name="Shape 14"/>
          <p:cNvSpPr/>
          <p:nvPr/>
        </p:nvSpPr>
        <p:spPr>
          <a:xfrm flipH="1">
            <a:off x="7680960" y="3749040"/>
            <a:ext cx="182880" cy="118872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9" name="Text 15"/>
          <p:cNvSpPr txBox="1"/>
          <p:nvPr/>
        </p:nvSpPr>
        <p:spPr>
          <a:xfrm>
            <a:off x="8001000" y="4160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ستون‌های</a:t>
            </a:r>
            <a:endParaRPr lang="en-US" sz="700" dirty="0"/>
          </a:p>
          <a:p>
            <a:pPr indent="0" marL="0" rtl="1">
              <a:buNone/>
            </a:pPr>
            <a:r>
              <a:rPr lang="fa-IR" sz="644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مایل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4892040" y="3749040"/>
            <a:ext cx="91" cy="45720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21" name="Shape 17"/>
          <p:cNvSpPr/>
          <p:nvPr/>
        </p:nvSpPr>
        <p:spPr>
          <a:xfrm>
            <a:off x="5897880" y="3749040"/>
            <a:ext cx="91" cy="45720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22" name="Shape 18"/>
          <p:cNvSpPr/>
          <p:nvPr/>
        </p:nvSpPr>
        <p:spPr>
          <a:xfrm>
            <a:off x="6995160" y="3749040"/>
            <a:ext cx="91" cy="45720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23" name="Text 19"/>
          <p:cNvSpPr txBox="1"/>
          <p:nvPr/>
        </p:nvSpPr>
        <p:spPr>
          <a:xfrm>
            <a:off x="4754880" y="5029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i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مقطع شماتیک — تفسیر، بدون مقیاس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8778240" y="1234440"/>
            <a:ext cx="799186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5" name="Text 21"/>
          <p:cNvSpPr txBox="1"/>
          <p:nvPr/>
        </p:nvSpPr>
        <p:spPr>
          <a:xfrm>
            <a:off x="8778240" y="1248156"/>
            <a:ext cx="7991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تأییدشده</a:t>
            </a:r>
            <a:endParaRPr lang="en-US" sz="650" dirty="0"/>
          </a:p>
        </p:txBody>
      </p:sp>
      <p:sp>
        <p:nvSpPr>
          <p:cNvPr id="26" name="Text 22"/>
          <p:cNvSpPr txBox="1"/>
          <p:nvPr/>
        </p:nvSpPr>
        <p:spPr>
          <a:xfrm>
            <a:off x="8778240" y="148132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ستون‌های بتنی مایل حجم بالایی را روی چمن نگه می‌دارند (ArchDaily). پلان‌ها شبکه‌ی ستون منظمی پیرامون سالن و استخر نشان می‌دهند؛ مقاطع ناحیه‌ی سازه‌ای عمیقی زیر کف سالن و زیر زمین بام را نشان می‌دهند.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8778240" y="2551176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8" name="Text 24"/>
          <p:cNvSpPr txBox="1"/>
          <p:nvPr/>
        </p:nvSpPr>
        <p:spPr>
          <a:xfrm>
            <a:off x="8778240" y="2564892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تفسیر معمارانه</a:t>
            </a:r>
            <a:endParaRPr lang="en-US" sz="650" dirty="0"/>
          </a:p>
        </p:txBody>
      </p:sp>
      <p:sp>
        <p:nvSpPr>
          <p:cNvPr id="29" name="Text 25"/>
          <p:cNvSpPr txBox="1"/>
          <p:nvPr/>
        </p:nvSpPr>
        <p:spPr>
          <a:xfrm>
            <a:off x="8778240" y="2798064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بدون ستون است؛ بامش هم زمین بازی است ← سازه‌ی سقف عمیق و سخت (تیرها در مقطع پیداست).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استخر مستقیماً زیر سالن ← کف انتقال بین آن‌ها عنصر کلیدی سازه است.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اتاق‌های پیرامونی روی شبکه‌ی کوچک‌تر ← سازه از پلان «فضای بزرگ + لایه‌ی پیرامونی» پیروی می‌کند.</a:t>
            </a:r>
            <a:endParaRPr lang="en-US" sz="80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مصالح، دهانه و ابعاد اعضا: تأیید نشده (داده‌ی سازه‌ای منتشر نشده).</a:t>
            </a:r>
            <a:endParaRPr lang="en-US" sz="800" dirty="0"/>
          </a:p>
        </p:txBody>
      </p:sp>
      <p:sp>
        <p:nvSpPr>
          <p:cNvPr id="30" name="Text 26"/>
          <p:cNvSpPr txBox="1"/>
          <p:nvPr/>
        </p:nvSpPr>
        <p:spPr>
          <a:xfrm>
            <a:off x="4754880" y="5989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ArchDaily (2025) — archdaily.com/1041795؛ نقشه‌ها: Scenic Architecture Office (مجموعه‌ی بارگذاری‌شده، ص. 33–48)؛ عکس‌ها: مجموعه‌ی بارگذاری‌شده (ص. 1–32)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نمونه‌ی ۰۱ — اصول کلیدی طراحی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هفت اصل استخراج‌شده از مرکز آنا پائو سومن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220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101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دهانه‌های بلند را روی هم بچین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6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استخر ← سالن ← زمین بام روی یک سطح اشغال، سایت را آزاد می‌کند.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325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220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101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بلند کن تا زمین را پس بدهی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194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6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طبقات بالا طره می‌شوند؛ زمین زیر ساختمان ادامه می‌یابد.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325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220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101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فضای بزرگ + لایه‌ی پیرامونی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194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6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در مرکز؛ کلاس‌ها / آتلیه‌ها در امتداد نما برای نور روز.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325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220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101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آستانه‌هایی که جمع می‌کنند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194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6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لابی و آتریوم هم توزیع‌کننده‌اند و هم فضای رویداد (پله‌ی نشیمن).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657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220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101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توالی خیس خطی است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262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6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سرسرا ← رختکن ← استخر؛ کاربران خشک هرگز از کف خیس عبور نمی‌کنند.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3657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220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101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 را نمایش بده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45262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6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پیوندهای بصری: تنیس روی میز ← استخر، نیم‌طبقه ← زمین، سکوهای بام ← زمین.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657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220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07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101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خدمات روی هم و دور از دید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5262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66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تأسیسات زیر استخر، نوار تجهیزات در پشت، خورشیدی در لبه‌ی بام.</a:t>
            </a:r>
            <a:endParaRPr lang="en-US" sz="1050" dirty="0"/>
          </a:p>
        </p:txBody>
      </p:sp>
      <p:pic>
        <p:nvPicPr>
          <p:cNvPr id="25" name="Image 0" descr="/home/user/echora_t01/presentations/src/img/axo_pro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3520440"/>
            <a:ext cx="2240280" cy="2459736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9052560" y="59984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اکسونومتریک برنامه (ص. 38)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548640" y="5943600"/>
            <a:ext cx="3438144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8" name="Text 25"/>
          <p:cNvSpPr txBox="1"/>
          <p:nvPr/>
        </p:nvSpPr>
        <p:spPr>
          <a:xfrm>
            <a:off x="548640" y="5957316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اصول = تفسیر پلان‌های تأییدشده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نمونه‌ی ۰۲ — FTVS، دانشگاه چارلز · پروژه + بستر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دانشکده‌ای درون مجموعه‌ای تغییرکاربری‌یافته از دهه‌ی ۱۹۵۰، با ورزش پراکنده در پردیس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766560" cy="914400"/>
        </p:xfrm>
        <a:graphic>
          <a:graphicData uri="http://schemas.openxmlformats.org/drawingml/2006/table">
            <a:tbl>
              <a:tblPr rtl="1"/>
              <a:tblGrid>
                <a:gridCol w="1234440"/>
                <a:gridCol w="416052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نهاد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دانشکده تربیت بدنی و ورزش (FTVS / «CU SPORT»)، دانشگاه چارلز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a-IR" sz="644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FTVS / CUNI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نشانی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José Martího 269/31، پراگ ۶ – Veleslavín، جمهوری چک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644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تماس FTVS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ساختمان اولیه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ساخته‌شده ۱۹۴۹–۱۹۵۶ برای دانشکده‌ی سیاسی حزب کمونیست (VŠP ÚV KSČ، «Vokovická Sorbonna»)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a-IR" sz="644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slavnevily.cz · cs.wikipedia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کاربری دانشکده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دانشکده پس از ۱۹۸۹ به اینجا منتقل شد (VŠP در ۱۹۹۰ منحل شد)؛ دانشکده از ۱۹۵۹ بخشی از دانشگاه چارلز است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a-IR" sz="644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cs.wikipedia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معماری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ترکیب «سخت‌گیرانه و در اصل متقارن» بر پایه‌ی کارکردگرایی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a-IR" sz="644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slavnevily.cz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بلوک‌ها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بلوک‌های A–H (عایق‌کاری A–D، نوسازی نمای E–H در مناقصه‌ی دانشگاه)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fa-IR" sz="644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zakazky.cuni.cz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معمار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D9472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تأیید نشده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6B6B6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مساحت / نقشه‌ها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D9472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تأیید نشده — پلان، مقطع یا مساحت منتشرشده‌ای یافت نشد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1325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بستر — دیاگرام رابطه‌ای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9875520" y="1691640"/>
            <a:ext cx="1737360" cy="411480"/>
          </a:xfrm>
          <a:prstGeom prst="rect">
            <a:avLst/>
          </a:prstGeom>
          <a:solidFill>
            <a:srgbClr val="F3F3F3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7" name="Text 4"/>
          <p:cNvSpPr txBox="1"/>
          <p:nvPr/>
        </p:nvSpPr>
        <p:spPr>
          <a:xfrm>
            <a:off x="9875520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مرکز پراگ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772400" y="2606040"/>
            <a:ext cx="1920240" cy="548640"/>
          </a:xfrm>
          <a:prstGeom prst="rect">
            <a:avLst/>
          </a:prstGeom>
          <a:solidFill>
            <a:srgbClr val="F2B134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9" name="Text 6"/>
          <p:cNvSpPr txBox="1"/>
          <p:nvPr/>
        </p:nvSpPr>
        <p:spPr>
          <a:xfrm>
            <a:off x="7772400" y="2606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NOVÝ VELESLAVÍN</a:t>
            </a:r>
            <a:endParaRPr lang="en-US" sz="800" dirty="0"/>
          </a:p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مترو + محله‌ی شهری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9875520" y="3520440"/>
            <a:ext cx="1737360" cy="548640"/>
          </a:xfrm>
          <a:prstGeom prst="rect">
            <a:avLst/>
          </a:prstGeom>
          <a:solidFill>
            <a:srgbClr val="6FA8DC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1" name="Text 8"/>
          <p:cNvSpPr txBox="1"/>
          <p:nvPr/>
        </p:nvSpPr>
        <p:spPr>
          <a:xfrm>
            <a:off x="9875520" y="3520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مجموعه‌ی FTVS</a:t>
            </a:r>
            <a:endParaRPr lang="en-US" sz="800" dirty="0"/>
          </a:p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بلوک‌های A–H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772400" y="4434840"/>
            <a:ext cx="1920240" cy="548640"/>
          </a:xfrm>
          <a:prstGeom prst="rect">
            <a:avLst/>
          </a:prstGeom>
          <a:solidFill>
            <a:srgbClr val="5BAA6A">
              <a:alpha val="5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3" name="Text 10"/>
          <p:cNvSpPr txBox="1"/>
          <p:nvPr/>
        </p:nvSpPr>
        <p:spPr>
          <a:xfrm>
            <a:off x="7772400" y="4434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ورزشگاه + زمین‌ها</a:t>
            </a:r>
            <a:endParaRPr lang="en-US" sz="800" dirty="0"/>
          </a:p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تنیس · والیبال ساحلی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875520" y="4617720"/>
            <a:ext cx="1737360" cy="548640"/>
          </a:xfrm>
          <a:prstGeom prst="rect">
            <a:avLst/>
          </a:prstGeom>
          <a:solidFill>
            <a:srgbClr val="5BAA6A">
              <a:alpha val="5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5" name="Text 12"/>
          <p:cNvSpPr txBox="1"/>
          <p:nvPr/>
        </p:nvSpPr>
        <p:spPr>
          <a:xfrm>
            <a:off x="9875520" y="4617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ورزشی</a:t>
            </a:r>
            <a:endParaRPr lang="en-US" sz="800" dirty="0"/>
          </a:p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+ اتاق‌های بدنسازی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0744200" y="2103120"/>
            <a:ext cx="91" cy="1417320"/>
          </a:xfrm>
          <a:prstGeom prst="line">
            <a:avLst/>
          </a:prstGeom>
          <a:noFill/>
          <a:ln w="12700">
            <a:solidFill>
              <a:srgbClr val="1A1A1A"/>
            </a:solidFill>
            <a:prstDash val="dash"/>
            <a:tailEnd type="triangle"/>
          </a:ln>
        </p:spPr>
        <p:txBody>
          <a:bodyPr/>
          <a:p>
            <a:pPr/>
          </a:p>
        </p:txBody>
      </p:sp>
      <p:sp>
        <p:nvSpPr>
          <p:cNvPr id="17" name="Text 14"/>
          <p:cNvSpPr txBox="1"/>
          <p:nvPr/>
        </p:nvSpPr>
        <p:spPr>
          <a:xfrm>
            <a:off x="10817352" y="2606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≈ ۲۵ دقیقه با</a:t>
            </a:r>
            <a:endParaRPr lang="en-US" sz="700" dirty="0"/>
          </a:p>
          <a:p>
            <a:pPr indent="0" marL="0" rtl="1">
              <a:buNone/>
            </a:pPr>
            <a:r>
              <a:rPr lang="fa-IR" sz="644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حمل‌ونقل عمومی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9692640" y="2880360"/>
            <a:ext cx="182880" cy="82296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9" name="Shape 16"/>
          <p:cNvSpPr/>
          <p:nvPr/>
        </p:nvSpPr>
        <p:spPr>
          <a:xfrm flipV="1">
            <a:off x="9692640" y="3977640"/>
            <a:ext cx="182880" cy="73152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0" name="Shape 17"/>
          <p:cNvSpPr/>
          <p:nvPr/>
        </p:nvSpPr>
        <p:spPr>
          <a:xfrm>
            <a:off x="10744200" y="4069080"/>
            <a:ext cx="91" cy="54864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1" name="Shape 18"/>
          <p:cNvSpPr/>
          <p:nvPr/>
        </p:nvSpPr>
        <p:spPr>
          <a:xfrm>
            <a:off x="7772400" y="5349240"/>
            <a:ext cx="3937406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2" name="Text 19"/>
          <p:cNvSpPr txBox="1"/>
          <p:nvPr/>
        </p:nvSpPr>
        <p:spPr>
          <a:xfrm>
            <a:off x="7772400" y="5362956"/>
            <a:ext cx="39374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تفسیر معمارانه — رابطه‌ای، نه نقشه</a:t>
            </a:r>
            <a:endParaRPr lang="en-US" sz="650" dirty="0"/>
          </a:p>
        </p:txBody>
      </p:sp>
      <p:sp>
        <p:nvSpPr>
          <p:cNvPr id="23" name="Text 20"/>
          <p:cNvSpPr txBox="1"/>
          <p:nvPr/>
        </p:nvSpPr>
        <p:spPr>
          <a:xfrm>
            <a:off x="7772400" y="5623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موقعیت‌ها جغرافیایی نیستند. چیدمان دقیق سایت، دسترسی‌ها و جهت‌گیری از مستندات موجود قابل تأیید نبود.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617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خوانش سایت / بستر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84632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پردیسی حومه‌ای در پراگ ۶ با دسترسی به گره‌ی حمل‌ونقل Nový Veleslavín — دانشکده یک مقصد است، نه بخشی از هسته‌ی تاریخی دانشگاه (تأییدشده: موقعیت؛ تفسیر: نقش).</a:t>
            </a:r>
            <a:endParaRPr lang="en-US" sz="85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آموزش در ساختمانی طراحی‌شده برای نهادی دیگر ← امکانات ورزشی پیرامون آن افزوده شده، نه در یک حجم یکپارچه (تفسیر).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9436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ftvs.cuni.cz (تماس؛ «Jak se vyznat na fakultě»)؛ cs.wikipedia.org — VŠP ÚV KSČ و FTVS UK؛ slavnevily.cz — «Škola ve Veleslavíně»؛ zakazky.cuni.cz — مناقصه‌ی FTVS؛ cuni.cz.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نمونه‌ی ۰۲ — برنامه‌ی عملکردی، پهنه‌بندی + کنترل استاندارد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امکانات تأییدشده، سازمان‌یافته به‌صورت پردیسی از اجزای ورزشی جدا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امکانات تأییدشده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64592" cy="164592"/>
          </a:xfrm>
          <a:prstGeom prst="rect">
            <a:avLst/>
          </a:prstGeom>
          <a:solidFill>
            <a:srgbClr val="5BAA6A">
              <a:alpha val="70000"/>
            </a:srgbClr>
          </a:solidFill>
          <a:ln/>
        </p:spPr>
        <p:txBody>
          <a:bodyPr/>
          <a:p>
            <a:pPr/>
          </a:p>
        </p:txBody>
      </p:sp>
      <p:sp>
        <p:nvSpPr>
          <p:cNvPr id="6" name="Text 4"/>
          <p:cNvSpPr txBox="1"/>
          <p:nvPr/>
        </p:nvSpPr>
        <p:spPr>
          <a:xfrm>
            <a:off x="822960" y="1536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ورزشی 22 × 32 m (704 m²)، کف Taraflex، خط‌کشی چند زمین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536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fa-IR" sz="598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iscus.cz #19361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164592" cy="164592"/>
          </a:xfrm>
          <a:prstGeom prst="rect">
            <a:avLst/>
          </a:prstGeom>
          <a:solidFill>
            <a:srgbClr val="5BAA6A">
              <a:alpha val="70000"/>
            </a:srgbClr>
          </a:solidFill>
          <a:ln/>
        </p:spPr>
        <p:txBody>
          <a:bodyPr/>
          <a:p>
            <a:pPr/>
          </a:p>
        </p:txBody>
      </p:sp>
      <p:sp>
        <p:nvSpPr>
          <p:cNvPr id="9" name="Text 7"/>
          <p:cNvSpPr txBox="1"/>
          <p:nvPr/>
        </p:nvSpPr>
        <p:spPr>
          <a:xfrm>
            <a:off x="822960" y="1993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باشگاه + سالن ژیمناستیک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1993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fa-IR" sz="598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iscus.cz #19361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548640" y="2487168"/>
            <a:ext cx="164592" cy="164592"/>
          </a:xfrm>
          <a:prstGeom prst="rect">
            <a:avLst/>
          </a:prstGeom>
          <a:solidFill>
            <a:srgbClr val="5BAA6A">
              <a:alpha val="70000"/>
            </a:srgbClr>
          </a:solidFill>
          <a:ln/>
        </p:spPr>
        <p:txBody>
          <a:bodyPr/>
          <a:p>
            <a:pPr/>
          </a:p>
        </p:txBody>
      </p:sp>
      <p:sp>
        <p:nvSpPr>
          <p:cNvPr id="12" name="Text 10"/>
          <p:cNvSpPr txBox="1"/>
          <p:nvPr/>
        </p:nvSpPr>
        <p:spPr>
          <a:xfrm>
            <a:off x="822960" y="24505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ورزشگاه: زمین فوتبال 100 × 65 m + پیست 400 m، ۶ خط، محوطه‌های پرش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4505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fa-IR" sz="598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iscus.cz #19360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548640" y="2944368"/>
            <a:ext cx="164592" cy="164592"/>
          </a:xfrm>
          <a:prstGeom prst="rect">
            <a:avLst/>
          </a:prstGeom>
          <a:solidFill>
            <a:srgbClr val="5BAA6A">
              <a:alpha val="70000"/>
            </a:srgbClr>
          </a:solidFill>
          <a:ln/>
        </p:spPr>
        <p:txBody>
          <a:bodyPr/>
          <a:p>
            <a:pPr/>
          </a:p>
        </p:txBody>
      </p:sp>
      <p:sp>
        <p:nvSpPr>
          <p:cNvPr id="15" name="Text 13"/>
          <p:cNvSpPr txBox="1"/>
          <p:nvPr/>
        </p:nvSpPr>
        <p:spPr>
          <a:xfrm>
            <a:off x="822960" y="29077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زمین‌های تنیس · زمین والیبال ساحلی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29077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fa-IR" sz="598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ftvs.cuni.cz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548640" y="3401568"/>
            <a:ext cx="164592" cy="164592"/>
          </a:xfrm>
          <a:prstGeom prst="rect">
            <a:avLst/>
          </a:prstGeom>
          <a:solidFill>
            <a:srgbClr val="9B7FBF">
              <a:alpha val="70000"/>
            </a:srgbClr>
          </a:solidFill>
          <a:ln/>
        </p:spPr>
        <p:txBody>
          <a:bodyPr/>
          <a:p>
            <a:pPr/>
          </a:p>
        </p:txBody>
      </p:sp>
      <p:sp>
        <p:nvSpPr>
          <p:cNvPr id="18" name="Text 16"/>
          <p:cNvSpPr txBox="1"/>
          <p:nvPr/>
        </p:nvSpPr>
        <p:spPr>
          <a:xfrm>
            <a:off x="822960" y="3364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باشگاه CU SPORT — زیرزمین بلوک H: پذیرش، وزنه، کشش، TRX، میدان تیر + کاردیو، تونل دوومیدانی، گرم‌کردن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364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fa-IR" sz="598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ftvs.cuni.cz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64592" cy="164592"/>
          </a:xfrm>
          <a:prstGeom prst="rect">
            <a:avLst/>
          </a:prstGeom>
          <a:solidFill>
            <a:srgbClr val="6FA8DC">
              <a:alpha val="70000"/>
            </a:srgbClr>
          </a:solidFill>
          <a:ln/>
        </p:spPr>
        <p:txBody>
          <a:bodyPr/>
          <a:p>
            <a:pPr/>
          </a:p>
        </p:txBody>
      </p:sp>
      <p:sp>
        <p:nvSpPr>
          <p:cNvPr id="21" name="Text 19"/>
          <p:cNvSpPr txBox="1"/>
          <p:nvPr/>
        </p:nvSpPr>
        <p:spPr>
          <a:xfrm>
            <a:off x="822960" y="3822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مطالعه «Creative Hub» بالای باشگاه (بلوک H)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822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fa-IR" sz="598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ftvs.cuni.cz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48640" y="4315968"/>
            <a:ext cx="164592" cy="164592"/>
          </a:xfrm>
          <a:prstGeom prst="rect">
            <a:avLst/>
          </a:prstGeom>
          <a:solidFill>
            <a:srgbClr val="6FA8DC">
              <a:alpha val="70000"/>
            </a:srgbClr>
          </a:solidFill>
          <a:ln/>
        </p:spPr>
        <p:txBody>
          <a:bodyPr/>
          <a:p>
            <a:pPr/>
          </a:p>
        </p:txBody>
      </p:sp>
      <p:sp>
        <p:nvSpPr>
          <p:cNvPr id="24" name="Text 22"/>
          <p:cNvSpPr txBox="1"/>
          <p:nvPr/>
        </p:nvSpPr>
        <p:spPr>
          <a:xfrm>
            <a:off x="822960" y="4279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آموزش، گروه‌ها و اداری در بلوک‌های A–H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279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fa-IR" sz="598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ftvs.cuni.cz</a:t>
            </a:r>
            <a:endParaRPr lang="en-US" sz="6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892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بلوک H — چیدمان عمودی تأییدشده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" y="5138928"/>
            <a:ext cx="2377440" cy="347472"/>
          </a:xfrm>
          <a:prstGeom prst="rect">
            <a:avLst/>
          </a:prstGeom>
          <a:solidFill>
            <a:srgbClr val="6FA8DC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8" name="Text 26"/>
          <p:cNvSpPr txBox="1"/>
          <p:nvPr/>
        </p:nvSpPr>
        <p:spPr>
          <a:xfrm>
            <a:off x="548640" y="51389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CREATIVE HUB (مطالعه)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2377440" cy="347472"/>
          </a:xfrm>
          <a:prstGeom prst="rect">
            <a:avLst/>
          </a:prstGeom>
          <a:solidFill>
            <a:srgbClr val="9B7FBF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0" name="Text 28"/>
          <p:cNvSpPr txBox="1"/>
          <p:nvPr/>
        </p:nvSpPr>
        <p:spPr>
          <a:xfrm>
            <a:off x="548640" y="5486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736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باشگاه CU SPORT (زیرزمین)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3017520" y="5212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690" i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مطالعه بالای تمرین — نسخه‌ای کوچک از «آموزش روی ورزش» در APSC.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5212080" y="12801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ورزشی 32 × 22 m — تطبیق با استاندارد (با مقیاس)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212080" y="1783080"/>
            <a:ext cx="3803904" cy="2615184"/>
          </a:xfrm>
          <a:prstGeom prst="rect">
            <a:avLst/>
          </a:prstGeom>
          <a:solidFill>
            <a:srgbClr val="5BAA6A">
              <a:alpha val="20000"/>
            </a:srgbClr>
          </a:solidFill>
          <a:ln w="1905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4" name="Shape 32"/>
          <p:cNvSpPr/>
          <p:nvPr/>
        </p:nvSpPr>
        <p:spPr>
          <a:xfrm>
            <a:off x="5212080" y="1961388"/>
            <a:ext cx="3803904" cy="2258568"/>
          </a:xfrm>
          <a:prstGeom prst="rect">
            <a:avLst/>
          </a:prstGeom>
          <a:ln w="9525">
            <a:solidFill>
              <a:srgbClr val="6B6B6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35" name="Shape 33"/>
          <p:cNvSpPr/>
          <p:nvPr/>
        </p:nvSpPr>
        <p:spPr>
          <a:xfrm>
            <a:off x="5449824" y="2199132"/>
            <a:ext cx="3328416" cy="1783080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6" name="Shape 34"/>
          <p:cNvSpPr/>
          <p:nvPr/>
        </p:nvSpPr>
        <p:spPr>
          <a:xfrm>
            <a:off x="5687568" y="2199132"/>
            <a:ext cx="2852928" cy="1783080"/>
          </a:xfrm>
          <a:prstGeom prst="rect">
            <a:avLst/>
          </a:prstGeom>
          <a:ln w="9525">
            <a:solidFill>
              <a:srgbClr val="D9472B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37" name="Shape 35"/>
          <p:cNvSpPr/>
          <p:nvPr/>
        </p:nvSpPr>
        <p:spPr>
          <a:xfrm>
            <a:off x="5212080" y="1600200"/>
            <a:ext cx="3803904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8" name="Shape 36"/>
          <p:cNvSpPr/>
          <p:nvPr/>
        </p:nvSpPr>
        <p:spPr>
          <a:xfrm flipV="1">
            <a:off x="5166360" y="15544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9" name="Shape 37"/>
          <p:cNvSpPr/>
          <p:nvPr/>
        </p:nvSpPr>
        <p:spPr>
          <a:xfrm flipV="1">
            <a:off x="8970264" y="15544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0" name="Shape 38"/>
          <p:cNvSpPr/>
          <p:nvPr/>
        </p:nvSpPr>
        <p:spPr>
          <a:xfrm>
            <a:off x="5212080" y="151790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1" name="Shape 39"/>
          <p:cNvSpPr/>
          <p:nvPr/>
        </p:nvSpPr>
        <p:spPr>
          <a:xfrm>
            <a:off x="9015984" y="151790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2" name="Text 40"/>
          <p:cNvSpPr txBox="1"/>
          <p:nvPr/>
        </p:nvSpPr>
        <p:spPr>
          <a:xfrm>
            <a:off x="6199632" y="1399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fa-IR" sz="82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32 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198864" y="1783080"/>
            <a:ext cx="91" cy="2615184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4" name="Shape 42"/>
          <p:cNvSpPr/>
          <p:nvPr/>
        </p:nvSpPr>
        <p:spPr>
          <a:xfrm flipV="1">
            <a:off x="9153144" y="173736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5" name="Shape 43"/>
          <p:cNvSpPr/>
          <p:nvPr/>
        </p:nvSpPr>
        <p:spPr>
          <a:xfrm flipV="1">
            <a:off x="9153144" y="4352544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6" name="Shape 44"/>
          <p:cNvSpPr/>
          <p:nvPr/>
        </p:nvSpPr>
        <p:spPr>
          <a:xfrm>
            <a:off x="9116568" y="178308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7" name="Shape 45"/>
          <p:cNvSpPr/>
          <p:nvPr/>
        </p:nvSpPr>
        <p:spPr>
          <a:xfrm>
            <a:off x="9116568" y="4398264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8" name="Text 46"/>
          <p:cNvSpPr txBox="1"/>
          <p:nvPr/>
        </p:nvSpPr>
        <p:spPr>
          <a:xfrm>
            <a:off x="9253728" y="29992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a-IR" sz="828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22 m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5212080" y="448970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— بسکتبال 28 × 15 + نوار 2 m = 32 × 19 m ← دقیقاً در طول جا می‌شود</a:t>
            </a:r>
            <a:endParaRPr lang="en-US" sz="750" dirty="0"/>
          </a:p>
          <a:p>
            <a:pPr indent="0" marL="0" rtl="1" algn="r">
              <a:buNone/>
            </a:pPr>
            <a:r>
              <a:rPr lang="fa-IR" sz="69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- - والیبال 18 × 9 + 3 m = 24 × 15 m ← جا می‌شود؛ رسمی FIVB (31 × 19 m) در پلان جا می‌شود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212080" y="5084064"/>
            <a:ext cx="2296973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472B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1" name="Text 49"/>
          <p:cNvSpPr txBox="1"/>
          <p:nvPr/>
        </p:nvSpPr>
        <p:spPr>
          <a:xfrm>
            <a:off x="5212080" y="5097780"/>
            <a:ext cx="22969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محاسبه از مقادیر مستند</a:t>
            </a:r>
            <a:endParaRPr lang="en-US" sz="650" dirty="0"/>
          </a:p>
        </p:txBody>
      </p:sp>
      <p:sp>
        <p:nvSpPr>
          <p:cNvPr id="52" name="Text 50"/>
          <p:cNvSpPr txBox="1"/>
          <p:nvPr/>
        </p:nvSpPr>
        <p:spPr>
          <a:xfrm>
            <a:off x="5212080" y="53126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ارتفاع آزاد سالن: تأیید نشده ← کاربری رسمی FIVB (12.5 m) قابل تأیید نیست.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9692640" y="1280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هم‌جواری (برنامه)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692640" y="1600200"/>
            <a:ext cx="2011680" cy="384048"/>
          </a:xfrm>
          <a:prstGeom prst="rect">
            <a:avLst/>
          </a:prstGeom>
          <a:solidFill>
            <a:srgbClr val="F2B134">
              <a:alpha val="5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5" name="Text 53"/>
          <p:cNvSpPr txBox="1"/>
          <p:nvPr/>
        </p:nvSpPr>
        <p:spPr>
          <a:xfrm>
            <a:off x="9692640" y="1600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 / اداری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0698480" y="1984248"/>
            <a:ext cx="91" cy="27432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57" name="Shape 55"/>
          <p:cNvSpPr/>
          <p:nvPr/>
        </p:nvSpPr>
        <p:spPr>
          <a:xfrm>
            <a:off x="9692640" y="2258568"/>
            <a:ext cx="2011680" cy="384048"/>
          </a:xfrm>
          <a:prstGeom prst="rect">
            <a:avLst/>
          </a:prstGeom>
          <a:solidFill>
            <a:srgbClr val="6FA8DC">
              <a:alpha val="5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8" name="Text 56"/>
          <p:cNvSpPr txBox="1"/>
          <p:nvPr/>
        </p:nvSpPr>
        <p:spPr>
          <a:xfrm>
            <a:off x="9692640" y="22585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بلوک‌های آموزشی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0698480" y="2642616"/>
            <a:ext cx="91" cy="274320"/>
          </a:xfrm>
          <a:prstGeom prst="line">
            <a:avLst/>
          </a:prstGeom>
          <a:noFill/>
          <a:ln w="15875">
            <a:solidFill>
              <a:srgbClr val="1A1A1A"/>
            </a:solidFill>
            <a:prstDash val="dash"/>
            <a:tailEnd type="triangle"/>
          </a:ln>
        </p:spPr>
        <p:txBody>
          <a:bodyPr/>
          <a:p>
            <a:pPr/>
          </a:p>
        </p:txBody>
      </p:sp>
      <p:sp>
        <p:nvSpPr>
          <p:cNvPr id="60" name="Shape 58"/>
          <p:cNvSpPr/>
          <p:nvPr/>
        </p:nvSpPr>
        <p:spPr>
          <a:xfrm>
            <a:off x="9692640" y="2916936"/>
            <a:ext cx="2011680" cy="384048"/>
          </a:xfrm>
          <a:prstGeom prst="rect">
            <a:avLst/>
          </a:prstGeom>
          <a:solidFill>
            <a:srgbClr val="9B7FBF">
              <a:alpha val="55000"/>
            </a:srgbClr>
          </a:solidFill>
          <a:ln w="9525">
            <a:solidFill>
              <a:srgbClr val="1A1A1A"/>
            </a:solidFill>
            <a:prstDash val="dash"/>
          </a:ln>
        </p:spPr>
        <p:txBody>
          <a:bodyPr/>
          <a:p>
            <a:pPr/>
          </a:p>
        </p:txBody>
      </p:sp>
      <p:sp>
        <p:nvSpPr>
          <p:cNvPr id="61" name="Text 59"/>
          <p:cNvSpPr txBox="1"/>
          <p:nvPr/>
        </p:nvSpPr>
        <p:spPr>
          <a:xfrm>
            <a:off x="9692640" y="29169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رختکن ؟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0698480" y="3300984"/>
            <a:ext cx="91" cy="274320"/>
          </a:xfrm>
          <a:prstGeom prst="line">
            <a:avLst/>
          </a:prstGeom>
          <a:noFill/>
          <a:ln w="15875">
            <a:solidFill>
              <a:srgbClr val="1A1A1A"/>
            </a:solidFill>
            <a:prstDash val="dash"/>
            <a:tailEnd type="triangle"/>
          </a:ln>
        </p:spPr>
        <p:txBody>
          <a:bodyPr/>
          <a:p>
            <a:pPr/>
          </a:p>
        </p:txBody>
      </p:sp>
      <p:sp>
        <p:nvSpPr>
          <p:cNvPr id="63" name="Shape 61"/>
          <p:cNvSpPr/>
          <p:nvPr/>
        </p:nvSpPr>
        <p:spPr>
          <a:xfrm>
            <a:off x="9692640" y="3575304"/>
            <a:ext cx="2011680" cy="384048"/>
          </a:xfrm>
          <a:prstGeom prst="rect">
            <a:avLst/>
          </a:prstGeom>
          <a:solidFill>
            <a:srgbClr val="5BAA6A">
              <a:alpha val="5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4" name="Text 62"/>
          <p:cNvSpPr txBox="1"/>
          <p:nvPr/>
        </p:nvSpPr>
        <p:spPr>
          <a:xfrm>
            <a:off x="9692640" y="35753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· باشگاه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0698480" y="3959352"/>
            <a:ext cx="91" cy="27432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  <p:txBody>
          <a:bodyPr/>
          <a:p>
            <a:pPr/>
          </a:p>
        </p:txBody>
      </p:sp>
      <p:sp>
        <p:nvSpPr>
          <p:cNvPr id="66" name="Shape 64"/>
          <p:cNvSpPr/>
          <p:nvPr/>
        </p:nvSpPr>
        <p:spPr>
          <a:xfrm>
            <a:off x="9692640" y="4233672"/>
            <a:ext cx="2011680" cy="384048"/>
          </a:xfrm>
          <a:prstGeom prst="rect">
            <a:avLst/>
          </a:prstGeom>
          <a:solidFill>
            <a:srgbClr val="5BAA6A">
              <a:alpha val="55000"/>
            </a:srgbClr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7" name="Text 65"/>
          <p:cNvSpPr txBox="1"/>
          <p:nvPr/>
        </p:nvSpPr>
        <p:spPr>
          <a:xfrm>
            <a:off x="9692640" y="4233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rtl="1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ورزشگاه · زمین‌ها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9692640" y="4937760"/>
            <a:ext cx="1227125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9" name="Text 67"/>
          <p:cNvSpPr txBox="1"/>
          <p:nvPr/>
        </p:nvSpPr>
        <p:spPr>
          <a:xfrm>
            <a:off x="9692640" y="4951476"/>
            <a:ext cx="1227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تفسیر</a:t>
            </a:r>
            <a:endParaRPr lang="en-US" sz="650" dirty="0"/>
          </a:p>
        </p:txBody>
      </p:sp>
      <p:sp>
        <p:nvSpPr>
          <p:cNvPr id="70" name="Text 68"/>
          <p:cNvSpPr txBox="1"/>
          <p:nvPr/>
        </p:nvSpPr>
        <p:spPr>
          <a:xfrm>
            <a:off x="9692640" y="518464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خط‌چین = رابطه‌ای که بدون نقشه قابل تأیید نیست (محل رختکن‌ها، مسیرهای بین بلوک‌ها و فضاهای باز).</a:t>
            </a:r>
            <a:endParaRPr lang="en-US" sz="750" dirty="0"/>
          </a:p>
        </p:txBody>
      </p:sp>
      <p:sp>
        <p:nvSpPr>
          <p:cNvPr id="71" name="Text 69"/>
          <p:cNvSpPr txBox="1"/>
          <p:nvPr/>
        </p:nvSpPr>
        <p:spPr>
          <a:xfrm>
            <a:off x="548640" y="59436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iscus.cz — Haly sportovního centra UK Veleslavín (#19361) و Stadion a venkovní hřiště (#19360)؛ ftvs.cuni.cz — امکانات ورزشی، «CU SPORT Gym». مقادیر زمین: FIBA OBR 2024 ماده 2؛ FIVB قانون 1.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نمونه‌ی ۰۲ — گردش، مقطع + اصول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چه می‌توان آموخت — و پیش از تحلیل بیشتر چه باید به دست آورد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20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 مستندات موجود تأیید نشد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120640" cy="4114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p>
            <a:pPr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پلان‌ها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چیدمان اتاق‌ها، ورودی‌ها، هسته‌ها، محل رختکن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5120640" cy="4114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p>
            <a:pPr/>
          </a:p>
        </p:txBody>
      </p:sp>
      <p:sp>
        <p:nvSpPr>
          <p:cNvPr id="9" name="Text 7"/>
          <p:cNvSpPr txBox="1"/>
          <p:nvPr/>
        </p:nvSpPr>
        <p:spPr>
          <a:xfrm>
            <a:off x="68580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مقاطع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ارتفاع آزاد سالن، چیدمان عمودی، عمق باشگاه زیرزمینی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5120640" cy="4114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p>
            <a:pPr/>
          </a:p>
        </p:txBody>
      </p:sp>
      <p:sp>
        <p:nvSpPr>
          <p:cNvPr id="12" name="Text 10"/>
          <p:cNvSpPr txBox="1"/>
          <p:nvPr/>
        </p:nvSpPr>
        <p:spPr>
          <a:xfrm>
            <a:off x="685800" y="2670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گردش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مسیرهای بین بلوک‌ها، سالن و ورزشگاه؛ جداسازی ورزشکار و عموم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3072384"/>
            <a:ext cx="5120640" cy="4114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p>
            <a:pPr/>
          </a:p>
        </p:txBody>
      </p:sp>
      <p:sp>
        <p:nvSpPr>
          <p:cNvPr id="15" name="Text 13"/>
          <p:cNvSpPr txBox="1"/>
          <p:nvPr/>
        </p:nvSpPr>
        <p:spPr>
          <a:xfrm>
            <a:off x="685800" y="31455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سازه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965960" y="3145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شبکه، دهانه و سیستم سقف سالن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547872"/>
            <a:ext cx="5120640" cy="4114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p>
            <a:pPr/>
          </a:p>
        </p:txBody>
      </p:sp>
      <p:sp>
        <p:nvSpPr>
          <p:cNvPr id="18" name="Text 16"/>
          <p:cNvSpPr txBox="1"/>
          <p:nvPr/>
        </p:nvSpPr>
        <p:spPr>
          <a:xfrm>
            <a:off x="685800" y="36210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>
              <a:buNone/>
            </a:pPr>
            <a:r>
              <a:rPr lang="fa-IR" sz="828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محیط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3621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جهت‌گیری، نور روز، راهبرد تهویه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160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b="1" kern="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راه رفع کمبود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07408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درخواست نقشه از واحد مدیریت ساختمان دانشکده (FTVS UK).</a:t>
            </a:r>
            <a:endParaRPr lang="en-US" sz="85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بایگانی ساختمانی پراگ ۶ — نقشه‌های پروانه‌ی ساختمان José Martího 31.</a:t>
            </a:r>
            <a:endParaRPr lang="en-US" sz="850" dirty="0"/>
          </a:p>
          <a:p>
            <a:pPr marL="342900" indent="-342900" rtl="1" algn="r">
              <a:spcAft>
                <a:spcPts val="400"/>
              </a:spcAft>
              <a:buSzPct val="100000"/>
              <a:buChar char="•"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بازدید میدانی: عکاسی از ورودی‌ها، رختکن‌ها، مقطع سالن؛ اندازه‌گیری گامی فواصل.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1280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2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اصول قابل استخراج (سطح برنامه)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1691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656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01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16916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2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پردیسی از اجزا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1965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بلوک‌های آموزشی + سالن جدا + ورزشگاه باز: هر عنصر ورزشی با استاندارد خودش (سالن دقیقاً زمین FIBA + نوار را جا می‌دهد).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26791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656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02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26791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2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 باز به‌صورت زمین، نه بام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29535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زمین 100 × 65 m با پیست 400 m به زمین نیاز دارد — برخلاف راهبرد عمودی APSC.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36667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656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03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720840" y="36667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2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استفاده‌ی مجدد تطبیقی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39410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دانشکده‌ای متقارن از دهه‌ی ۱۹۵۰ که برای آموزش ورزش بازبرنامه‌ریزی شده؛ نوسازی به‌تفکیک بلوک‌ها (A–H).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126480" y="46542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656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04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465429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92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تمرین زیر مطالعه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720840" y="49286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باشگاه زیرزمینی زیر مرکز مطالعه در بلوک H — اختلاط عمودی در مقیاس کوچک.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26480" y="5669280"/>
            <a:ext cx="251094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6" name="Text 34"/>
          <p:cNvSpPr txBox="1"/>
          <p:nvPr/>
        </p:nvSpPr>
        <p:spPr>
          <a:xfrm>
            <a:off x="6126480" y="5682996"/>
            <a:ext cx="251094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rtl="1">
              <a:buNone/>
            </a:pPr>
            <a:r>
              <a:rPr lang="fa-IR" sz="598" b="1" kern="0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تفسیر واقعیت‌های تأییدشده</a:t>
            </a:r>
            <a:endParaRPr lang="en-US" sz="6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035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منبع  </a:t>
            </a:r>
            <a:pPr indent="0" marL="0">
              <a:buNone/>
            </a:pPr>
            <a:r>
              <a:rPr lang="fa-IR" sz="690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همانند دو اسلاید قبل.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تحلیل تطبیقی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فشرده‌سازی عمودی در برابر پردیس افقی — دو پاسخ به یک برنامه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155680" cy="914400"/>
        </p:xfrm>
        <a:graphic>
          <a:graphicData uri="http://schemas.openxmlformats.org/drawingml/2006/table">
            <a:tbl>
              <a:tblPr rtl="1"/>
              <a:tblGrid>
                <a:gridCol w="1828800"/>
                <a:gridCol w="4663440"/>
                <a:gridCol w="4663440"/>
              </a:tblGrid>
              <a:tr h="329184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موضوع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مرکز آنا پائو سومن (شانگهای)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FTVS دانشگاه چارلز (پراگ)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سازمان سایت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میان‌افزای فشرده بین چمن و زمین؛ آزادسازی زمین با بلند کردن ساختمان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پردیس حومه‌ای؛ ساختمان‌ها + زمین ورزشی باز جداگانه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ورودی اصلی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از چمن به لابی اجتماعات (سایت پلان)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D9472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تأیید نشده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پهنه‌بندی عملکردی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عمودی: ورزش خیس پایین، ورزش خشک بالا، آموزش پیرامون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افقی (تفسیر): بلوک‌های آموزشی، سالن و ورزشگاه به‌صورت اجزای جدا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عمومی / خصوصی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ارتفاع + عمق + توالی؛ لابی = تنها آستانه‌ی عمومی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D9472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بدون نقشه قابل تأیید نیست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گردش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یک هسته‌ی عمومی + حلقه‌ی آتریوم؛ پله‌ها به‌عنوان نشیمن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بین بلوک‌ها و فضای باز — تأیید نشده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فضاهای ورزشی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استخر، سالن، تنیس روی میز، زمین بام — روی هم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سالن 32 × 22 m، اتاق‌های بدنسازی، ورزشگاه 100 × 65 m + پیست، زمین‌ها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فضاهای آموزشی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کلاس‌ها و آتلیه‌های STEAM در امتداد نماها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آموزش در بلوک‌های A–H تغییرکاربری‌یافته از دهه‌ی ۱۹۵۰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فضاهای اجتماعی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لابی، نیم‌طبقه، آتریوم، حیاط، سکوهای بام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سالن مطالعه Creative Hub (بلوک H)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فضاهای خدماتی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تأسیسات زیرزمین، نوار تأسیسات شمالی، خورشیدی روی بام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D9472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تأیید نشده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درون / بیرون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زیر، درون و روی ساختمان (زمین، حیاط، بام)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ورزش باز هم‌تراز زمین کنار ساختمان‌ها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منطق سازه‌ای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دهانه‌های بلند روی هم + ستون‌های مایل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D9472B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تأیید نشده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b="1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راهبرد اصلی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فشرده‌سازی و روی‌هم‌چینی ← بیشینه کردن زمین باز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 rtl="1" algn="r">
                        <a:buNone/>
                      </a:pPr>
                      <a:r>
                        <a:rPr lang="fa-IR" sz="782" dirty="0">
                          <a:solidFill>
                            <a:srgbClr val="1A1A1A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پراکنده‌سازی و استفاده‌ی مجدد ← پردیس متکی بر زمین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97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i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رتبه‌بندی نیست: APSC نشان می‌دهد چطور برنامه‌ی ورزش–آموزش را روی زمین کم جا داد؛ FTVS نشان می‌دهد یک دانشکده‌ی کامل با دوومیدانی در فضای باز واقعاً چه زمین و ساختمانی لازم دارد.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درس‌های طراحی برای دانشکده تربیت بدنی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دوازده اصل قابل انتقال — نه کپی هیچ‌کدام از دو ساختمان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611880" cy="1097280"/>
          </a:xfrm>
          <a:prstGeom prst="rect">
            <a:avLst/>
          </a:prstGeom>
          <a:solidFill>
            <a:srgbClr val="F3F3F3"/>
          </a:solidFill>
          <a:ln w="6350">
            <a:solidFill>
              <a:srgbClr val="BDBDBD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" name="Text 3"/>
          <p:cNvSpPr txBox="1"/>
          <p:nvPr/>
        </p:nvSpPr>
        <p:spPr>
          <a:xfrm>
            <a:off x="658368" y="1353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10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71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پهنه‌بندی عملکردی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60934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مقطع هم مانند پلان پهنه‌بندی کنید: ورزش خیس + تأسیسات پایین، سالن‌های خشک بالا، آموزش در پیرامون نورگیر.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1488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598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از: APSC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315968" y="1280160"/>
            <a:ext cx="36118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0" name="Text 8"/>
          <p:cNvSpPr txBox="1"/>
          <p:nvPr/>
        </p:nvSpPr>
        <p:spPr>
          <a:xfrm>
            <a:off x="4425696" y="1353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10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1371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آموزش ⇄ ورزش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60934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سالن‌ها را با فضاهای آموزشی که به داخل دید دارند (جداره‌ی شیشه‌ای) ولی از نظر آکوستیک جدا هستند احاطه کنید.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21488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598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از: APSC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8083296" y="1280160"/>
            <a:ext cx="3611880" cy="1097280"/>
          </a:xfrm>
          <a:prstGeom prst="rect">
            <a:avLst/>
          </a:prstGeom>
          <a:solidFill>
            <a:srgbClr val="F3F3F3"/>
          </a:solidFill>
          <a:ln w="6350">
            <a:solidFill>
              <a:srgbClr val="BDBDBD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15" name="Text 13"/>
          <p:cNvSpPr txBox="1"/>
          <p:nvPr/>
        </p:nvSpPr>
        <p:spPr>
          <a:xfrm>
            <a:off x="8193024" y="1353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10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31936" y="1371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فضای اجتماعی دانشجو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631936" y="160934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لابی/آتریوم را هسته‌ی اجتماعی کنید: پله‌ی نشیمن، نیم‌طبقه، حیاط.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8631936" y="21488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598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از: APSC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548640" y="2496312"/>
            <a:ext cx="36118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0" name="Text 18"/>
          <p:cNvSpPr txBox="1"/>
          <p:nvPr/>
        </p:nvSpPr>
        <p:spPr>
          <a:xfrm>
            <a:off x="658368" y="2569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10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25877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گردش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282549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یک ستون فقرات عمومی خوانا + پله/آسانسور جداگانه‌ی پشتی برای خدمات و کارکنان.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3649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598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از: APSC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315968" y="2496312"/>
            <a:ext cx="3611880" cy="1097280"/>
          </a:xfrm>
          <a:prstGeom prst="rect">
            <a:avLst/>
          </a:prstGeom>
          <a:solidFill>
            <a:srgbClr val="F3F3F3"/>
          </a:solidFill>
          <a:ln w="6350">
            <a:solidFill>
              <a:srgbClr val="BDBDBD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25" name="Text 23"/>
          <p:cNvSpPr txBox="1"/>
          <p:nvPr/>
        </p:nvSpPr>
        <p:spPr>
          <a:xfrm>
            <a:off x="4425696" y="2569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10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864608" y="25877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جداسازی تماشاگر / کاربر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864608" y="282549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تماشاگران از لابی و جایگاه؛ ورزشکاران از رختکن‌هایی که مستقیم به زمین باز می‌شوند.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864608" y="33649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598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از: APSC + استانداردها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8083296" y="2496312"/>
            <a:ext cx="36118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0" name="Text 28"/>
          <p:cNvSpPr txBox="1"/>
          <p:nvPr/>
        </p:nvSpPr>
        <p:spPr>
          <a:xfrm>
            <a:off x="8193024" y="2569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10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631936" y="25877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رختکن‌ها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8631936" y="282549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آن‌ها را بین ورودی و هر زمین/استخر قرار دهید: سرسرا ← رختکن ← ورزش؛ خیس هرگز با خشک تلاقی نکند.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8631936" y="33649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598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از: APSC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548640" y="3712464"/>
            <a:ext cx="3611880" cy="1097280"/>
          </a:xfrm>
          <a:prstGeom prst="rect">
            <a:avLst/>
          </a:prstGeom>
          <a:solidFill>
            <a:srgbClr val="F3F3F3"/>
          </a:solidFill>
          <a:ln w="6350">
            <a:solidFill>
              <a:srgbClr val="BDBDBD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35" name="Text 33"/>
          <p:cNvSpPr txBox="1"/>
          <p:nvPr/>
        </p:nvSpPr>
        <p:spPr>
          <a:xfrm>
            <a:off x="658368" y="37856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10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97280" y="38039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هم‌جواری سالن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1097280" y="404164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سالن ⇄ رختکن ⇄ انبار هم‌تراز؛ حداقل ابعاد سالن 32 × 19 m طبق FIBA.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1097280" y="45811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598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از: FTVS + FIBA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315968" y="3712464"/>
            <a:ext cx="36118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0" name="Text 38"/>
          <p:cNvSpPr txBox="1"/>
          <p:nvPr/>
        </p:nvSpPr>
        <p:spPr>
          <a:xfrm>
            <a:off x="4425696" y="37856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10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08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864608" y="38039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دسترسی خدماتی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4864608" y="404164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تأسیسات و انبار در پشت یا زیر؛ حیاط خدماتی دور از جبهه‌ی عمومی.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4864608" y="45811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598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از: APSC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8083296" y="3712464"/>
            <a:ext cx="3611880" cy="1097280"/>
          </a:xfrm>
          <a:prstGeom prst="rect">
            <a:avLst/>
          </a:prstGeom>
          <a:solidFill>
            <a:srgbClr val="F3F3F3"/>
          </a:solidFill>
          <a:ln w="6350">
            <a:solidFill>
              <a:srgbClr val="BDBDBD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45" name="Text 43"/>
          <p:cNvSpPr txBox="1"/>
          <p:nvPr/>
        </p:nvSpPr>
        <p:spPr>
          <a:xfrm>
            <a:off x="8193024" y="37856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10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09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8631936" y="38039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ورزش در فضای باز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8631936" y="404164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اگر دوومیدانی تدریس می‌شود، زمین برای پیست 400 m و زمین چمن کنار بگذارید؛ در غیر این صورت از بام/زیر ساختمان استفاده کنید.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8631936" y="45811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598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از: FTVS در برابر APSC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548640" y="4928616"/>
            <a:ext cx="36118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0" name="Text 48"/>
          <p:cNvSpPr txBox="1"/>
          <p:nvPr/>
        </p:nvSpPr>
        <p:spPr>
          <a:xfrm>
            <a:off x="658368" y="5001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10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10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097280" y="50200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عمومی / خصوصی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1097280" y="52578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کنترل را با ارتفاع و عمق درجه‌بندی کنید؛ همکف را برای رویدادها باز بگذارید.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1097280" y="57972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598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از: APSC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4315968" y="4928616"/>
            <a:ext cx="3611880" cy="1097280"/>
          </a:xfrm>
          <a:prstGeom prst="rect">
            <a:avLst/>
          </a:prstGeom>
          <a:solidFill>
            <a:srgbClr val="F3F3F3"/>
          </a:solidFill>
          <a:ln w="6350">
            <a:solidFill>
              <a:srgbClr val="BDBDBD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55" name="Text 53"/>
          <p:cNvSpPr txBox="1"/>
          <p:nvPr/>
        </p:nvSpPr>
        <p:spPr>
          <a:xfrm>
            <a:off x="4425696" y="5001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10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11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4864608" y="50200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حیاط‌ها + منظر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4864608" y="52578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طبقات بالا حیاط ایجاد کنید تا پلان‌های عمیق نور بگیرند و اتاق‌های باز آرام فراهم شود.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4864608" y="57972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598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از: APSC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8083296" y="4928616"/>
            <a:ext cx="36118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  <p:txBody>
          <a:bodyPr/>
          <a:p>
            <a:pPr/>
          </a:p>
        </p:txBody>
      </p:sp>
      <p:sp>
        <p:nvSpPr>
          <p:cNvPr id="60" name="Text 58"/>
          <p:cNvSpPr txBox="1"/>
          <p:nvPr/>
        </p:nvSpPr>
        <p:spPr>
          <a:xfrm>
            <a:off x="8193024" y="5001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1104" b="1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12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8631936" y="50200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b="1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انعطاف‌پذیر + دهانه‌ی بزرگ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8631936" y="52578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36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دهانه‌های بلند را روی یک سطح اشغال بچینید؛ سالن‌های چندزمینه؛ هرجا ممکن است ساختمان موجود را بازاستفاده کنید.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8631936" y="57972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598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از: APSC + FTVS</a:t>
            </a:r>
            <a:endParaRPr lang="en-US" sz="650" dirty="0"/>
          </a:p>
        </p:txBody>
      </p:sp>
      <p:sp>
        <p:nvSpPr>
          <p:cNvPr id="64" name="Text 62"/>
          <p:cNvSpPr txBox="1"/>
          <p:nvPr/>
        </p:nvSpPr>
        <p:spPr>
          <a:xfrm>
            <a:off x="548640" y="621792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690" i="1" dirty="0">
                <a:solidFill>
                  <a:srgbClr val="6B6B6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همه‌ی درس‌ها تفسیر معمارانه‌ی پلان‌ها، مقاطع و واقعیت‌های تأییدشده‌اند؛ قواعد ابعادی از مطالعه‌ی استانداردها آمده است (FIBA / FIVB / Sport England / مقررات ملی ساختمان).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/>
                <a:ea typeface="Vazirmatn"/>
                <a:cs typeface="Vazirmatn"/>
              </a:rPr>
              <a:t>منابع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 rtl="1">
              <a:buNone/>
            </a:pPr>
            <a:r>
              <a:rPr lang="fa-IR" sz="2024" b="1" dirty="0">
                <a:solidFill>
                  <a:srgbClr val="1A1A1A"/>
                </a:solidFill>
                <a:latin typeface="Vazirmatn"/>
                <a:ea typeface="Vazirmatn"/>
                <a:cs typeface="Vazirmatn"/>
              </a:rPr>
              <a:t>منابع به‌کاررفته در تحلیل نمونه‌ها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نمونه‌ی ۰۱ — مرکز آنا پائو سومن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مجموعه‌ی نقشه و عکس بارگذاری‌شده (PDF، ۶۴ صفحه): پلان‌های همکف، ۲، ۳، ۴، بام، زیرزمین؛ مقاطع؛ اکسونومتریک‌ها؛ سایت پلان — Scenic Architecture Office.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ArchDaily — Anna Pao Sohmen Centre at YK Pao School / Scenic Architecture Office (2025).</a:t>
            </a:r>
            <a:endParaRPr lang="en-US" sz="850" dirty="0"/>
          </a:p>
          <a:p>
            <a:pPr indent="0" marL="0">
              <a:buNone/>
            </a:pPr>
            <a:r>
              <a:rPr lang="fa-IR" sz="644" u="sng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https://www.archdaily.com/1041795/anna-pao-sohmen-centre-at-yk-pao-school-scenic-architecture-office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gooood — Anna Pao Sohmen Centre at Shanghai YK Pao School by Scenic Architecture Office.</a:t>
            </a:r>
            <a:endParaRPr lang="en-US" sz="850" dirty="0"/>
          </a:p>
          <a:p>
            <a:pPr indent="0" marL="0">
              <a:buNone/>
            </a:pPr>
            <a:r>
              <a:rPr lang="fa-IR" sz="644" u="sng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https://www.gooood.cn/anna-pao-sohmen-centre-at-shanghai-yk-pao-school-by-scenic-architecture-office.htm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243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نمونه‌ی ۰۲ — FTVS، دانشگاه چارلز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986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FTVS UK — صفحات تماس / دانشکده؛ امکانات ورزشی؛ باشگاه CU SPORT.</a:t>
            </a:r>
            <a:endParaRPr lang="en-US" sz="850" dirty="0"/>
          </a:p>
          <a:p>
            <a:pPr indent="0" marL="0" algn="r">
              <a:buNone/>
            </a:pPr>
            <a:r>
              <a:rPr lang="fa-IR" sz="644" u="sng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https://www.ftvs.cuni.cz/en/faculty/contacts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644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iscus.cz — Haly sportovního centra UK Veleslavín (#19361).</a:t>
            </a:r>
            <a:endParaRPr lang="en-US" sz="850" dirty="0"/>
          </a:p>
          <a:p>
            <a:pPr indent="0" marL="0">
              <a:buNone/>
            </a:pPr>
            <a:r>
              <a:rPr lang="fa-IR" sz="644" u="sng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https://iscus.cz/kraje/praha/pasport/19361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301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iscus.cz — Stadion a venkovní hřiště sportovního centra UK Veleslavín (#19360).</a:t>
            </a:r>
            <a:endParaRPr lang="en-US" sz="850" dirty="0"/>
          </a:p>
          <a:p>
            <a:pPr indent="0" marL="0">
              <a:buNone/>
            </a:pPr>
            <a:r>
              <a:rPr lang="fa-IR" sz="644" u="sng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https://iscus.cz/kraje/praha/pasport/19360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959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Wikipedia (cs) — Vysoká škola politická ÚV KSČ; Fakulta tělesné výchovy a sportu UK.</a:t>
            </a:r>
            <a:endParaRPr lang="en-US" sz="850" dirty="0"/>
          </a:p>
          <a:p>
            <a:pPr indent="0" marL="0">
              <a:buNone/>
            </a:pPr>
            <a:r>
              <a:rPr lang="fa-IR" sz="644" u="sng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https://cs.wikipedia.org/wiki/Fakulta_t%C4%9Blesn%C3%A9_v%C3%BDchovy_a_sportu_Univerzity_Karlovy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61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SlavneVily.cz — Škola ve Veleslavíně (Stavby Prahy 6).</a:t>
            </a:r>
            <a:endParaRPr lang="en-US" sz="850" dirty="0"/>
          </a:p>
          <a:p>
            <a:pPr indent="0" marL="0">
              <a:buNone/>
            </a:pPr>
            <a:r>
              <a:rPr lang="fa-IR" sz="644" u="sng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https://www.slavnevily.cz/stavby-/-unesco/stavby-prahy-6/skola-ve-veleslavine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27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مناقصه‌های دانشگاه چارلز — نوسازی بلوک‌های FTVS.</a:t>
            </a:r>
            <a:endParaRPr lang="en-US" sz="850" dirty="0"/>
          </a:p>
          <a:p>
            <a:pPr indent="0" marL="0" algn="r">
              <a:buNone/>
            </a:pPr>
            <a:r>
              <a:rPr lang="fa-IR" sz="644" u="sng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https://zakazky.cuni.cz/contract_display_7294.html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0293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828" b="1" kern="0" dirty="0">
                <a:solidFill>
                  <a:srgbClr val="D9472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استانداردهای به‌کاررفته برای کنترل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7725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FIBA Official Basketball Rules 2024.</a:t>
            </a:r>
            <a:endParaRPr lang="en-US" sz="850" dirty="0"/>
          </a:p>
          <a:p>
            <a:pPr indent="0" marL="0">
              <a:buNone/>
            </a:pPr>
            <a:r>
              <a:rPr lang="fa-IR" sz="644" u="sng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https://assets.fiba.basketball/image/upload/documents-corporate-fiba-official-rules-2024-v10a.pdf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84301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rtl="1" algn="r">
              <a:buNone/>
            </a:pPr>
            <a:r>
              <a:rPr lang="fa-IR" sz="782" dirty="0">
                <a:solidFill>
                  <a:srgbClr val="1A1A1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FIVB، قوانین رسمی والیبال 2025–2028.</a:t>
            </a:r>
            <a:endParaRPr lang="en-US" sz="850" dirty="0"/>
          </a:p>
          <a:p>
            <a:pPr indent="0" marL="0" algn="r">
              <a:buNone/>
            </a:pPr>
            <a:r>
              <a:rPr lang="fa-IR" sz="644" u="sng" dirty="0">
                <a:solidFill>
                  <a:srgbClr val="2F6FB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https://www.fivb.com/wp-content/uploads/2025/01/FIVB-Volleyball_Rules2025_2028-EN-v05.pdf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itectural Board">
  <a:themeElements>
    <a:clrScheme name="Architectural Board">
      <a:dk1>
        <a:srgbClr val="1A1A1A"/>
      </a:dk1>
      <a:lt1>
        <a:srgbClr val="FFFFFF"/>
      </a:lt1>
      <a:dk2>
        <a:srgbClr val="3A3A3A"/>
      </a:dk2>
      <a:lt2>
        <a:srgbClr val="F3F3F3"/>
      </a:lt2>
      <a:accent1>
        <a:srgbClr val="D9472B"/>
      </a:accent1>
      <a:accent2>
        <a:srgbClr val="6FA8DC"/>
      </a:accent2>
      <a:accent3>
        <a:srgbClr val="5BAA6A"/>
      </a:accent3>
      <a:accent4>
        <a:srgbClr val="F2B134"/>
      </a:accent4>
      <a:accent5>
        <a:srgbClr val="9B7FBF"/>
      </a:accent5>
      <a:accent6>
        <a:srgbClr val="8C8C8C"/>
      </a:accent6>
      <a:hlink>
        <a:srgbClr val="2F6FB5"/>
      </a:hlink>
      <a:folHlink>
        <a:srgbClr val="6B6B6B"/>
      </a:folHlink>
    </a:clrScheme>
    <a:fontScheme name="Architectural Boar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Case-Study Analysis — Anna Pao Sohmen Centre &amp; Charles University FTVS</dc:title>
  <dc:subject>PptxGenJS Presentation</dc:subject>
  <dc:creator>Architecture Studio — Design 4</dc:creator>
  <cp:lastModifiedBy>Architecture Studio — Design 4</cp:lastModifiedBy>
  <cp:revision>1</cp:revision>
  <dcterms:created xsi:type="dcterms:W3CDTF">2026-10-02T13:14:29Z</dcterms:created>
  <dcterms:modified xsi:type="dcterms:W3CDTF">2026-10-02T13:14:29Z</dcterms:modified>
</cp:coreProperties>
</file>