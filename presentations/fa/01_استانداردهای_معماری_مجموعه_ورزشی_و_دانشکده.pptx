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fe7b967-1132-5efd-a4ed-4d288dc0f61b}">
          <p14:sldIdLst>
            <p14:sldId id="256"/>
          </p14:sldIdLst>
        </p14:section>
        <p14:section name="Part 01 — Sports facilities" id="{6bda884f-3255-d5ab-c1b2-2f7602e5d2f5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art 02 — PE Faculty" id="{a8be1102-88f2-583a-8850-ad1f820c6869}">
          <p14:sldIdLst>
            <p14:sldId id="264"/>
            <p14:sldId id="265"/>
            <p14:sldId id="266"/>
            <p14:sldId id="267"/>
          </p14:sldIdLst>
        </p14:section>
        <p14:section name="Part 03 — Comparison + references" id="{490b9e2a-f9db-e559-8f0e-02d31df29f1a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rtl="1" algn="r">
              <a:buNone/>
            </a:pPr>
            <a:r>
              <a:rPr lang="fa-IR" sz="644" kern="0" dirty="0">
                <a:solidFill>
                  <a:srgbClr val="9A9A9A"/>
                </a:solidFill>
                <a:latin typeface="Vazirmatn"/>
                <a:ea typeface="Vazirmatn"/>
                <a:cs typeface="Vazirmatn"/>
              </a:rPr>
              <a:t>طراحی ۴ · استانداردهای معماری مجموعه‌های ورزشی و دانشکده تربیت بدنی</a:t>
            </a:r>
            <a:endParaRPr lang="en-US" sz="7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kern="0" dirty="0">
                <a:solidFill>
                  <a:srgbClr val="D9472B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1A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assets.fiba.basketball/image/upload/documents-corporate-fiba-official-rules-2024-v10a.pdf" TargetMode="External"/><Relationship Id="rId2" Type="http://schemas.openxmlformats.org/officeDocument/2006/relationships/hyperlink" Target="https://www.fivb.com/wp-content/uploads/2025/01/FIVB-Volleyball_Rules2025_2028-EN-v05.pdf" TargetMode="External"/><Relationship Id="rId3" Type="http://schemas.openxmlformats.org/officeDocument/2006/relationships/hyperlink" Target="https://sportengland-production-files.s3.eu-west-2.amazonaws.com/s3fs-public/sports-halls-design-and-layouts-2012.pdf" TargetMode="External"/><Relationship Id="rId4" Type="http://schemas.openxmlformats.org/officeDocument/2006/relationships/hyperlink" Target="https://sportengland-production-files.s3.eu-west-2.amazonaws.com/s3fs-public/accessible-sports-facilities-2010.pdf" TargetMode="External"/><Relationship Id="rId5" Type="http://schemas.openxmlformats.org/officeDocument/2006/relationships/hyperlink" Target="https://sportengland-production-files.s3.eu-west-2.amazonaws.com/s3fs-public/2024-08/AISF-Part-D-Changing-and-toilet-provision.pdf" TargetMode="External"/><Relationship Id="rId6" Type="http://schemas.openxmlformats.org/officeDocument/2006/relationships/hyperlink" Target="https://sgsa.org.uk/document/greenguide/" TargetMode="External"/><Relationship Id="rId7" Type="http://schemas.openxmlformats.org/officeDocument/2006/relationships/hyperlink" Target="https://knowledge.bsigroup.com" TargetMode="External"/><Relationship Id="rId8" Type="http://schemas.openxmlformats.org/officeDocument/2006/relationships/hyperlink" Target="https://www.gov.uk/government/publications/access-to-and-use-of-buildings-approved-document-m" TargetMode="External"/><Relationship Id="rId9" Type="http://schemas.openxmlformats.org/officeDocument/2006/relationships/hyperlink" Target="https://dera.ioe.ac.uk/id/eprint/20283/1/BB103_Area_Guidelines_for_Mainstream_Schools_FINAL_23_4_14.pdf" TargetMode="External"/><Relationship Id="rId10" Type="http://schemas.openxmlformats.org/officeDocument/2006/relationships/hyperlink" Target="https://www.york.ac.uk/media/campusdevelopment/63697_UniofYork%20Space%20Guidelines%20and%20Standards%20v2.pdf" TargetMode="Externa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آتلیه معماری · طراحی ۴ · مطالعه‌ی استانداردها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lnSpc>
                <a:spcPct val="95000"/>
              </a:lnSpc>
              <a:buNone/>
            </a:pPr>
            <a:r>
              <a:rPr lang="fa-IR" sz="276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استانداردهای معماری</a:t>
            </a:r>
            <a:endParaRPr lang="en-US" sz="3000" dirty="0"/>
          </a:p>
          <a:p>
            <a:pPr indent="0" marL="0" rtl="1" algn="r">
              <a:lnSpc>
                <a:spcPct val="95000"/>
              </a:lnSpc>
              <a:buNone/>
            </a:pPr>
            <a:r>
              <a:rPr lang="fa-IR" sz="276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مجموعه‌های ورزشی و</a:t>
            </a:r>
            <a:endParaRPr lang="en-US" sz="3000" dirty="0"/>
          </a:p>
          <a:p>
            <a:pPr indent="0" marL="0" rtl="1" algn="r">
              <a:lnSpc>
                <a:spcPct val="95000"/>
              </a:lnSpc>
              <a:buNone/>
            </a:pPr>
            <a:r>
              <a:rPr lang="fa-IR" sz="276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دانشکده تربیت بدنی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10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 · ابعاد · گردش · پهنه‌بندی — هر استاندارد به‌صورت</a:t>
            </a:r>
            <a:endParaRPr lang="en-US" sz="1200" dirty="0"/>
          </a:p>
          <a:p>
            <a:pPr indent="0" marL="0" rtl="1" algn="r">
              <a:buNone/>
            </a:pPr>
            <a:r>
              <a:rPr lang="fa-IR" sz="110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عدد + تصویر + توضیح + منبع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بخش ۰۱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مجموعه‌های ورزشی — بسکتبال و والیبال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38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بخش ۰۲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دانشکده تربیت بدنی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522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بخش ۰۳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5522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مقایسه‌ی استانداردها + منابع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1600200"/>
            <a:ext cx="3950208" cy="2345436"/>
          </a:xfrm>
          <a:prstGeom prst="rect">
            <a:avLst/>
          </a:prstGeom>
          <a:solidFill>
            <a:srgbClr val="F3F3F3"/>
          </a:solidFill>
          <a:ln w="9525">
            <a:solidFill>
              <a:srgbClr val="BDBDBD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12" name="Shape 10"/>
          <p:cNvSpPr/>
          <p:nvPr/>
        </p:nvSpPr>
        <p:spPr>
          <a:xfrm>
            <a:off x="7699248" y="1847088"/>
            <a:ext cx="3456432" cy="1851660"/>
          </a:xfrm>
          <a:prstGeom prst="rect">
            <a:avLst/>
          </a:prstGeom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Shape 11"/>
          <p:cNvSpPr/>
          <p:nvPr/>
        </p:nvSpPr>
        <p:spPr>
          <a:xfrm>
            <a:off x="9427464" y="1847088"/>
            <a:ext cx="91" cy="18516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Shape 12"/>
          <p:cNvSpPr/>
          <p:nvPr/>
        </p:nvSpPr>
        <p:spPr>
          <a:xfrm>
            <a:off x="9153144" y="2498598"/>
            <a:ext cx="548640" cy="548640"/>
          </a:xfrm>
          <a:prstGeom prst="ellipse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Shape 13"/>
          <p:cNvSpPr/>
          <p:nvPr/>
        </p:nvSpPr>
        <p:spPr>
          <a:xfrm>
            <a:off x="7699248" y="1371600"/>
            <a:ext cx="345643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Shape 14"/>
          <p:cNvSpPr/>
          <p:nvPr/>
        </p:nvSpPr>
        <p:spPr>
          <a:xfrm flipV="1">
            <a:off x="7653528" y="13258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Shape 15"/>
          <p:cNvSpPr/>
          <p:nvPr/>
        </p:nvSpPr>
        <p:spPr>
          <a:xfrm flipV="1">
            <a:off x="11109960" y="13258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6"/>
          <p:cNvSpPr/>
          <p:nvPr/>
        </p:nvSpPr>
        <p:spPr>
          <a:xfrm>
            <a:off x="7699248" y="12893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7"/>
          <p:cNvSpPr/>
          <p:nvPr/>
        </p:nvSpPr>
        <p:spPr>
          <a:xfrm>
            <a:off x="11155680" y="12893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Text 18"/>
          <p:cNvSpPr txBox="1"/>
          <p:nvPr/>
        </p:nvSpPr>
        <p:spPr>
          <a:xfrm>
            <a:off x="8513064" y="1170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28.00 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631168" y="1847088"/>
            <a:ext cx="91" cy="185166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Shape 20"/>
          <p:cNvSpPr/>
          <p:nvPr/>
        </p:nvSpPr>
        <p:spPr>
          <a:xfrm flipV="1">
            <a:off x="11585448" y="18013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Shape 21"/>
          <p:cNvSpPr/>
          <p:nvPr/>
        </p:nvSpPr>
        <p:spPr>
          <a:xfrm flipV="1">
            <a:off x="11585448" y="365302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Shape 22"/>
          <p:cNvSpPr/>
          <p:nvPr/>
        </p:nvSpPr>
        <p:spPr>
          <a:xfrm>
            <a:off x="11548872" y="18470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Shape 23"/>
          <p:cNvSpPr/>
          <p:nvPr/>
        </p:nvSpPr>
        <p:spPr>
          <a:xfrm>
            <a:off x="11548872" y="369874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Text 24"/>
          <p:cNvSpPr txBox="1"/>
          <p:nvPr/>
        </p:nvSpPr>
        <p:spPr>
          <a:xfrm>
            <a:off x="11686032" y="268147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15.00 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0553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FIBA 28 × 15 m + نوار مرزی 2 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2360" y="5440680"/>
            <a:ext cx="3950208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Shape 27"/>
          <p:cNvSpPr/>
          <p:nvPr/>
        </p:nvSpPr>
        <p:spPr>
          <a:xfrm>
            <a:off x="7452360" y="4672584"/>
            <a:ext cx="3950208" cy="91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30" name="Shape 28"/>
          <p:cNvSpPr/>
          <p:nvPr/>
        </p:nvSpPr>
        <p:spPr>
          <a:xfrm>
            <a:off x="11631168" y="4672584"/>
            <a:ext cx="91" cy="768096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Shape 29"/>
          <p:cNvSpPr/>
          <p:nvPr/>
        </p:nvSpPr>
        <p:spPr>
          <a:xfrm flipV="1">
            <a:off x="11585448" y="462686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2" name="Shape 30"/>
          <p:cNvSpPr/>
          <p:nvPr/>
        </p:nvSpPr>
        <p:spPr>
          <a:xfrm flipV="1">
            <a:off x="11585448" y="539496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3" name="Shape 31"/>
          <p:cNvSpPr/>
          <p:nvPr/>
        </p:nvSpPr>
        <p:spPr>
          <a:xfrm>
            <a:off x="11548872" y="4672584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4" name="Shape 32"/>
          <p:cNvSpPr/>
          <p:nvPr/>
        </p:nvSpPr>
        <p:spPr>
          <a:xfrm>
            <a:off x="11548872" y="544068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5" name="Text 33"/>
          <p:cNvSpPr txBox="1"/>
          <p:nvPr/>
        </p:nvSpPr>
        <p:spPr>
          <a:xfrm>
            <a:off x="11686032" y="49651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≥ 7 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42986" y="5074920"/>
            <a:ext cx="47549" cy="47549"/>
          </a:xfrm>
          <a:prstGeom prst="ellipse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37" name="Shape 35"/>
          <p:cNvSpPr/>
          <p:nvPr/>
        </p:nvSpPr>
        <p:spPr>
          <a:xfrm>
            <a:off x="8337499" y="5124846"/>
            <a:ext cx="58522" cy="164592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38" name="Shape 36"/>
          <p:cNvSpPr/>
          <p:nvPr/>
        </p:nvSpPr>
        <p:spPr>
          <a:xfrm>
            <a:off x="8341157" y="5289438"/>
            <a:ext cx="21946" cy="151242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39" name="Shape 37"/>
          <p:cNvSpPr/>
          <p:nvPr/>
        </p:nvSpPr>
        <p:spPr>
          <a:xfrm>
            <a:off x="8370418" y="5289438"/>
            <a:ext cx="21946" cy="151242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40" name="Shape 38"/>
          <p:cNvSpPr/>
          <p:nvPr/>
        </p:nvSpPr>
        <p:spPr>
          <a:xfrm>
            <a:off x="10354666" y="5074920"/>
            <a:ext cx="47549" cy="47549"/>
          </a:xfrm>
          <a:prstGeom prst="ellipse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41" name="Shape 39"/>
          <p:cNvSpPr/>
          <p:nvPr/>
        </p:nvSpPr>
        <p:spPr>
          <a:xfrm>
            <a:off x="10349179" y="5124846"/>
            <a:ext cx="58522" cy="164592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42" name="Shape 40"/>
          <p:cNvSpPr/>
          <p:nvPr/>
        </p:nvSpPr>
        <p:spPr>
          <a:xfrm>
            <a:off x="10352837" y="5289438"/>
            <a:ext cx="21946" cy="151242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43" name="Shape 41"/>
          <p:cNvSpPr/>
          <p:nvPr/>
        </p:nvSpPr>
        <p:spPr>
          <a:xfrm>
            <a:off x="10382098" y="5289438"/>
            <a:ext cx="21946" cy="151242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44" name="Text 42"/>
          <p:cNvSpPr txBox="1"/>
          <p:nvPr/>
        </p:nvSpPr>
        <p:spPr>
          <a:xfrm>
            <a:off x="7452360" y="5532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ارتفاع آزاد بالای زمین (FIBA) — مقطع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263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9A9A9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همه‌ی استانداردها روی اسلاید · فهرست کامل منابع در اسلاید آخر · ۲۰۲۶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۰۱ — کالبدشناسی مجموعه‌ی ورزشی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ده جزء عملکردی پیرامون یک حجم بزرگ بدون ستون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0"/>
            <a:ext cx="5669280" cy="685800"/>
          </a:xfrm>
          <a:prstGeom prst="rect">
            <a:avLst/>
          </a:prstGeom>
          <a:solidFill>
            <a:srgbClr val="F2B134">
              <a:alpha val="6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جبهه‌ی عمومی</a:t>
            </a:r>
            <a:endParaRPr lang="en-US" sz="850" dirty="0"/>
          </a:p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· سرسرا · پذیرش · سرویس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37360" y="4297680"/>
            <a:ext cx="4480560" cy="548640"/>
          </a:xfrm>
          <a:prstGeom prst="rect">
            <a:avLst/>
          </a:prstGeom>
          <a:solidFill>
            <a:srgbClr val="F2B134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" name="Text 5"/>
          <p:cNvSpPr txBox="1"/>
          <p:nvPr/>
        </p:nvSpPr>
        <p:spPr>
          <a:xfrm>
            <a:off x="1737360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تماشاگران — نشیمن · راهروها · جایگاه دسترس‌پذیر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2240280"/>
            <a:ext cx="4480560" cy="192024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Text 7"/>
          <p:cNvSpPr txBox="1"/>
          <p:nvPr/>
        </p:nvSpPr>
        <p:spPr>
          <a:xfrm>
            <a:off x="1737360" y="22402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فضای بازی</a:t>
            </a:r>
            <a:endParaRPr lang="en-US" sz="1100" dirty="0"/>
          </a:p>
          <a:p>
            <a:pPr algn="ctr" indent="0" marL="0" rtl="1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+ منطقه‌ی ایمنی / آزاد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2514600"/>
            <a:ext cx="3657600" cy="137160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1051560" cy="868680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Text 10"/>
          <p:cNvSpPr txBox="1"/>
          <p:nvPr/>
        </p:nvSpPr>
        <p:spPr>
          <a:xfrm>
            <a:off x="548640" y="22402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</a:t>
            </a:r>
            <a:endParaRPr lang="en-US" sz="850" dirty="0"/>
          </a:p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+ دوش‌ها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051560" cy="548640"/>
          </a:xfrm>
          <a:prstGeom prst="rect">
            <a:avLst/>
          </a:prstGeom>
          <a:solidFill>
            <a:srgbClr val="9B7FBF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Text 12"/>
          <p:cNvSpPr txBox="1"/>
          <p:nvPr/>
        </p:nvSpPr>
        <p:spPr>
          <a:xfrm>
            <a:off x="548640" y="3200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گرم‌کردن</a:t>
            </a:r>
            <a:endParaRPr lang="en-US" sz="850" dirty="0"/>
          </a:p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داوران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051560" cy="365760"/>
          </a:xfrm>
          <a:prstGeom prst="rect">
            <a:avLst/>
          </a:prstGeom>
          <a:solidFill>
            <a:srgbClr val="9B7FBF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کمک‌های اولیه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55080" y="2240280"/>
            <a:ext cx="1005840" cy="868680"/>
          </a:xfrm>
          <a:prstGeom prst="rect">
            <a:avLst/>
          </a:prstGeom>
          <a:solidFill>
            <a:srgbClr val="8C8C8C">
              <a:alpha val="5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Text 16"/>
          <p:cNvSpPr txBox="1"/>
          <p:nvPr/>
        </p:nvSpPr>
        <p:spPr>
          <a:xfrm>
            <a:off x="6355080" y="22402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تجهیزات</a:t>
            </a:r>
            <a:endParaRPr lang="en-US" sz="850" dirty="0"/>
          </a:p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انبار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55080" y="3200400"/>
            <a:ext cx="1005840" cy="548640"/>
          </a:xfrm>
          <a:prstGeom prst="rect">
            <a:avLst/>
          </a:prstGeom>
          <a:solidFill>
            <a:srgbClr val="8C8C8C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Text 18"/>
          <p:cNvSpPr txBox="1"/>
          <p:nvPr/>
        </p:nvSpPr>
        <p:spPr>
          <a:xfrm>
            <a:off x="6355080" y="32004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نظافت</a:t>
            </a:r>
            <a:endParaRPr lang="en-US" sz="850" dirty="0"/>
          </a:p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کارکنان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840480"/>
            <a:ext cx="1005840" cy="365760"/>
          </a:xfrm>
          <a:prstGeom prst="rect">
            <a:avLst/>
          </a:prstGeom>
          <a:solidFill>
            <a:srgbClr val="8C8C8C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Text 20"/>
          <p:cNvSpPr txBox="1"/>
          <p:nvPr/>
        </p:nvSpPr>
        <p:spPr>
          <a:xfrm>
            <a:off x="6355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حراست</a:t>
            </a:r>
            <a:endParaRPr lang="en-US" sz="850" dirty="0"/>
          </a:p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37360" y="1554480"/>
            <a:ext cx="5623560" cy="502920"/>
          </a:xfrm>
          <a:prstGeom prst="rect">
            <a:avLst/>
          </a:prstGeom>
          <a:solidFill>
            <a:srgbClr val="8C8C8C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Text 22"/>
          <p:cNvSpPr txBox="1"/>
          <p:nvPr/>
        </p:nvSpPr>
        <p:spPr>
          <a:xfrm>
            <a:off x="1737360" y="15544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خدماتی · بارگیری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1554480"/>
            <a:ext cx="1051560" cy="502920"/>
          </a:xfrm>
          <a:prstGeom prst="rect">
            <a:avLst/>
          </a:prstGeom>
          <a:solidFill>
            <a:srgbClr val="9B7FBF">
              <a:alpha val="7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Text 24"/>
          <p:cNvSpPr txBox="1"/>
          <p:nvPr/>
        </p:nvSpPr>
        <p:spPr>
          <a:xfrm>
            <a:off x="548640" y="1554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</a:t>
            </a:r>
            <a:endParaRPr lang="en-US" sz="850" dirty="0"/>
          </a:p>
          <a:p>
            <a:pPr algn="ctr" indent="0" marL="0" rtl="1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ورزشکاران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00200" y="2651760"/>
            <a:ext cx="548640" cy="91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28" name="Shape 26"/>
          <p:cNvSpPr/>
          <p:nvPr/>
        </p:nvSpPr>
        <p:spPr>
          <a:xfrm flipH="1">
            <a:off x="5806440" y="2651760"/>
            <a:ext cx="54864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29" name="Text 27"/>
          <p:cNvSpPr txBox="1"/>
          <p:nvPr/>
        </p:nvSpPr>
        <p:spPr>
          <a:xfrm>
            <a:off x="548640" y="5852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دیاگرام — تفسیر معمارانه (بدون مقیاس) از گروه‌های فضایی راهنمای سالن‌های ورزشی Sport England.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8640" y="6172200"/>
            <a:ext cx="164592" cy="164592"/>
          </a:xfrm>
          <a:prstGeom prst="rect">
            <a:avLst/>
          </a:prstGeom>
          <a:solidFill>
            <a:srgbClr val="F2B134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31" name="Text 29"/>
          <p:cNvSpPr txBox="1"/>
          <p:nvPr/>
        </p:nvSpPr>
        <p:spPr>
          <a:xfrm>
            <a:off x="777240" y="6172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 / تماشاگران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0" y="6172200"/>
            <a:ext cx="164592" cy="164592"/>
          </a:xfrm>
          <a:prstGeom prst="rect">
            <a:avLst/>
          </a:prstGeom>
          <a:solidFill>
            <a:srgbClr val="5BAA6A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33" name="Text 31"/>
          <p:cNvSpPr txBox="1"/>
          <p:nvPr/>
        </p:nvSpPr>
        <p:spPr>
          <a:xfrm>
            <a:off x="2514600" y="6172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فضای بازی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23360" y="6172200"/>
            <a:ext cx="164592" cy="164592"/>
          </a:xfrm>
          <a:prstGeom prst="rect">
            <a:avLst/>
          </a:prstGeom>
          <a:solidFill>
            <a:srgbClr val="9B7FBF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35" name="Text 33"/>
          <p:cNvSpPr txBox="1"/>
          <p:nvPr/>
        </p:nvSpPr>
        <p:spPr>
          <a:xfrm>
            <a:off x="4251960" y="6172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ورزشکاران (کنترل‌شده)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6172200"/>
            <a:ext cx="164592" cy="164592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37" name="Text 35"/>
          <p:cNvSpPr txBox="1"/>
          <p:nvPr/>
        </p:nvSpPr>
        <p:spPr>
          <a:xfrm>
            <a:off x="5989320" y="6172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پشتیبانی / خدمات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72668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مدول سالن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1645920"/>
            <a:ext cx="3627882" cy="2103120"/>
          </a:xfrm>
          <a:prstGeom prst="rect">
            <a:avLst/>
          </a:prstGeom>
          <a:solidFill>
            <a:srgbClr val="5BAA6A">
              <a:alpha val="20000"/>
            </a:srgbClr>
          </a:solidFill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Shape 38"/>
          <p:cNvSpPr/>
          <p:nvPr/>
        </p:nvSpPr>
        <p:spPr>
          <a:xfrm>
            <a:off x="8068437" y="1908810"/>
            <a:ext cx="2944368" cy="1577340"/>
          </a:xfrm>
          <a:prstGeom prst="rect">
            <a:avLst/>
          </a:prstGeom>
          <a:ln w="9525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1" name="Shape 39"/>
          <p:cNvSpPr/>
          <p:nvPr/>
        </p:nvSpPr>
        <p:spPr>
          <a:xfrm>
            <a:off x="9540621" y="1908810"/>
            <a:ext cx="91" cy="1577340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Shape 40"/>
          <p:cNvSpPr/>
          <p:nvPr/>
        </p:nvSpPr>
        <p:spPr>
          <a:xfrm>
            <a:off x="7726680" y="1463040"/>
            <a:ext cx="362788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3" name="Shape 41"/>
          <p:cNvSpPr/>
          <p:nvPr/>
        </p:nvSpPr>
        <p:spPr>
          <a:xfrm flipV="1">
            <a:off x="7680960" y="14173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4" name="Shape 42"/>
          <p:cNvSpPr/>
          <p:nvPr/>
        </p:nvSpPr>
        <p:spPr>
          <a:xfrm flipV="1">
            <a:off x="11308842" y="14173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5" name="Shape 43"/>
          <p:cNvSpPr/>
          <p:nvPr/>
        </p:nvSpPr>
        <p:spPr>
          <a:xfrm>
            <a:off x="7726680" y="138074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6" name="Shape 44"/>
          <p:cNvSpPr/>
          <p:nvPr/>
        </p:nvSpPr>
        <p:spPr>
          <a:xfrm>
            <a:off x="11354562" y="138074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7" name="Text 45"/>
          <p:cNvSpPr txBox="1"/>
          <p:nvPr/>
        </p:nvSpPr>
        <p:spPr>
          <a:xfrm>
            <a:off x="8626221" y="1261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34.5 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1537442" y="1645920"/>
            <a:ext cx="91" cy="210312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9" name="Shape 47"/>
          <p:cNvSpPr/>
          <p:nvPr/>
        </p:nvSpPr>
        <p:spPr>
          <a:xfrm flipV="1">
            <a:off x="11491722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0" name="Shape 48"/>
          <p:cNvSpPr/>
          <p:nvPr/>
        </p:nvSpPr>
        <p:spPr>
          <a:xfrm flipV="1">
            <a:off x="11491722" y="37033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1" name="Shape 49"/>
          <p:cNvSpPr/>
          <p:nvPr/>
        </p:nvSpPr>
        <p:spPr>
          <a:xfrm>
            <a:off x="11455146" y="164592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2" name="Shape 50"/>
          <p:cNvSpPr/>
          <p:nvPr/>
        </p:nvSpPr>
        <p:spPr>
          <a:xfrm>
            <a:off x="11455146" y="37490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3" name="Text 51"/>
          <p:cNvSpPr txBox="1"/>
          <p:nvPr/>
        </p:nvSpPr>
        <p:spPr>
          <a:xfrm>
            <a:off x="11592306" y="26060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20.0 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26680" y="4800600"/>
            <a:ext cx="3627882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5" name="Shape 53"/>
          <p:cNvSpPr/>
          <p:nvPr/>
        </p:nvSpPr>
        <p:spPr>
          <a:xfrm>
            <a:off x="7726680" y="4114800"/>
            <a:ext cx="3627882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6" name="Shape 54"/>
          <p:cNvSpPr/>
          <p:nvPr/>
        </p:nvSpPr>
        <p:spPr>
          <a:xfrm flipV="1">
            <a:off x="7726680" y="4114800"/>
            <a:ext cx="91" cy="6858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 flipV="1">
            <a:off x="11354562" y="4114800"/>
            <a:ext cx="91" cy="6858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8" name="Shape 56"/>
          <p:cNvSpPr/>
          <p:nvPr/>
        </p:nvSpPr>
        <p:spPr>
          <a:xfrm>
            <a:off x="11537442" y="4114800"/>
            <a:ext cx="91" cy="68580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9" name="Shape 57"/>
          <p:cNvSpPr/>
          <p:nvPr/>
        </p:nvSpPr>
        <p:spPr>
          <a:xfrm flipV="1">
            <a:off x="11491722" y="4069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0" name="Shape 58"/>
          <p:cNvSpPr/>
          <p:nvPr/>
        </p:nvSpPr>
        <p:spPr>
          <a:xfrm flipV="1">
            <a:off x="11491722" y="47548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1" name="Shape 59"/>
          <p:cNvSpPr/>
          <p:nvPr/>
        </p:nvSpPr>
        <p:spPr>
          <a:xfrm>
            <a:off x="11455146" y="41148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2" name="Shape 60"/>
          <p:cNvSpPr/>
          <p:nvPr/>
        </p:nvSpPr>
        <p:spPr>
          <a:xfrm>
            <a:off x="11455146" y="48006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3" name="Text 61"/>
          <p:cNvSpPr txBox="1"/>
          <p:nvPr/>
        </p:nvSpPr>
        <p:spPr>
          <a:xfrm>
            <a:off x="11592306" y="43662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7.5 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344174" y="4453128"/>
            <a:ext cx="45171" cy="45171"/>
          </a:xfrm>
          <a:prstGeom prst="ellipse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5" name="Shape 63"/>
          <p:cNvSpPr/>
          <p:nvPr/>
        </p:nvSpPr>
        <p:spPr>
          <a:xfrm>
            <a:off x="8338962" y="4500558"/>
            <a:ext cx="55596" cy="156362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6" name="Shape 64"/>
          <p:cNvSpPr/>
          <p:nvPr/>
        </p:nvSpPr>
        <p:spPr>
          <a:xfrm>
            <a:off x="8342437" y="4656920"/>
            <a:ext cx="20848" cy="143680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7" name="Shape 65"/>
          <p:cNvSpPr/>
          <p:nvPr/>
        </p:nvSpPr>
        <p:spPr>
          <a:xfrm>
            <a:off x="8370235" y="4656920"/>
            <a:ext cx="20848" cy="143680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8" name="Shape 66"/>
          <p:cNvSpPr/>
          <p:nvPr/>
        </p:nvSpPr>
        <p:spPr>
          <a:xfrm>
            <a:off x="10081534" y="4453128"/>
            <a:ext cx="45171" cy="45171"/>
          </a:xfrm>
          <a:prstGeom prst="ellipse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9" name="Shape 67"/>
          <p:cNvSpPr/>
          <p:nvPr/>
        </p:nvSpPr>
        <p:spPr>
          <a:xfrm>
            <a:off x="10076322" y="4500558"/>
            <a:ext cx="55596" cy="156362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70" name="Shape 68"/>
          <p:cNvSpPr/>
          <p:nvPr/>
        </p:nvSpPr>
        <p:spPr>
          <a:xfrm>
            <a:off x="10079797" y="4656920"/>
            <a:ext cx="20848" cy="143680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71" name="Shape 69"/>
          <p:cNvSpPr/>
          <p:nvPr/>
        </p:nvSpPr>
        <p:spPr>
          <a:xfrm>
            <a:off x="10107595" y="4656920"/>
            <a:ext cx="20848" cy="143680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72" name="Text 70"/>
          <p:cNvSpPr txBox="1"/>
          <p:nvPr/>
        </p:nvSpPr>
        <p:spPr>
          <a:xfrm>
            <a:off x="7726680" y="4983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fa-IR" sz="147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34.5 × 20.0 × 7.5 m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726680" y="5276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۴ زمینه‌ی توصیه‌شده — حداقل Sport England برای پروژه‌های مدرسه؛ جایگزین سالن قدیمی 33 × 18 m.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726680" y="5760720"/>
            <a:ext cx="1726387" cy="182880"/>
          </a:xfrm>
          <a:prstGeom prst="rect">
            <a:avLst/>
          </a:prstGeom>
          <a:solidFill>
            <a:srgbClr val="6B6B6B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5" name="Text 73"/>
          <p:cNvSpPr txBox="1"/>
          <p:nvPr/>
        </p:nvSpPr>
        <p:spPr>
          <a:xfrm>
            <a:off x="7726680" y="5774436"/>
            <a:ext cx="1726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راهنمای توصیه‌ای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7726680" y="6007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Sport England، Sports Halls: Design &amp; Layouts (2012) — سالن ۴ زمینه‌ی 34.5 × 20.0 × 7.5 m.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۰۲ — بسکتبال · فضای بازی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زمین بسکتبال 28 × 15 m درون نوار مرزی 2 متری بدون مانع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5413248" cy="3214116"/>
          </a:xfrm>
          <a:prstGeom prst="rect">
            <a:avLst/>
          </a:prstGeom>
          <a:solidFill>
            <a:srgbClr val="F3F3F3"/>
          </a:solidFill>
          <a:ln w="9525">
            <a:solidFill>
              <a:srgbClr val="9A9A9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" name="Shape 3"/>
          <p:cNvSpPr/>
          <p:nvPr/>
        </p:nvSpPr>
        <p:spPr>
          <a:xfrm>
            <a:off x="1207008" y="1938528"/>
            <a:ext cx="4736592" cy="2537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" name="Shape 4"/>
          <p:cNvSpPr/>
          <p:nvPr/>
        </p:nvSpPr>
        <p:spPr>
          <a:xfrm>
            <a:off x="3575304" y="1938528"/>
            <a:ext cx="91" cy="25374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" name="Shape 5"/>
          <p:cNvSpPr/>
          <p:nvPr/>
        </p:nvSpPr>
        <p:spPr>
          <a:xfrm>
            <a:off x="3270809" y="2902763"/>
            <a:ext cx="608990" cy="608990"/>
          </a:xfrm>
          <a:prstGeom prst="ellipse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" name="Shape 6"/>
          <p:cNvSpPr/>
          <p:nvPr/>
        </p:nvSpPr>
        <p:spPr>
          <a:xfrm>
            <a:off x="1207008" y="2792806"/>
            <a:ext cx="981151" cy="828904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Shape 7"/>
          <p:cNvSpPr/>
          <p:nvPr/>
        </p:nvSpPr>
        <p:spPr>
          <a:xfrm>
            <a:off x="331584" y="2065401"/>
            <a:ext cx="2283714" cy="2283714"/>
          </a:xfrm>
          <a:prstGeom prst="arc">
            <a:avLst>
              <a:gd name="adj1" fmla="val 16200000"/>
              <a:gd name="adj2" fmla="val 5400000"/>
            </a:avLst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Shape 8"/>
          <p:cNvSpPr/>
          <p:nvPr/>
        </p:nvSpPr>
        <p:spPr>
          <a:xfrm>
            <a:off x="4962449" y="2792806"/>
            <a:ext cx="981151" cy="828904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Shape 9"/>
          <p:cNvSpPr/>
          <p:nvPr/>
        </p:nvSpPr>
        <p:spPr>
          <a:xfrm>
            <a:off x="4535310" y="2065401"/>
            <a:ext cx="2283714" cy="2283714"/>
          </a:xfrm>
          <a:prstGeom prst="arc">
            <a:avLst>
              <a:gd name="adj1" fmla="val 5400000"/>
              <a:gd name="adj2" fmla="val 16200000"/>
            </a:avLst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Shape 10"/>
          <p:cNvSpPr/>
          <p:nvPr/>
        </p:nvSpPr>
        <p:spPr>
          <a:xfrm>
            <a:off x="1207008" y="1344168"/>
            <a:ext cx="473659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Shape 11"/>
          <p:cNvSpPr/>
          <p:nvPr/>
        </p:nvSpPr>
        <p:spPr>
          <a:xfrm flipV="1">
            <a:off x="1161288" y="129844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Shape 12"/>
          <p:cNvSpPr/>
          <p:nvPr/>
        </p:nvSpPr>
        <p:spPr>
          <a:xfrm flipV="1">
            <a:off x="5897880" y="129844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Shape 13"/>
          <p:cNvSpPr/>
          <p:nvPr/>
        </p:nvSpPr>
        <p:spPr>
          <a:xfrm>
            <a:off x="1207008" y="126187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Shape 14"/>
          <p:cNvSpPr/>
          <p:nvPr/>
        </p:nvSpPr>
        <p:spPr>
          <a:xfrm>
            <a:off x="5943600" y="126187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Text 15"/>
          <p:cNvSpPr txBox="1"/>
          <p:nvPr/>
        </p:nvSpPr>
        <p:spPr>
          <a:xfrm>
            <a:off x="2660904" y="1143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28.00 m — طول زمین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938528"/>
            <a:ext cx="91" cy="253746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7"/>
          <p:cNvSpPr/>
          <p:nvPr/>
        </p:nvSpPr>
        <p:spPr>
          <a:xfrm flipV="1">
            <a:off x="6492240" y="189280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8"/>
          <p:cNvSpPr/>
          <p:nvPr/>
        </p:nvSpPr>
        <p:spPr>
          <a:xfrm flipV="1">
            <a:off x="6492240" y="44302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Shape 19"/>
          <p:cNvSpPr/>
          <p:nvPr/>
        </p:nvSpPr>
        <p:spPr>
          <a:xfrm>
            <a:off x="6455664" y="193852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Shape 20"/>
          <p:cNvSpPr/>
          <p:nvPr/>
        </p:nvSpPr>
        <p:spPr>
          <a:xfrm>
            <a:off x="6455664" y="44759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Text 21"/>
          <p:cNvSpPr txBox="1"/>
          <p:nvPr/>
        </p:nvSpPr>
        <p:spPr>
          <a:xfrm>
            <a:off x="6592824" y="311581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15.00 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4704588"/>
            <a:ext cx="338328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Shape 23"/>
          <p:cNvSpPr/>
          <p:nvPr/>
        </p:nvSpPr>
        <p:spPr>
          <a:xfrm flipV="1">
            <a:off x="822960" y="46588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Shape 24"/>
          <p:cNvSpPr/>
          <p:nvPr/>
        </p:nvSpPr>
        <p:spPr>
          <a:xfrm flipV="1">
            <a:off x="1161288" y="46588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Shape 25"/>
          <p:cNvSpPr/>
          <p:nvPr/>
        </p:nvSpPr>
        <p:spPr>
          <a:xfrm>
            <a:off x="868680" y="462229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8" name="Shape 26"/>
          <p:cNvSpPr/>
          <p:nvPr/>
        </p:nvSpPr>
        <p:spPr>
          <a:xfrm>
            <a:off x="1207008" y="462229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Text 27"/>
          <p:cNvSpPr txBox="1"/>
          <p:nvPr/>
        </p:nvSpPr>
        <p:spPr>
          <a:xfrm>
            <a:off x="123444" y="47411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 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" y="1600200"/>
            <a:ext cx="91" cy="338328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Shape 29"/>
          <p:cNvSpPr/>
          <p:nvPr/>
        </p:nvSpPr>
        <p:spPr>
          <a:xfrm flipV="1">
            <a:off x="713232" y="15544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2" name="Shape 30"/>
          <p:cNvSpPr/>
          <p:nvPr/>
        </p:nvSpPr>
        <p:spPr>
          <a:xfrm flipV="1">
            <a:off x="713232" y="189280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3" name="Shape 31"/>
          <p:cNvSpPr/>
          <p:nvPr/>
        </p:nvSpPr>
        <p:spPr>
          <a:xfrm>
            <a:off x="676656" y="16002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4" name="Shape 32"/>
          <p:cNvSpPr/>
          <p:nvPr/>
        </p:nvSpPr>
        <p:spPr>
          <a:xfrm>
            <a:off x="676656" y="193852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5" name="Text 33"/>
          <p:cNvSpPr txBox="1"/>
          <p:nvPr/>
        </p:nvSpPr>
        <p:spPr>
          <a:xfrm>
            <a:off x="-758952" y="16779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 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14500" y="4887468"/>
            <a:ext cx="1353312" cy="292608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7" name="Shape 35"/>
          <p:cNvSpPr/>
          <p:nvPr/>
        </p:nvSpPr>
        <p:spPr>
          <a:xfrm>
            <a:off x="4082796" y="4887468"/>
            <a:ext cx="1353312" cy="292608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8" name="Shape 36"/>
          <p:cNvSpPr/>
          <p:nvPr/>
        </p:nvSpPr>
        <p:spPr>
          <a:xfrm>
            <a:off x="3152394" y="4887468"/>
            <a:ext cx="845820" cy="292608"/>
          </a:xfrm>
          <a:prstGeom prst="rect">
            <a:avLst/>
          </a:prstGeom>
          <a:solidFill>
            <a:srgbClr val="8C8C8C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9" name="Text 37"/>
          <p:cNvSpPr txBox="1"/>
          <p:nvPr/>
        </p:nvSpPr>
        <p:spPr>
          <a:xfrm>
            <a:off x="1714500" y="52166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نیمکت تیم A · 16 صندلی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082796" y="52166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نیمکت تیم B · 16 صندلی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2660904" y="52166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میز ثبت امتیاز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1207008" y="541782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سایر افراد ≥ 2 m پشت نیمکت تیم ← ردیف اول تماشاگران پس از این خط شروع می‌شود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68680" y="56372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پلان — دیاگرام بازترسیم‌شده بر اساس FIBA OBR 2024، دیاگرام 1. خطوط محوطه‌ی جریمه و قوس‌ها شماتیک؛ فقط مقادیر اندازه‌گذاری‌شده مستندند.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809244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fa-IR" sz="239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28 × 15 m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8092440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زمین، از لبه‌ی داخلی خط مرزی؛ «سطح صاف و سخت، بدون مانع».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92440" y="2121408"/>
            <a:ext cx="2653589" cy="182880"/>
          </a:xfrm>
          <a:prstGeom prst="rect">
            <a:avLst/>
          </a:prstGeom>
          <a:solidFill>
            <a:srgbClr val="D9472B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7" name="Text 45"/>
          <p:cNvSpPr txBox="1"/>
          <p:nvPr/>
        </p:nvSpPr>
        <p:spPr>
          <a:xfrm>
            <a:off x="8092440" y="2135124"/>
            <a:ext cx="26535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استاندارد مسابقات بین‌المللی</a:t>
            </a:r>
            <a:endParaRPr lang="en-US" sz="650" dirty="0"/>
          </a:p>
        </p:txBody>
      </p:sp>
      <p:sp>
        <p:nvSpPr>
          <p:cNvPr id="48" name="Text 46"/>
          <p:cNvSpPr txBox="1"/>
          <p:nvPr/>
        </p:nvSpPr>
        <p:spPr>
          <a:xfrm>
            <a:off x="809244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fa-IR" sz="239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≥ 2 m</a:t>
            </a:r>
            <a:endParaRPr lang="en-US" sz="2600" dirty="0"/>
          </a:p>
        </p:txBody>
      </p:sp>
      <p:sp>
        <p:nvSpPr>
          <p:cNvPr id="49" name="Text 47"/>
          <p:cNvSpPr txBox="1"/>
          <p:nvPr/>
        </p:nvSpPr>
        <p:spPr>
          <a:xfrm>
            <a:off x="8092440" y="29077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نوار مرزی بدون مانع پیرامون زمین ← کل کف ≥ 32 × 19 m.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80924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fa-IR" sz="239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≥ 7 m</a:t>
            </a:r>
            <a:endParaRPr lang="en-US" sz="2600" dirty="0"/>
          </a:p>
        </p:txBody>
      </p:sp>
      <p:sp>
        <p:nvSpPr>
          <p:cNvPr id="51" name="Text 49"/>
          <p:cNvSpPr txBox="1"/>
          <p:nvPr/>
        </p:nvSpPr>
        <p:spPr>
          <a:xfrm>
            <a:off x="8092440" y="38679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ارتفاع سقف / پایین‌ترین مانع بالای زمین (چراغ، کانال، خرپا).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809244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239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16 صندلی</a:t>
            </a:r>
            <a:endParaRPr lang="en-US" sz="2600" dirty="0"/>
          </a:p>
        </p:txBody>
      </p:sp>
      <p:sp>
        <p:nvSpPr>
          <p:cNvPr id="53" name="Text 51"/>
          <p:cNvSpPr txBox="1"/>
          <p:nvPr/>
        </p:nvSpPr>
        <p:spPr>
          <a:xfrm>
            <a:off x="8092440" y="4828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برای هر محدوده‌ی نیمکت تیم، بیرون زمین و در سمت میز ثبت امتیاز.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092440" y="5806440"/>
            <a:ext cx="292608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5" name="Shape 53"/>
          <p:cNvSpPr/>
          <p:nvPr/>
        </p:nvSpPr>
        <p:spPr>
          <a:xfrm>
            <a:off x="8092440" y="5166360"/>
            <a:ext cx="2926080" cy="91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6" name="Shape 54"/>
          <p:cNvSpPr/>
          <p:nvPr/>
        </p:nvSpPr>
        <p:spPr>
          <a:xfrm>
            <a:off x="11155680" y="5166360"/>
            <a:ext cx="91" cy="64008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 flipV="1">
            <a:off x="11109960" y="512064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8" name="Shape 56"/>
          <p:cNvSpPr/>
          <p:nvPr/>
        </p:nvSpPr>
        <p:spPr>
          <a:xfrm flipV="1">
            <a:off x="11109960" y="57607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9" name="Shape 57"/>
          <p:cNvSpPr/>
          <p:nvPr/>
        </p:nvSpPr>
        <p:spPr>
          <a:xfrm>
            <a:off x="11073384" y="516636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0" name="Shape 58"/>
          <p:cNvSpPr/>
          <p:nvPr/>
        </p:nvSpPr>
        <p:spPr>
          <a:xfrm>
            <a:off x="11073384" y="58064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1" name="Text 59"/>
          <p:cNvSpPr txBox="1"/>
          <p:nvPr/>
        </p:nvSpPr>
        <p:spPr>
          <a:xfrm>
            <a:off x="11210544" y="5394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7 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528243" y="5477256"/>
            <a:ext cx="42794" cy="42794"/>
          </a:xfrm>
          <a:prstGeom prst="ellipse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3" name="Shape 61"/>
          <p:cNvSpPr/>
          <p:nvPr/>
        </p:nvSpPr>
        <p:spPr>
          <a:xfrm>
            <a:off x="8523305" y="5522190"/>
            <a:ext cx="52669" cy="148133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4" name="Shape 62"/>
          <p:cNvSpPr/>
          <p:nvPr/>
        </p:nvSpPr>
        <p:spPr>
          <a:xfrm>
            <a:off x="8526597" y="5670322"/>
            <a:ext cx="19751" cy="136118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5" name="Shape 63"/>
          <p:cNvSpPr/>
          <p:nvPr/>
        </p:nvSpPr>
        <p:spPr>
          <a:xfrm>
            <a:off x="8552932" y="5670322"/>
            <a:ext cx="19751" cy="136118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6" name="Shape 64"/>
          <p:cNvSpPr/>
          <p:nvPr/>
        </p:nvSpPr>
        <p:spPr>
          <a:xfrm>
            <a:off x="9351203" y="5477256"/>
            <a:ext cx="42794" cy="42794"/>
          </a:xfrm>
          <a:prstGeom prst="ellipse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7" name="Shape 65"/>
          <p:cNvSpPr/>
          <p:nvPr/>
        </p:nvSpPr>
        <p:spPr>
          <a:xfrm>
            <a:off x="9346265" y="5522190"/>
            <a:ext cx="52669" cy="148133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8" name="Shape 66"/>
          <p:cNvSpPr/>
          <p:nvPr/>
        </p:nvSpPr>
        <p:spPr>
          <a:xfrm>
            <a:off x="9349557" y="5670322"/>
            <a:ext cx="19751" cy="136118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9" name="Shape 67"/>
          <p:cNvSpPr/>
          <p:nvPr/>
        </p:nvSpPr>
        <p:spPr>
          <a:xfrm>
            <a:off x="9375892" y="5670322"/>
            <a:ext cx="19751" cy="136118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70" name="Text 68"/>
          <p:cNvSpPr txBox="1"/>
          <p:nvPr/>
        </p:nvSpPr>
        <p:spPr>
          <a:xfrm>
            <a:off x="8092440" y="5852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مقطع — ارتفاع آزاد عمق سازه‌ی سقف را تعیین می‌کند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868680" y="598932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FIBA، Official Basketball Rules 2024 (v1.0) — قانون یکم، ماده 2 «زمین» و دیاگرام 1؛ ماده 2.4.5 محدوده‌ی نیمکت تیم‌ها؛ «Basketball Equipment» — کف بازی.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685800" y="625449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مهم است  کف 32 × 19 m + ارتفاع آزاد 7 m حداقل دهانه‌ی سازه و عمق سقف را تعیین می‌کند؛ انبار، نیمکت‌ها و جایگاه همه باید بیرون نوار 2 متری باشند.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۰۳ — بسکتبال · فضای تماشاگران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مقطع جایگاه: صندلی، ردیف، پله، راهرو و خط دید (C-value)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5257800"/>
            <a:ext cx="219456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" name="Text 3"/>
          <p:cNvSpPr txBox="1"/>
          <p:nvPr/>
        </p:nvSpPr>
        <p:spPr>
          <a:xfrm>
            <a:off x="640080" y="5303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600200" y="5212080"/>
            <a:ext cx="91440" cy="91440"/>
          </a:xfrm>
          <a:prstGeom prst="ellipse">
            <a:avLst/>
          </a:prstGeom>
          <a:solidFill>
            <a:srgbClr val="D9472B"/>
          </a:solidFill>
          <a:ln/>
        </p:spPr>
        <p:txBody>
          <a:bodyPr/>
          <a:p>
            <a:pPr/>
          </a:p>
        </p:txBody>
      </p:sp>
      <p:sp>
        <p:nvSpPr>
          <p:cNvPr id="7" name="Text 5"/>
          <p:cNvSpPr txBox="1"/>
          <p:nvPr/>
        </p:nvSpPr>
        <p:spPr>
          <a:xfrm>
            <a:off x="1143000" y="5458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نقطه‌ی دید</a:t>
            </a:r>
            <a:endParaRPr lang="en-US" sz="700" dirty="0"/>
          </a:p>
          <a:p>
            <a:pPr algn="ctr" indent="0" marL="0" rtl="1">
              <a:buNone/>
            </a:pPr>
            <a:r>
              <a:rPr lang="fa-IR" sz="644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(خط کناری)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0" y="5824728"/>
            <a:ext cx="1188720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Shape 7"/>
          <p:cNvSpPr/>
          <p:nvPr/>
        </p:nvSpPr>
        <p:spPr>
          <a:xfrm flipV="1">
            <a:off x="1600200" y="577900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Shape 8"/>
          <p:cNvSpPr/>
          <p:nvPr/>
        </p:nvSpPr>
        <p:spPr>
          <a:xfrm flipV="1">
            <a:off x="2788920" y="577900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Shape 9"/>
          <p:cNvSpPr/>
          <p:nvPr/>
        </p:nvSpPr>
        <p:spPr>
          <a:xfrm>
            <a:off x="1645920" y="574243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Shape 10"/>
          <p:cNvSpPr/>
          <p:nvPr/>
        </p:nvSpPr>
        <p:spPr>
          <a:xfrm>
            <a:off x="2834640" y="5742432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Text 11"/>
          <p:cNvSpPr txBox="1"/>
          <p:nvPr/>
        </p:nvSpPr>
        <p:spPr>
          <a:xfrm>
            <a:off x="1325880" y="5861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نوار 2 m + محدوده‌ی نیمکت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 flipV="1">
            <a:off x="2834640" y="5065776"/>
            <a:ext cx="91" cy="192024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Shape 13"/>
          <p:cNvSpPr/>
          <p:nvPr/>
        </p:nvSpPr>
        <p:spPr>
          <a:xfrm>
            <a:off x="2834640" y="5065776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Shape 14"/>
          <p:cNvSpPr/>
          <p:nvPr/>
        </p:nvSpPr>
        <p:spPr>
          <a:xfrm flipV="1">
            <a:off x="3346704" y="4809744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Shape 15"/>
          <p:cNvSpPr/>
          <p:nvPr/>
        </p:nvSpPr>
        <p:spPr>
          <a:xfrm>
            <a:off x="3065069" y="4777740"/>
            <a:ext cx="153619" cy="5486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18" name="Shape 16"/>
          <p:cNvSpPr/>
          <p:nvPr/>
        </p:nvSpPr>
        <p:spPr>
          <a:xfrm>
            <a:off x="3203326" y="4521708"/>
            <a:ext cx="45720" cy="26883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19" name="Shape 17"/>
          <p:cNvSpPr/>
          <p:nvPr/>
        </p:nvSpPr>
        <p:spPr>
          <a:xfrm>
            <a:off x="3077870" y="4233672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8"/>
          <p:cNvSpPr/>
          <p:nvPr/>
        </p:nvSpPr>
        <p:spPr>
          <a:xfrm>
            <a:off x="3346704" y="4809744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Shape 19"/>
          <p:cNvSpPr/>
          <p:nvPr/>
        </p:nvSpPr>
        <p:spPr>
          <a:xfrm flipV="1">
            <a:off x="3858768" y="4553712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Shape 20"/>
          <p:cNvSpPr/>
          <p:nvPr/>
        </p:nvSpPr>
        <p:spPr>
          <a:xfrm>
            <a:off x="3577133" y="4521708"/>
            <a:ext cx="153619" cy="5486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23" name="Shape 21"/>
          <p:cNvSpPr/>
          <p:nvPr/>
        </p:nvSpPr>
        <p:spPr>
          <a:xfrm>
            <a:off x="3715390" y="4265676"/>
            <a:ext cx="45720" cy="26883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24" name="Shape 22"/>
          <p:cNvSpPr/>
          <p:nvPr/>
        </p:nvSpPr>
        <p:spPr>
          <a:xfrm>
            <a:off x="3589934" y="3977640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Shape 23"/>
          <p:cNvSpPr/>
          <p:nvPr/>
        </p:nvSpPr>
        <p:spPr>
          <a:xfrm>
            <a:off x="3858768" y="4553712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Shape 24"/>
          <p:cNvSpPr/>
          <p:nvPr/>
        </p:nvSpPr>
        <p:spPr>
          <a:xfrm flipV="1">
            <a:off x="4370832" y="4297680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Shape 25"/>
          <p:cNvSpPr/>
          <p:nvPr/>
        </p:nvSpPr>
        <p:spPr>
          <a:xfrm>
            <a:off x="4089197" y="4265676"/>
            <a:ext cx="153619" cy="5486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28" name="Shape 26"/>
          <p:cNvSpPr/>
          <p:nvPr/>
        </p:nvSpPr>
        <p:spPr>
          <a:xfrm>
            <a:off x="4227454" y="4009644"/>
            <a:ext cx="45720" cy="26883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29" name="Shape 27"/>
          <p:cNvSpPr/>
          <p:nvPr/>
        </p:nvSpPr>
        <p:spPr>
          <a:xfrm>
            <a:off x="4101998" y="3721608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Shape 28"/>
          <p:cNvSpPr/>
          <p:nvPr/>
        </p:nvSpPr>
        <p:spPr>
          <a:xfrm>
            <a:off x="4370832" y="4297680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Shape 29"/>
          <p:cNvSpPr/>
          <p:nvPr/>
        </p:nvSpPr>
        <p:spPr>
          <a:xfrm flipV="1">
            <a:off x="4882896" y="4041648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2" name="Shape 30"/>
          <p:cNvSpPr/>
          <p:nvPr/>
        </p:nvSpPr>
        <p:spPr>
          <a:xfrm>
            <a:off x="4601261" y="4009644"/>
            <a:ext cx="153619" cy="5486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33" name="Shape 31"/>
          <p:cNvSpPr/>
          <p:nvPr/>
        </p:nvSpPr>
        <p:spPr>
          <a:xfrm>
            <a:off x="4739518" y="3753612"/>
            <a:ext cx="45720" cy="26883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34" name="Shape 32"/>
          <p:cNvSpPr/>
          <p:nvPr/>
        </p:nvSpPr>
        <p:spPr>
          <a:xfrm>
            <a:off x="4614062" y="3465576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5" name="Shape 33"/>
          <p:cNvSpPr/>
          <p:nvPr/>
        </p:nvSpPr>
        <p:spPr>
          <a:xfrm>
            <a:off x="4882896" y="4041648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Shape 34"/>
          <p:cNvSpPr/>
          <p:nvPr/>
        </p:nvSpPr>
        <p:spPr>
          <a:xfrm flipV="1">
            <a:off x="5394960" y="3785616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7" name="Shape 35"/>
          <p:cNvSpPr/>
          <p:nvPr/>
        </p:nvSpPr>
        <p:spPr>
          <a:xfrm>
            <a:off x="5113325" y="3753612"/>
            <a:ext cx="153619" cy="5486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38" name="Shape 36"/>
          <p:cNvSpPr/>
          <p:nvPr/>
        </p:nvSpPr>
        <p:spPr>
          <a:xfrm>
            <a:off x="5251582" y="3497580"/>
            <a:ext cx="45720" cy="26883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39" name="Shape 37"/>
          <p:cNvSpPr/>
          <p:nvPr/>
        </p:nvSpPr>
        <p:spPr>
          <a:xfrm>
            <a:off x="5126126" y="3209544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Shape 38"/>
          <p:cNvSpPr/>
          <p:nvPr/>
        </p:nvSpPr>
        <p:spPr>
          <a:xfrm>
            <a:off x="5394960" y="3785616"/>
            <a:ext cx="512064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1" name="Shape 39"/>
          <p:cNvSpPr/>
          <p:nvPr/>
        </p:nvSpPr>
        <p:spPr>
          <a:xfrm flipV="1">
            <a:off x="5907024" y="3529584"/>
            <a:ext cx="91" cy="256032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Shape 40"/>
          <p:cNvSpPr/>
          <p:nvPr/>
        </p:nvSpPr>
        <p:spPr>
          <a:xfrm>
            <a:off x="5625389" y="3497580"/>
            <a:ext cx="153619" cy="5486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43" name="Shape 41"/>
          <p:cNvSpPr/>
          <p:nvPr/>
        </p:nvSpPr>
        <p:spPr>
          <a:xfrm>
            <a:off x="5763646" y="3241548"/>
            <a:ext cx="45720" cy="268834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44" name="Shape 42"/>
          <p:cNvSpPr/>
          <p:nvPr/>
        </p:nvSpPr>
        <p:spPr>
          <a:xfrm>
            <a:off x="5638190" y="2953512"/>
            <a:ext cx="128016" cy="155448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5" name="Shape 43"/>
          <p:cNvSpPr/>
          <p:nvPr/>
        </p:nvSpPr>
        <p:spPr>
          <a:xfrm flipH="1">
            <a:off x="1645920" y="4297680"/>
            <a:ext cx="1495958" cy="960120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46" name="Shape 44"/>
          <p:cNvSpPr/>
          <p:nvPr/>
        </p:nvSpPr>
        <p:spPr>
          <a:xfrm flipH="1">
            <a:off x="1645920" y="3529584"/>
            <a:ext cx="3032150" cy="1728216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47" name="Shape 45"/>
          <p:cNvSpPr/>
          <p:nvPr/>
        </p:nvSpPr>
        <p:spPr>
          <a:xfrm flipH="1">
            <a:off x="1645920" y="3017520"/>
            <a:ext cx="4056278" cy="2240280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48" name="Shape 46"/>
          <p:cNvSpPr/>
          <p:nvPr/>
        </p:nvSpPr>
        <p:spPr>
          <a:xfrm flipH="1">
            <a:off x="4312310" y="3675888"/>
            <a:ext cx="82296" cy="402336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9" name="Text 47"/>
          <p:cNvSpPr txBox="1"/>
          <p:nvPr/>
        </p:nvSpPr>
        <p:spPr>
          <a:xfrm>
            <a:off x="2300630" y="2615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 = فاصله‌ی قائم خط دید</a:t>
            </a:r>
            <a:endParaRPr lang="en-US" sz="750" dirty="0"/>
          </a:p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سر نفر جلویی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858768" y="4782312"/>
            <a:ext cx="512064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1" name="Shape 49"/>
          <p:cNvSpPr/>
          <p:nvPr/>
        </p:nvSpPr>
        <p:spPr>
          <a:xfrm flipV="1">
            <a:off x="3813048" y="473659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2" name="Shape 50"/>
          <p:cNvSpPr/>
          <p:nvPr/>
        </p:nvSpPr>
        <p:spPr>
          <a:xfrm flipV="1">
            <a:off x="4325112" y="473659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3" name="Shape 51"/>
          <p:cNvSpPr/>
          <p:nvPr/>
        </p:nvSpPr>
        <p:spPr>
          <a:xfrm>
            <a:off x="3858768" y="4700016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4" name="Shape 52"/>
          <p:cNvSpPr/>
          <p:nvPr/>
        </p:nvSpPr>
        <p:spPr>
          <a:xfrm>
            <a:off x="4370832" y="4700016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5" name="Text 53"/>
          <p:cNvSpPr txBox="1"/>
          <p:nvPr/>
        </p:nvSpPr>
        <p:spPr>
          <a:xfrm>
            <a:off x="3200400" y="4818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عمق ردیف ≥ 700 mm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135624" y="3529584"/>
            <a:ext cx="91" cy="256032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 flipV="1">
            <a:off x="6089904" y="348386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8" name="Shape 56"/>
          <p:cNvSpPr/>
          <p:nvPr/>
        </p:nvSpPr>
        <p:spPr>
          <a:xfrm flipV="1">
            <a:off x="6089904" y="373989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9" name="Shape 57"/>
          <p:cNvSpPr/>
          <p:nvPr/>
        </p:nvSpPr>
        <p:spPr>
          <a:xfrm>
            <a:off x="6053328" y="3529584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0" name="Shape 58"/>
          <p:cNvSpPr/>
          <p:nvPr/>
        </p:nvSpPr>
        <p:spPr>
          <a:xfrm>
            <a:off x="6053328" y="3785616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1" name="Text 59"/>
          <p:cNvSpPr txBox="1"/>
          <p:nvPr/>
        </p:nvSpPr>
        <p:spPr>
          <a:xfrm>
            <a:off x="6190488" y="35661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rtl="1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ارتفاع پله = از محاسبه‌ی C-value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3931920" y="1874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راهروی شعاعی ≥ 1.2 m (پلان را ببینید) ←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907024" y="3511296"/>
            <a:ext cx="896112" cy="1828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>
            <a:pPr/>
          </a:p>
        </p:txBody>
      </p:sp>
      <p:sp>
        <p:nvSpPr>
          <p:cNvPr id="64" name="Text 62"/>
          <p:cNvSpPr txBox="1"/>
          <p:nvPr/>
        </p:nvSpPr>
        <p:spPr>
          <a:xfrm>
            <a:off x="5907024" y="31455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9B7F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سکوی</a:t>
            </a:r>
            <a:endParaRPr lang="en-US" sz="700" dirty="0"/>
          </a:p>
          <a:p>
            <a:pPr indent="0" marL="0" rtl="1">
              <a:buNone/>
            </a:pPr>
            <a:r>
              <a:rPr lang="fa-IR" sz="644" b="1" dirty="0">
                <a:solidFill>
                  <a:srgbClr val="9B7F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قابل دسترس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598932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مقطع — دیاگرام بازترسیم‌شده بر اساس هندسه‌ی خط دید Green Guide فصل 12 (ردیف‌ها/پله‌ها شماتیک؛ ارتفاع پله محاسبه می‌شود، ثابت نیست).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640080" y="1280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 = D(N + R) / (D + T) − R</a:t>
            </a:r>
            <a:pPr indent="0" marL="0">
              <a:buNone/>
            </a:pPr>
            <a:endParaRPr lang="en-US" sz="1000" dirty="0"/>
          </a:p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 = فاصله‌ی افقی چشم تا نقطه‌ی دید · N = ارتفاع پله‌ی جایگاه · R = ارتفاع چشم از نقطه‌ی دید · T = عمق ردیف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7406640" y="1325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پلان — ردیف نشیمن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40664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9" name="Shape 67"/>
          <p:cNvSpPr/>
          <p:nvPr/>
        </p:nvSpPr>
        <p:spPr>
          <a:xfrm>
            <a:off x="781812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0" name="Shape 68"/>
          <p:cNvSpPr/>
          <p:nvPr/>
        </p:nvSpPr>
        <p:spPr>
          <a:xfrm>
            <a:off x="822960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1" name="Shape 69"/>
          <p:cNvSpPr/>
          <p:nvPr/>
        </p:nvSpPr>
        <p:spPr>
          <a:xfrm>
            <a:off x="864108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2" name="Shape 70"/>
          <p:cNvSpPr/>
          <p:nvPr/>
        </p:nvSpPr>
        <p:spPr>
          <a:xfrm>
            <a:off x="905256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3" name="Shape 71"/>
          <p:cNvSpPr/>
          <p:nvPr/>
        </p:nvSpPr>
        <p:spPr>
          <a:xfrm>
            <a:off x="9464040" y="1600200"/>
            <a:ext cx="374904" cy="292608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4" name="Shape 72"/>
          <p:cNvSpPr/>
          <p:nvPr/>
        </p:nvSpPr>
        <p:spPr>
          <a:xfrm>
            <a:off x="7406640" y="2103120"/>
            <a:ext cx="411480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5" name="Shape 73"/>
          <p:cNvSpPr/>
          <p:nvPr/>
        </p:nvSpPr>
        <p:spPr>
          <a:xfrm flipV="1">
            <a:off x="7360920" y="20574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6" name="Shape 74"/>
          <p:cNvSpPr/>
          <p:nvPr/>
        </p:nvSpPr>
        <p:spPr>
          <a:xfrm flipV="1">
            <a:off x="7772400" y="20574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7" name="Shape 75"/>
          <p:cNvSpPr/>
          <p:nvPr/>
        </p:nvSpPr>
        <p:spPr>
          <a:xfrm>
            <a:off x="7406640" y="20208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8" name="Shape 76"/>
          <p:cNvSpPr/>
          <p:nvPr/>
        </p:nvSpPr>
        <p:spPr>
          <a:xfrm>
            <a:off x="7818120" y="20208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9" name="Text 77"/>
          <p:cNvSpPr txBox="1"/>
          <p:nvPr/>
        </p:nvSpPr>
        <p:spPr>
          <a:xfrm>
            <a:off x="6697980" y="2139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500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9948672" y="1600200"/>
            <a:ext cx="987552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81" name="Text 79"/>
          <p:cNvSpPr txBox="1"/>
          <p:nvPr/>
        </p:nvSpPr>
        <p:spPr>
          <a:xfrm>
            <a:off x="9948672" y="160020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راهرو</a:t>
            </a:r>
            <a:endParaRPr lang="en-US" sz="650" dirty="0"/>
          </a:p>
          <a:p>
            <a:pPr algn="ctr" indent="0" marL="0">
              <a:buNone/>
            </a:pPr>
            <a:r>
              <a:rPr lang="fa-IR" sz="598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≥ 1200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7955280" y="2377440"/>
            <a:ext cx="1152144" cy="740664"/>
          </a:xfrm>
          <a:prstGeom prst="rect">
            <a:avLst/>
          </a:prstGeom>
          <a:solidFill>
            <a:srgbClr val="9B7FBF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3" name="Text 81"/>
          <p:cNvSpPr txBox="1"/>
          <p:nvPr/>
        </p:nvSpPr>
        <p:spPr>
          <a:xfrm>
            <a:off x="7955280" y="2377440"/>
            <a:ext cx="11521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فضای ویلچر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9144000" y="2377440"/>
            <a:ext cx="374904" cy="370332"/>
          </a:xfrm>
          <a:prstGeom prst="rect">
            <a:avLst/>
          </a:prstGeom>
          <a:solidFill>
            <a:srgbClr val="F2B134">
              <a:alpha val="45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5" name="Text 83"/>
          <p:cNvSpPr txBox="1"/>
          <p:nvPr/>
        </p:nvSpPr>
        <p:spPr>
          <a:xfrm>
            <a:off x="9564624" y="2423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همراه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7955280" y="3246120"/>
            <a:ext cx="1152144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7" name="Shape 85"/>
          <p:cNvSpPr/>
          <p:nvPr/>
        </p:nvSpPr>
        <p:spPr>
          <a:xfrm flipV="1">
            <a:off x="7909560" y="32004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8" name="Shape 86"/>
          <p:cNvSpPr/>
          <p:nvPr/>
        </p:nvSpPr>
        <p:spPr>
          <a:xfrm flipV="1">
            <a:off x="9061704" y="32004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9" name="Shape 87"/>
          <p:cNvSpPr/>
          <p:nvPr/>
        </p:nvSpPr>
        <p:spPr>
          <a:xfrm>
            <a:off x="7955280" y="31638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0" name="Shape 88"/>
          <p:cNvSpPr/>
          <p:nvPr/>
        </p:nvSpPr>
        <p:spPr>
          <a:xfrm>
            <a:off x="9107424" y="31638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1" name="Text 89"/>
          <p:cNvSpPr txBox="1"/>
          <p:nvPr/>
        </p:nvSpPr>
        <p:spPr>
          <a:xfrm>
            <a:off x="7616952" y="3282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1400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818120" y="2377440"/>
            <a:ext cx="91" cy="740664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3" name="Shape 91"/>
          <p:cNvSpPr/>
          <p:nvPr/>
        </p:nvSpPr>
        <p:spPr>
          <a:xfrm flipV="1">
            <a:off x="7772400" y="23317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4" name="Shape 92"/>
          <p:cNvSpPr/>
          <p:nvPr/>
        </p:nvSpPr>
        <p:spPr>
          <a:xfrm flipV="1">
            <a:off x="7772400" y="307238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5" name="Shape 93"/>
          <p:cNvSpPr/>
          <p:nvPr/>
        </p:nvSpPr>
        <p:spPr>
          <a:xfrm>
            <a:off x="7735824" y="23774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6" name="Shape 94"/>
          <p:cNvSpPr/>
          <p:nvPr/>
        </p:nvSpPr>
        <p:spPr>
          <a:xfrm>
            <a:off x="7735824" y="3118104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7" name="Text 95"/>
          <p:cNvSpPr txBox="1"/>
          <p:nvPr/>
        </p:nvSpPr>
        <p:spPr>
          <a:xfrm>
            <a:off x="6300216" y="26563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900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740664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500 mm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9052560" y="3410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عرض صندلی، ساخت جدید (460 mm موجود).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7406640" y="3776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≥ 700 mm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9052560" y="3785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عمق ردیف نشیمن.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7406640" y="4151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110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90 mm (حداقل 60)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905256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C-value برای جایگاه‌های جدید: 90–120 mm؛ حداقل عملی 60 mm.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7406640" y="4526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110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حداکثر 28 صندلی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9052560" y="4535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هر ردیف بین دو راهرو (≤ 14 با راهرو در یک سمت)؛ راهرو ≥ 1.2 m.</a:t>
            </a:r>
            <a:endParaRPr lang="en-US" sz="800" dirty="0"/>
          </a:p>
        </p:txBody>
      </p:sp>
      <p:sp>
        <p:nvSpPr>
          <p:cNvPr id="106" name="Text 104"/>
          <p:cNvSpPr txBox="1"/>
          <p:nvPr/>
        </p:nvSpPr>
        <p:spPr>
          <a:xfrm>
            <a:off x="7406640" y="4901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1400 × 900 mm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9052560" y="4910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فضای تماشاگر ویلچری، با صندلی همراه در کنار.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7406640" y="5285232"/>
            <a:ext cx="2083003" cy="182880"/>
          </a:xfrm>
          <a:prstGeom prst="rect">
            <a:avLst/>
          </a:prstGeom>
          <a:solidFill>
            <a:srgbClr val="6B6B6B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9" name="Text 107"/>
          <p:cNvSpPr txBox="1"/>
          <p:nvPr/>
        </p:nvSpPr>
        <p:spPr>
          <a:xfrm>
            <a:off x="7406640" y="5298948"/>
            <a:ext cx="20830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راهنمای توصیه‌ای (بریتانیا)</a:t>
            </a:r>
            <a:endParaRPr lang="en-US" sz="650" dirty="0"/>
          </a:p>
        </p:txBody>
      </p:sp>
      <p:sp>
        <p:nvSpPr>
          <p:cNvPr id="110" name="Text 108"/>
          <p:cNvSpPr txBox="1"/>
          <p:nvPr/>
        </p:nvSpPr>
        <p:spPr>
          <a:xfrm>
            <a:off x="7406640" y="5532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SGSA، Guide to Safety at Sports Grounds («Green Guide»)، ویرایش ششم 2018، فصل 12 جایگاه نشسته؛ SGSA SG01 (2022).  فضای ویلچر: Sport England، Accessible Sports Facilities (2010).</a:t>
            </a:r>
            <a:endParaRPr lang="en-US" sz="750" dirty="0"/>
          </a:p>
        </p:txBody>
      </p:sp>
      <p:sp>
        <p:nvSpPr>
          <p:cNvPr id="111" name="Text 109"/>
          <p:cNvSpPr txBox="1"/>
          <p:nvPr/>
        </p:nvSpPr>
        <p:spPr>
          <a:xfrm>
            <a:off x="64008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مهم است  خطوط دید، نه تعداد صندلی، شیب جایگاه را تعیین می‌کنند: شیب + عمق ردیف ارتفاع سالن، هندسه‌ی پله و عمق محدوده‌ی تماشاگر را تعیین می‌کنند.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۰۴ — بسکتبال · ورزشکاران، رختکن و پشتیبانی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توالی کنترل‌شده‌ی ورزشکار + محور خدماتی که هرگز با مسیر عموم تلاقی نمی‌کند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توالی ورزشکار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377440" cy="50292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ورزشکاران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2148840"/>
            <a:ext cx="91" cy="246888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2377440" cy="50292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Text 7"/>
          <p:cNvSpPr txBox="1"/>
          <p:nvPr/>
        </p:nvSpPr>
        <p:spPr>
          <a:xfrm>
            <a:off x="640080" y="2395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اتاق رختکن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898648"/>
            <a:ext cx="91" cy="246888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1" name="Shape 9"/>
          <p:cNvSpPr/>
          <p:nvPr/>
        </p:nvSpPr>
        <p:spPr>
          <a:xfrm>
            <a:off x="640080" y="3145536"/>
            <a:ext cx="2377440" cy="50292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Text 10"/>
          <p:cNvSpPr txBox="1"/>
          <p:nvPr/>
        </p:nvSpPr>
        <p:spPr>
          <a:xfrm>
            <a:off x="640080" y="3145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دوش / سرویس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3648456"/>
            <a:ext cx="91" cy="246888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4" name="Shape 12"/>
          <p:cNvSpPr/>
          <p:nvPr/>
        </p:nvSpPr>
        <p:spPr>
          <a:xfrm>
            <a:off x="640080" y="3895344"/>
            <a:ext cx="2377440" cy="50292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Text 13"/>
          <p:cNvSpPr txBox="1"/>
          <p:nvPr/>
        </p:nvSpPr>
        <p:spPr>
          <a:xfrm>
            <a:off x="640080" y="38953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گرم‌کردن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4398264"/>
            <a:ext cx="91" cy="246888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7" name="Shape 15"/>
          <p:cNvSpPr/>
          <p:nvPr/>
        </p:nvSpPr>
        <p:spPr>
          <a:xfrm>
            <a:off x="640080" y="4645152"/>
            <a:ext cx="2377440" cy="50292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Text 16"/>
          <p:cNvSpPr txBox="1"/>
          <p:nvPr/>
        </p:nvSpPr>
        <p:spPr>
          <a:xfrm>
            <a:off x="640080" y="4645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395728"/>
            <a:ext cx="1600200" cy="411480"/>
          </a:xfrm>
          <a:prstGeom prst="rect">
            <a:avLst/>
          </a:prstGeom>
          <a:solidFill>
            <a:srgbClr val="9B7FBF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Text 18"/>
          <p:cNvSpPr txBox="1"/>
          <p:nvPr/>
        </p:nvSpPr>
        <p:spPr>
          <a:xfrm>
            <a:off x="3383280" y="23957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اتاق داوران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83280" y="3895344"/>
            <a:ext cx="1600200" cy="411480"/>
          </a:xfrm>
          <a:prstGeom prst="rect">
            <a:avLst/>
          </a:prstGeom>
          <a:solidFill>
            <a:srgbClr val="9B7FBF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Text 20"/>
          <p:cNvSpPr txBox="1"/>
          <p:nvPr/>
        </p:nvSpPr>
        <p:spPr>
          <a:xfrm>
            <a:off x="3383280" y="38953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مربیان / محدوده‌ی تیم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83280" y="4690872"/>
            <a:ext cx="1600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Text 22"/>
          <p:cNvSpPr txBox="1"/>
          <p:nvPr/>
        </p:nvSpPr>
        <p:spPr>
          <a:xfrm>
            <a:off x="3383280" y="46908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کمک‌های اولیه / پزشکی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 flipV="1">
            <a:off x="3017520" y="2596896"/>
            <a:ext cx="365760" cy="27432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6" name="Shape 24"/>
          <p:cNvSpPr/>
          <p:nvPr/>
        </p:nvSpPr>
        <p:spPr>
          <a:xfrm flipV="1">
            <a:off x="3017520" y="4096512"/>
            <a:ext cx="365760" cy="27432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7" name="Shape 25"/>
          <p:cNvSpPr/>
          <p:nvPr/>
        </p:nvSpPr>
        <p:spPr>
          <a:xfrm>
            <a:off x="3017520" y="4901184"/>
            <a:ext cx="36576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  <a:headEnd type="triangle"/>
            <a:tailEnd type="triangle"/>
          </a:ln>
        </p:spPr>
        <p:txBody>
          <a:bodyPr/>
          <a:p>
            <a:pPr/>
          </a:p>
        </p:txBody>
      </p:sp>
      <p:sp>
        <p:nvSpPr>
          <p:cNvPr id="28" name="Text 26"/>
          <p:cNvSpPr txBox="1"/>
          <p:nvPr/>
        </p:nvSpPr>
        <p:spPr>
          <a:xfrm>
            <a:off x="338328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مسیر مستقیم و بدون پله به زمین و به نقطه‌ی آمبولانس بیرونی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532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نیمکت: 16 صندلی / تیم (FIBA ماده 2.4.5) — محدوده‌ی تیم بین راهروی ورزشکاران و زمین قرار دارد.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پهنه‌بندی پشتیبانی / پشت صحنه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0" y="1737360"/>
            <a:ext cx="3291840" cy="2377440"/>
          </a:xfrm>
          <a:prstGeom prst="rect">
            <a:avLst/>
          </a:prstGeom>
          <a:solidFill>
            <a:srgbClr val="5BAA6A">
              <a:alpha val="45000"/>
            </a:srgbClr>
          </a:solidFill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2" name="Text 30"/>
          <p:cNvSpPr txBox="1"/>
          <p:nvPr/>
        </p:nvSpPr>
        <p:spPr>
          <a:xfrm>
            <a:off x="731520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652760" y="1737360"/>
            <a:ext cx="1143000" cy="1234440"/>
          </a:xfrm>
          <a:prstGeom prst="rect">
            <a:avLst/>
          </a:prstGeom>
          <a:solidFill>
            <a:srgbClr val="8C8C8C">
              <a:alpha val="5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4" name="Text 32"/>
          <p:cNvSpPr txBox="1"/>
          <p:nvPr/>
        </p:nvSpPr>
        <p:spPr>
          <a:xfrm>
            <a:off x="10652760" y="1737360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تجهیزات</a:t>
            </a:r>
            <a:endParaRPr lang="en-US" sz="750" dirty="0"/>
          </a:p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انبار</a:t>
            </a:r>
            <a:endParaRPr lang="en-US" sz="750" dirty="0"/>
          </a:p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(هم‌تراز کف،</a:t>
            </a:r>
            <a:endParaRPr lang="en-US" sz="750" dirty="0"/>
          </a:p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درهای عریض)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0652760" y="3063240"/>
            <a:ext cx="1143000" cy="457200"/>
          </a:xfrm>
          <a:prstGeom prst="rect">
            <a:avLst/>
          </a:prstGeom>
          <a:solidFill>
            <a:srgbClr val="8C8C8C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Text 34"/>
          <p:cNvSpPr txBox="1"/>
          <p:nvPr/>
        </p:nvSpPr>
        <p:spPr>
          <a:xfrm>
            <a:off x="10652760" y="3063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نظافت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0652760" y="3611880"/>
            <a:ext cx="1143000" cy="502920"/>
          </a:xfrm>
          <a:prstGeom prst="rect">
            <a:avLst/>
          </a:prstGeom>
          <a:solidFill>
            <a:srgbClr val="8C8C8C">
              <a:alpha val="7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8" name="Text 36"/>
          <p:cNvSpPr txBox="1"/>
          <p:nvPr/>
        </p:nvSpPr>
        <p:spPr>
          <a:xfrm>
            <a:off x="10652760" y="3611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خدماتی</a:t>
            </a:r>
            <a:endParaRPr lang="en-US" sz="750" dirty="0"/>
          </a:p>
          <a:p>
            <a:pPr algn="ctr" indent="0" marL="0" rtl="1">
              <a:buNone/>
            </a:pPr>
            <a:r>
              <a:rPr lang="fa-IR" sz="69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+ بارگیری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852160" y="1737360"/>
            <a:ext cx="1417320" cy="100584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Text 38"/>
          <p:cNvSpPr txBox="1"/>
          <p:nvPr/>
        </p:nvSpPr>
        <p:spPr>
          <a:xfrm>
            <a:off x="5852160" y="17373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</a:t>
            </a:r>
            <a:endParaRPr lang="en-US" sz="750" dirty="0"/>
          </a:p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+ داوران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52160" y="2834640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Text 40"/>
          <p:cNvSpPr txBox="1"/>
          <p:nvPr/>
        </p:nvSpPr>
        <p:spPr>
          <a:xfrm>
            <a:off x="585216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کمک‌های اولیه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852160" y="3429000"/>
            <a:ext cx="1417320" cy="685800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4" name="Text 42"/>
          <p:cNvSpPr txBox="1"/>
          <p:nvPr/>
        </p:nvSpPr>
        <p:spPr>
          <a:xfrm>
            <a:off x="5852160" y="34290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اتاق کارکنان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315200" y="4206240"/>
            <a:ext cx="1600200" cy="457200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6" name="Text 44"/>
          <p:cNvSpPr txBox="1"/>
          <p:nvPr/>
        </p:nvSpPr>
        <p:spPr>
          <a:xfrm>
            <a:off x="731520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حراست / کنترل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006840" y="4206240"/>
            <a:ext cx="1600200" cy="45720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8" name="Text 46"/>
          <p:cNvSpPr txBox="1"/>
          <p:nvPr/>
        </p:nvSpPr>
        <p:spPr>
          <a:xfrm>
            <a:off x="900684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سرسرای عمومی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 flipV="1">
            <a:off x="11228832" y="3017520"/>
            <a:ext cx="91" cy="594360"/>
          </a:xfrm>
          <a:prstGeom prst="line">
            <a:avLst/>
          </a:prstGeom>
          <a:noFill/>
          <a:ln w="22225">
            <a:solidFill>
              <a:srgbClr val="1A1A1A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50" name="Shape 48"/>
          <p:cNvSpPr/>
          <p:nvPr/>
        </p:nvSpPr>
        <p:spPr>
          <a:xfrm flipH="1">
            <a:off x="10607040" y="2331720"/>
            <a:ext cx="45720" cy="9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51" name="Shape 49"/>
          <p:cNvSpPr/>
          <p:nvPr/>
        </p:nvSpPr>
        <p:spPr>
          <a:xfrm>
            <a:off x="7269480" y="2240280"/>
            <a:ext cx="45720" cy="91"/>
          </a:xfrm>
          <a:prstGeom prst="line">
            <a:avLst/>
          </a:prstGeom>
          <a:noFill/>
          <a:ln w="22225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52" name="Text 50"/>
          <p:cNvSpPr txBox="1"/>
          <p:nvPr/>
        </p:nvSpPr>
        <p:spPr>
          <a:xfrm>
            <a:off x="5852160" y="47091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دیاگرام پهنه‌بندی — تفسیر معمارانه؛ موقعیت‌ها رابطه‌ای‌اند نه ابعادی.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5852160" y="4965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انبار ← سالن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85216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انبار تجهیزات مستقیم و هم‌تراز به کف بازی باز می‌شود.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8823960" y="4965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 ≠ عموم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8823960" y="5166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بارگیری و نظافت بدون عبور از سرسرا یا تماشاگران به سالن می‌رسند.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852160" y="54498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نقطه‌ی کنترل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5852160" y="5650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حراست در محل اتصال سرسرای عمومی و فضاهای کنترل‌شده قرار دارد.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8823960" y="54498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پزشکی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8823960" y="5650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کمک‌های اولیه مجاور رختکن و زمین؛ دسترسی آمبولانس از بیرون.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اصول برنامه‌ریزی — Sport England، Sports Halls: Design &amp; Layouts (2012) فضاهای پشتیبان؛ Sport England AISF Part D (2024). نیمکت: FIBA، Official Basketball Rules 2024 ماده 2.4.5.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64008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برای فضاهای پشتیبانی ابعادی نشان داده نشده: اندازه به برنامه و ظرفیت بستگی دارد؛ هیچ‌کدام به‌عنوان استاندارد ثابت تأیید نشد.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۰۵ — والیبال · فضای بازی، ارتفاع و تطبیق سالن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والیبال 18 × 9 m: منطقه‌ی آزاد + ارتفاع 12.5 m تعیین می‌کنند سالن میزبان بازی رسمی باشد یا نه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4393692" cy="2692908"/>
          </a:xfrm>
          <a:prstGeom prst="rect">
            <a:avLst/>
          </a:prstGeom>
          <a:solidFill>
            <a:srgbClr val="F3F3F3"/>
          </a:solidFill>
          <a:ln w="952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" name="Shape 3"/>
          <p:cNvSpPr/>
          <p:nvPr/>
        </p:nvSpPr>
        <p:spPr>
          <a:xfrm>
            <a:off x="1181862" y="1975104"/>
            <a:ext cx="3401568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6" name="Shape 4"/>
          <p:cNvSpPr/>
          <p:nvPr/>
        </p:nvSpPr>
        <p:spPr>
          <a:xfrm>
            <a:off x="1607058" y="2400300"/>
            <a:ext cx="2551176" cy="1275588"/>
          </a:xfrm>
          <a:prstGeom prst="rect">
            <a:avLst/>
          </a:prstGeom>
          <a:solidFill>
            <a:srgbClr val="5BAA6A">
              <a:alpha val="40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" name="Shape 5"/>
          <p:cNvSpPr/>
          <p:nvPr/>
        </p:nvSpPr>
        <p:spPr>
          <a:xfrm>
            <a:off x="2882646" y="2263140"/>
            <a:ext cx="91" cy="1549908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" name="Shape 6"/>
          <p:cNvSpPr/>
          <p:nvPr/>
        </p:nvSpPr>
        <p:spPr>
          <a:xfrm>
            <a:off x="2457450" y="2400300"/>
            <a:ext cx="91" cy="1275588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Shape 7"/>
          <p:cNvSpPr/>
          <p:nvPr/>
        </p:nvSpPr>
        <p:spPr>
          <a:xfrm>
            <a:off x="3307842" y="2400300"/>
            <a:ext cx="91" cy="1275588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Shape 8"/>
          <p:cNvSpPr/>
          <p:nvPr/>
        </p:nvSpPr>
        <p:spPr>
          <a:xfrm>
            <a:off x="1607058" y="2217420"/>
            <a:ext cx="2551176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Shape 9"/>
          <p:cNvSpPr/>
          <p:nvPr/>
        </p:nvSpPr>
        <p:spPr>
          <a:xfrm flipV="1">
            <a:off x="1561338" y="21717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Shape 10"/>
          <p:cNvSpPr/>
          <p:nvPr/>
        </p:nvSpPr>
        <p:spPr>
          <a:xfrm flipV="1">
            <a:off x="4112514" y="21717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Shape 11"/>
          <p:cNvSpPr/>
          <p:nvPr/>
        </p:nvSpPr>
        <p:spPr>
          <a:xfrm>
            <a:off x="1607058" y="21351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Shape 12"/>
          <p:cNvSpPr/>
          <p:nvPr/>
        </p:nvSpPr>
        <p:spPr>
          <a:xfrm>
            <a:off x="4158234" y="21351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Text 13"/>
          <p:cNvSpPr txBox="1"/>
          <p:nvPr/>
        </p:nvSpPr>
        <p:spPr>
          <a:xfrm>
            <a:off x="1968246" y="20162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73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18 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69898" y="2400300"/>
            <a:ext cx="91" cy="1275588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Shape 15"/>
          <p:cNvSpPr/>
          <p:nvPr/>
        </p:nvSpPr>
        <p:spPr>
          <a:xfrm flipV="1">
            <a:off x="1424178" y="23545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6"/>
          <p:cNvSpPr/>
          <p:nvPr/>
        </p:nvSpPr>
        <p:spPr>
          <a:xfrm flipV="1">
            <a:off x="1424178" y="36301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7"/>
          <p:cNvSpPr/>
          <p:nvPr/>
        </p:nvSpPr>
        <p:spPr>
          <a:xfrm>
            <a:off x="1387602" y="24003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8"/>
          <p:cNvSpPr/>
          <p:nvPr/>
        </p:nvSpPr>
        <p:spPr>
          <a:xfrm>
            <a:off x="1387602" y="36758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Text 19"/>
          <p:cNvSpPr txBox="1"/>
          <p:nvPr/>
        </p:nvSpPr>
        <p:spPr>
          <a:xfrm>
            <a:off x="-48006" y="294665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sz="73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9 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82646" y="3785616"/>
            <a:ext cx="425196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Shape 21"/>
          <p:cNvSpPr/>
          <p:nvPr/>
        </p:nvSpPr>
        <p:spPr>
          <a:xfrm flipV="1">
            <a:off x="2836926" y="373989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Shape 22"/>
          <p:cNvSpPr/>
          <p:nvPr/>
        </p:nvSpPr>
        <p:spPr>
          <a:xfrm flipV="1">
            <a:off x="3262122" y="373989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Shape 23"/>
          <p:cNvSpPr/>
          <p:nvPr/>
        </p:nvSpPr>
        <p:spPr>
          <a:xfrm>
            <a:off x="2882646" y="3703320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Shape 24"/>
          <p:cNvSpPr/>
          <p:nvPr/>
        </p:nvSpPr>
        <p:spPr>
          <a:xfrm>
            <a:off x="3307842" y="3703320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Text 25"/>
          <p:cNvSpPr txBox="1"/>
          <p:nvPr/>
        </p:nvSpPr>
        <p:spPr>
          <a:xfrm>
            <a:off x="2180844" y="3822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3 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158234" y="3038094"/>
            <a:ext cx="425196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Shape 27"/>
          <p:cNvSpPr/>
          <p:nvPr/>
        </p:nvSpPr>
        <p:spPr>
          <a:xfrm flipV="1">
            <a:off x="4112514" y="299237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Shape 28"/>
          <p:cNvSpPr/>
          <p:nvPr/>
        </p:nvSpPr>
        <p:spPr>
          <a:xfrm flipV="1">
            <a:off x="4537710" y="299237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Shape 29"/>
          <p:cNvSpPr/>
          <p:nvPr/>
        </p:nvSpPr>
        <p:spPr>
          <a:xfrm>
            <a:off x="4158234" y="2955798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2" name="Shape 30"/>
          <p:cNvSpPr/>
          <p:nvPr/>
        </p:nvSpPr>
        <p:spPr>
          <a:xfrm>
            <a:off x="4583430" y="2955798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3" name="Text 31"/>
          <p:cNvSpPr txBox="1"/>
          <p:nvPr/>
        </p:nvSpPr>
        <p:spPr>
          <a:xfrm>
            <a:off x="3456432" y="283692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3 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83430" y="3312414"/>
            <a:ext cx="49606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5" name="Shape 33"/>
          <p:cNvSpPr/>
          <p:nvPr/>
        </p:nvSpPr>
        <p:spPr>
          <a:xfrm flipV="1">
            <a:off x="4537710" y="326669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Shape 34"/>
          <p:cNvSpPr/>
          <p:nvPr/>
        </p:nvSpPr>
        <p:spPr>
          <a:xfrm flipV="1">
            <a:off x="5033772" y="326669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7" name="Shape 35"/>
          <p:cNvSpPr/>
          <p:nvPr/>
        </p:nvSpPr>
        <p:spPr>
          <a:xfrm>
            <a:off x="4583430" y="3230118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8" name="Shape 36"/>
          <p:cNvSpPr/>
          <p:nvPr/>
        </p:nvSpPr>
        <p:spPr>
          <a:xfrm>
            <a:off x="5079492" y="3230118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9" name="Text 37"/>
          <p:cNvSpPr txBox="1"/>
          <p:nvPr/>
        </p:nvSpPr>
        <p:spPr>
          <a:xfrm>
            <a:off x="3917061" y="311124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6.5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244852" y="3675888"/>
            <a:ext cx="91" cy="70866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1" name="Shape 39"/>
          <p:cNvSpPr/>
          <p:nvPr/>
        </p:nvSpPr>
        <p:spPr>
          <a:xfrm flipV="1">
            <a:off x="2199132" y="36301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Shape 40"/>
          <p:cNvSpPr/>
          <p:nvPr/>
        </p:nvSpPr>
        <p:spPr>
          <a:xfrm flipV="1">
            <a:off x="2199132" y="433882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3" name="Shape 41"/>
          <p:cNvSpPr/>
          <p:nvPr/>
        </p:nvSpPr>
        <p:spPr>
          <a:xfrm>
            <a:off x="2162556" y="36758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4" name="Shape 42"/>
          <p:cNvSpPr/>
          <p:nvPr/>
        </p:nvSpPr>
        <p:spPr>
          <a:xfrm>
            <a:off x="2162556" y="438454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5" name="Text 43"/>
          <p:cNvSpPr txBox="1"/>
          <p:nvPr/>
        </p:nvSpPr>
        <p:spPr>
          <a:xfrm>
            <a:off x="726948" y="393877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5 m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2151126" y="1737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تور / خط وسط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45262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خطوط حمله 3 m از خط وسط · همه‌ی خطوط 5 cm عرض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85800" y="4892040"/>
            <a:ext cx="36576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9" name="Text 47"/>
          <p:cNvSpPr txBox="1"/>
          <p:nvPr/>
        </p:nvSpPr>
        <p:spPr>
          <a:xfrm>
            <a:off x="1143000" y="48097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18 × 9 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5800" y="5111496"/>
            <a:ext cx="36576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1" name="Text 49"/>
          <p:cNvSpPr txBox="1"/>
          <p:nvPr/>
        </p:nvSpPr>
        <p:spPr>
          <a:xfrm>
            <a:off x="1143000" y="50292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حداقل منطقه‌ی آزاد 3 m ← 24 × 15 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5800" y="5330952"/>
            <a:ext cx="36576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3" name="Text 51"/>
          <p:cNvSpPr txBox="1"/>
          <p:nvPr/>
        </p:nvSpPr>
        <p:spPr>
          <a:xfrm>
            <a:off x="1143000" y="52486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FIVB / جهانی / رسمی: 5 m در طرفین، 6.5 m در انتها ← 31 × 19 m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85800" y="5532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پلان — دیاگرام بازترسیم‌شده بر اساس قوانین FIVB 2025–28، قانون 1 و دیاگرام 1a/1b.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530352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مقطع — فضای آزاد بازی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03520" y="4983480"/>
            <a:ext cx="2560320" cy="9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>
            <a:off x="5303520" y="3319272"/>
            <a:ext cx="237744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8" name="Text 56"/>
          <p:cNvSpPr txBox="1"/>
          <p:nvPr/>
        </p:nvSpPr>
        <p:spPr>
          <a:xfrm>
            <a:off x="5349240" y="3346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7 m عمومی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303520" y="3200400"/>
            <a:ext cx="2377440" cy="91"/>
          </a:xfrm>
          <a:prstGeom prst="line">
            <a:avLst/>
          </a:prstGeom>
          <a:noFill/>
          <a:ln w="15875">
            <a:solidFill>
              <a:srgbClr val="5BAA6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0" name="Text 58"/>
          <p:cNvSpPr txBox="1"/>
          <p:nvPr/>
        </p:nvSpPr>
        <p:spPr>
          <a:xfrm>
            <a:off x="5349240" y="3017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5BAA6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7.5 m سالن SE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303520" y="2011680"/>
            <a:ext cx="237744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62" name="Text 60"/>
          <p:cNvSpPr txBox="1"/>
          <p:nvPr/>
        </p:nvSpPr>
        <p:spPr>
          <a:xfrm>
            <a:off x="5349240" y="18288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12.5 m رسمی FIVB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 flipV="1">
            <a:off x="6492240" y="4405762"/>
            <a:ext cx="91" cy="577718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4" name="Text 62"/>
          <p:cNvSpPr txBox="1"/>
          <p:nvPr/>
        </p:nvSpPr>
        <p:spPr>
          <a:xfrm>
            <a:off x="6583680" y="436004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تور 2.43 m (آقایان)</a:t>
            </a:r>
            <a:endParaRPr lang="en-US" sz="700" dirty="0"/>
          </a:p>
          <a:p>
            <a:pPr indent="0" marL="0" rtl="1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2.24 m (بانوان)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732785" y="4553712"/>
            <a:ext cx="55870" cy="55870"/>
          </a:xfrm>
          <a:prstGeom prst="ellipse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6" name="Shape 64"/>
          <p:cNvSpPr/>
          <p:nvPr/>
        </p:nvSpPr>
        <p:spPr>
          <a:xfrm>
            <a:off x="5726339" y="4612375"/>
            <a:ext cx="68763" cy="193396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7" name="Shape 65"/>
          <p:cNvSpPr/>
          <p:nvPr/>
        </p:nvSpPr>
        <p:spPr>
          <a:xfrm>
            <a:off x="5730636" y="4805771"/>
            <a:ext cx="25786" cy="177709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8" name="Shape 66"/>
          <p:cNvSpPr/>
          <p:nvPr/>
        </p:nvSpPr>
        <p:spPr>
          <a:xfrm>
            <a:off x="5765018" y="4805771"/>
            <a:ext cx="25786" cy="177709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69" name="Shape 67"/>
          <p:cNvSpPr/>
          <p:nvPr/>
        </p:nvSpPr>
        <p:spPr>
          <a:xfrm>
            <a:off x="7195825" y="4553712"/>
            <a:ext cx="55870" cy="55870"/>
          </a:xfrm>
          <a:prstGeom prst="ellipse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70" name="Shape 68"/>
          <p:cNvSpPr/>
          <p:nvPr/>
        </p:nvSpPr>
        <p:spPr>
          <a:xfrm>
            <a:off x="7189379" y="4612375"/>
            <a:ext cx="68763" cy="193396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71" name="Shape 69"/>
          <p:cNvSpPr/>
          <p:nvPr/>
        </p:nvSpPr>
        <p:spPr>
          <a:xfrm>
            <a:off x="7193676" y="4805771"/>
            <a:ext cx="25786" cy="177709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72" name="Shape 70"/>
          <p:cNvSpPr/>
          <p:nvPr/>
        </p:nvSpPr>
        <p:spPr>
          <a:xfrm>
            <a:off x="7228058" y="4805771"/>
            <a:ext cx="25786" cy="177709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p>
            <a:pPr/>
          </a:p>
        </p:txBody>
      </p:sp>
      <p:sp>
        <p:nvSpPr>
          <p:cNvPr id="73" name="Text 71"/>
          <p:cNvSpPr txBox="1"/>
          <p:nvPr/>
        </p:nvSpPr>
        <p:spPr>
          <a:xfrm>
            <a:off x="8412480" y="12801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تطبیق سالن  (SE 34.5 × 20 × 7.5 m)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554480"/>
          <a:ext cx="3337560" cy="914400"/>
        </p:xfrm>
        <a:graphic>
          <a:graphicData uri="http://schemas.openxmlformats.org/drawingml/2006/table">
            <a:tbl>
              <a:tblPr rtl="1"/>
              <a:tblGrid>
                <a:gridCol w="1143000"/>
                <a:gridCol w="1234440"/>
                <a:gridCol w="960120"/>
              </a:tblGrid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چیدمان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ابعاد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جا می‌شود؟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والیبال + 3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24 × 15 m · 7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بله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والیبال FIVB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31 × 19 m · 12.5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پلان 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ارتفاع ✗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بسکتبال + 2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32 × 19 m · 7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بله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" name="Shape 72"/>
          <p:cNvSpPr/>
          <p:nvPr/>
        </p:nvSpPr>
        <p:spPr>
          <a:xfrm>
            <a:off x="8412480" y="3063240"/>
            <a:ext cx="229697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6" name="Text 73"/>
          <p:cNvSpPr txBox="1"/>
          <p:nvPr/>
        </p:nvSpPr>
        <p:spPr>
          <a:xfrm>
            <a:off x="8412480" y="3076956"/>
            <a:ext cx="22969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 از مقادیر مستند</a:t>
            </a:r>
            <a:endParaRPr lang="en-US" sz="650" dirty="0"/>
          </a:p>
        </p:txBody>
      </p:sp>
      <p:sp>
        <p:nvSpPr>
          <p:cNvPr id="77" name="Text 74"/>
          <p:cNvSpPr txBox="1"/>
          <p:nvPr/>
        </p:nvSpPr>
        <p:spPr>
          <a:xfrm>
            <a:off x="8412480" y="33375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استاندارد ۴ زمینه همه‌ی زمین‌ها را در پلان می‌پذیرد، اما فقط حجم مسابقه‌ای (≥ 12.5 m) بازی سطح FIVB را میزبانی می‌کند ← سطح مسابقات را پیش از تعیین ارتفاع سقف مشخص کنید.</a:t>
            </a:r>
            <a:endParaRPr lang="en-US" sz="850" dirty="0"/>
          </a:p>
        </p:txBody>
      </p:sp>
      <p:sp>
        <p:nvSpPr>
          <p:cNvPr id="78" name="Text 75"/>
          <p:cNvSpPr txBox="1"/>
          <p:nvPr/>
        </p:nvSpPr>
        <p:spPr>
          <a:xfrm>
            <a:off x="8412480" y="42062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تماشاگران · بازیکنان · پشتیبانی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8412480" y="44348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spcAft>
                <a:spcPts val="300"/>
              </a:spcAft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تماشاگران: </a:t>
            </a:r>
            <a:pPr indent="0" marL="0">
              <a:spcAft>
                <a:spcPts val="300"/>
              </a:spcAft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همان قواعد صندلی/ردیف/C-value گرین‌گاید در اسلاید ۰۴؛ ردیف اول بعد از منطقه‌ی آزاد (5 / 6.5 m در سطح رسمی).</a:t>
            </a:r>
            <a:endParaRPr lang="en-US" sz="800" dirty="0"/>
          </a:p>
          <a:p>
            <a:pPr indent="0" marL="0" rtl="1" algn="r">
              <a:spcAft>
                <a:spcPts val="300"/>
              </a:spcAft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بازیکنان: </a:t>
            </a:r>
            <a:pPr indent="0" marL="0">
              <a:spcAft>
                <a:spcPts val="300"/>
              </a:spcAft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نیمکت تیم‌ها کنار میز ثبت امتیاز، بیرون منطقه‌ی آزاد (قانون 1.4).</a:t>
            </a:r>
            <a:endParaRPr lang="en-US" sz="800" dirty="0"/>
          </a:p>
          <a:p>
            <a:pPr indent="0" marL="0" rtl="1" algn="r">
              <a:spcAft>
                <a:spcPts val="300"/>
              </a:spcAft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 / پشتیبانی: </a:t>
            </a:r>
            <a:pPr indent="0" marL="0">
              <a:spcAft>
                <a:spcPts val="300"/>
              </a:spcAft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توالی مشابه بسکتبال — سالن مشترک است.</a:t>
            </a:r>
            <a:endParaRPr lang="en-US" sz="800" dirty="0"/>
          </a:p>
        </p:txBody>
      </p:sp>
      <p:sp>
        <p:nvSpPr>
          <p:cNvPr id="80" name="Text 77"/>
          <p:cNvSpPr txBox="1"/>
          <p:nvPr/>
        </p:nvSpPr>
        <p:spPr>
          <a:xfrm>
            <a:off x="685800" y="5870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FIVB، Official Volleyball Rules 2025–2028 — قانون 1 «محوطه‌ی بازی» (1.1 ابعاد و منطقه‌ی آزاد، 1.1.2 فضای آزاد بازی، 1.3 خطوط، 1.4 مناطق).  سالن: Sport England، Sports Halls: Design &amp; Layouts (2012) — سالن ۴ زمینه‌ی 34.5 × 20.0 × 7.5 m.</a:t>
            </a:r>
            <a:endParaRPr lang="en-US" sz="750" dirty="0"/>
          </a:p>
        </p:txBody>
      </p:sp>
      <p:sp>
        <p:nvSpPr>
          <p:cNvPr id="81" name="Text 78"/>
          <p:cNvSpPr txBox="1"/>
          <p:nvPr/>
        </p:nvSpPr>
        <p:spPr>
          <a:xfrm>
            <a:off x="68580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انواع  18 × 9 m، منطقه‌ی آزاد 3 m، ارتفاع 7 m = قانون همه‌ی بازی‌ها · 5 / 6.5 m + 12.5 m = فقط مسابقات FIVB، جهانی و رسمی.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۰۶ — سیستم‌های گردش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سه جریان جدا فقط در لبه‌ی زمین به هم می‌رسند — آن هم با طراحی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43000" y="1325880"/>
            <a:ext cx="6675120" cy="397764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" name="Shape 3"/>
          <p:cNvSpPr/>
          <p:nvPr/>
        </p:nvSpPr>
        <p:spPr>
          <a:xfrm>
            <a:off x="2971800" y="1965960"/>
            <a:ext cx="3291840" cy="1920240"/>
          </a:xfrm>
          <a:prstGeom prst="rect">
            <a:avLst/>
          </a:prstGeom>
          <a:solidFill>
            <a:srgbClr val="5BAA6A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" name="Text 4"/>
          <p:cNvSpPr txBox="1"/>
          <p:nvPr/>
        </p:nvSpPr>
        <p:spPr>
          <a:xfrm>
            <a:off x="29718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3886200"/>
            <a:ext cx="3291840" cy="548640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" name="Text 6"/>
          <p:cNvSpPr txBox="1"/>
          <p:nvPr/>
        </p:nvSpPr>
        <p:spPr>
          <a:xfrm>
            <a:off x="2971800" y="3886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جایگاه تماشاگران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71800" y="4434840"/>
            <a:ext cx="3291840" cy="868680"/>
          </a:xfrm>
          <a:prstGeom prst="rect">
            <a:avLst/>
          </a:prstGeom>
          <a:solidFill>
            <a:srgbClr val="F2B134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Text 8"/>
          <p:cNvSpPr txBox="1"/>
          <p:nvPr/>
        </p:nvSpPr>
        <p:spPr>
          <a:xfrm>
            <a:off x="297180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پذیرش · سرسرا · سرویس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43000" y="1325880"/>
            <a:ext cx="1828800" cy="1828800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Text 10"/>
          <p:cNvSpPr txBox="1"/>
          <p:nvPr/>
        </p:nvSpPr>
        <p:spPr>
          <a:xfrm>
            <a:off x="11430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</a:t>
            </a:r>
            <a:endParaRPr lang="en-US" sz="800" dirty="0"/>
          </a:p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دوش · سرویس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3154680"/>
            <a:ext cx="1828800" cy="731520"/>
          </a:xfrm>
          <a:prstGeom prst="rect">
            <a:avLst/>
          </a:prstGeom>
          <a:solidFill>
            <a:srgbClr val="9B7FBF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Text 12"/>
          <p:cNvSpPr txBox="1"/>
          <p:nvPr/>
        </p:nvSpPr>
        <p:spPr>
          <a:xfrm>
            <a:off x="11430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گرم‌کردن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1554480" cy="2560320"/>
          </a:xfrm>
          <a:prstGeom prst="rect">
            <a:avLst/>
          </a:prstGeom>
          <a:solidFill>
            <a:srgbClr val="8C8C8C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Text 14"/>
          <p:cNvSpPr txBox="1"/>
          <p:nvPr/>
        </p:nvSpPr>
        <p:spPr>
          <a:xfrm>
            <a:off x="626364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انبار</a:t>
            </a:r>
            <a:endParaRPr lang="en-US" sz="800" dirty="0"/>
          </a:p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تجهیزات</a:t>
            </a:r>
            <a:endParaRPr lang="en-US" sz="800" dirty="0"/>
          </a:p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1737360"/>
            <a:ext cx="96012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6"/>
          <p:cNvSpPr/>
          <p:nvPr/>
        </p:nvSpPr>
        <p:spPr>
          <a:xfrm>
            <a:off x="1691640" y="1737360"/>
            <a:ext cx="91" cy="1828800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7"/>
          <p:cNvSpPr/>
          <p:nvPr/>
        </p:nvSpPr>
        <p:spPr>
          <a:xfrm>
            <a:off x="1691640" y="3566160"/>
            <a:ext cx="91440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8"/>
          <p:cNvSpPr/>
          <p:nvPr/>
        </p:nvSpPr>
        <p:spPr>
          <a:xfrm flipV="1">
            <a:off x="2606040" y="3154680"/>
            <a:ext cx="640080" cy="411480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21" name="Text 19"/>
          <p:cNvSpPr txBox="1"/>
          <p:nvPr/>
        </p:nvSpPr>
        <p:spPr>
          <a:xfrm>
            <a:off x="502920" y="1325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</a:t>
            </a:r>
            <a:endParaRPr lang="en-US" sz="700" dirty="0"/>
          </a:p>
          <a:p>
            <a:pPr indent="0" marL="0" rtl="1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ورزشکاران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 flipV="1">
            <a:off x="4251960" y="4800600"/>
            <a:ext cx="91" cy="86868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3" name="Shape 21"/>
          <p:cNvSpPr/>
          <p:nvPr/>
        </p:nvSpPr>
        <p:spPr>
          <a:xfrm flipH="1" flipV="1">
            <a:off x="3611880" y="4526280"/>
            <a:ext cx="640080" cy="27432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4" name="Shape 22"/>
          <p:cNvSpPr/>
          <p:nvPr/>
        </p:nvSpPr>
        <p:spPr>
          <a:xfrm flipV="1">
            <a:off x="3611880" y="4114800"/>
            <a:ext cx="91" cy="41148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25" name="Shape 23"/>
          <p:cNvSpPr/>
          <p:nvPr/>
        </p:nvSpPr>
        <p:spPr>
          <a:xfrm>
            <a:off x="5532120" y="4160520"/>
            <a:ext cx="365760" cy="64008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6" name="Shape 24"/>
          <p:cNvSpPr/>
          <p:nvPr/>
        </p:nvSpPr>
        <p:spPr>
          <a:xfrm>
            <a:off x="5897880" y="4800600"/>
            <a:ext cx="91" cy="868680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27" name="Text 25"/>
          <p:cNvSpPr txBox="1"/>
          <p:nvPr/>
        </p:nvSpPr>
        <p:spPr>
          <a:xfrm>
            <a:off x="3154680" y="5687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اصلی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55046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خروج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 flipH="1">
            <a:off x="7178040" y="1691640"/>
            <a:ext cx="105156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</a:ln>
        </p:spPr>
        <p:txBody>
          <a:bodyPr/>
          <a:p>
            <a:pPr/>
          </a:p>
        </p:txBody>
      </p:sp>
      <p:sp>
        <p:nvSpPr>
          <p:cNvPr id="30" name="Shape 28"/>
          <p:cNvSpPr/>
          <p:nvPr/>
        </p:nvSpPr>
        <p:spPr>
          <a:xfrm>
            <a:off x="7178040" y="1691640"/>
            <a:ext cx="91" cy="1234440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</a:ln>
        </p:spPr>
        <p:txBody>
          <a:bodyPr/>
          <a:p>
            <a:pPr/>
          </a:p>
        </p:txBody>
      </p:sp>
      <p:sp>
        <p:nvSpPr>
          <p:cNvPr id="31" name="Shape 29"/>
          <p:cNvSpPr/>
          <p:nvPr/>
        </p:nvSpPr>
        <p:spPr>
          <a:xfrm flipH="1">
            <a:off x="6446520" y="2926080"/>
            <a:ext cx="73152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</a:ln>
        </p:spPr>
        <p:txBody>
          <a:bodyPr/>
          <a:p>
            <a:pPr/>
          </a:p>
        </p:txBody>
      </p:sp>
      <p:sp>
        <p:nvSpPr>
          <p:cNvPr id="32" name="Shape 30"/>
          <p:cNvSpPr/>
          <p:nvPr/>
        </p:nvSpPr>
        <p:spPr>
          <a:xfrm flipH="1">
            <a:off x="5897880" y="2926080"/>
            <a:ext cx="54864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  <a:tailEnd type="triangle"/>
          </a:ln>
        </p:spPr>
        <p:txBody>
          <a:bodyPr/>
          <a:p>
            <a:pPr/>
          </a:p>
        </p:txBody>
      </p:sp>
      <p:sp>
        <p:nvSpPr>
          <p:cNvPr id="33" name="Text 31"/>
          <p:cNvSpPr txBox="1"/>
          <p:nvPr/>
        </p:nvSpPr>
        <p:spPr>
          <a:xfrm>
            <a:off x="7863840" y="1371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700" dirty="0"/>
          </a:p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ورزشکاران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43200" y="3657600"/>
            <a:ext cx="457200" cy="457200"/>
          </a:xfrm>
          <a:prstGeom prst="ellipse">
            <a:avLst/>
          </a:prstGeom>
          <a:ln w="19050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35" name="Text 33"/>
          <p:cNvSpPr txBox="1"/>
          <p:nvPr/>
        </p:nvSpPr>
        <p:spPr>
          <a:xfrm>
            <a:off x="118872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تقاطع کنترل‌شده</a:t>
            </a:r>
            <a:endParaRPr lang="en-US" sz="700" dirty="0"/>
          </a:p>
          <a:p>
            <a:pPr algn="ctr" indent="0" marL="0" rtl="1">
              <a:buNone/>
            </a:pPr>
            <a:r>
              <a:rPr lang="fa-IR" sz="644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(فقط در لبه‌ی زمین)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580644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دیاگرام گردش — تفسیر معمارانه (اصل کلی، نه یک ساختمان خاص).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412480" y="1527048"/>
            <a:ext cx="64008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38" name="Text 36"/>
          <p:cNvSpPr txBox="1"/>
          <p:nvPr/>
        </p:nvSpPr>
        <p:spPr>
          <a:xfrm>
            <a:off x="918972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ورزشکار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189720" y="1673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ورزشکاران ← رختکن ← دوش ← گرم‌کردن ← زمین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412480" y="2395728"/>
            <a:ext cx="640080" cy="91"/>
          </a:xfrm>
          <a:prstGeom prst="line">
            <a:avLst/>
          </a:prstGeom>
          <a:noFill/>
          <a:ln w="3175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41" name="Text 39"/>
          <p:cNvSpPr txBox="1"/>
          <p:nvPr/>
        </p:nvSpPr>
        <p:spPr>
          <a:xfrm>
            <a:off x="918972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18972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اصلی ← پذیرش ← محدوده‌ی تماشاگر ← جایگاه ← خروج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412480" y="3264408"/>
            <a:ext cx="64008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  <a:tailEnd type="triangle"/>
          </a:ln>
        </p:spPr>
        <p:txBody>
          <a:bodyPr/>
          <a:p>
            <a:pPr/>
          </a:p>
        </p:txBody>
      </p:sp>
      <p:sp>
        <p:nvSpPr>
          <p:cNvPr id="44" name="Text 42"/>
          <p:cNvSpPr txBox="1"/>
          <p:nvPr/>
        </p:nvSpPr>
        <p:spPr>
          <a:xfrm>
            <a:off x="9189720" y="3154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189720" y="3410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خدماتی ← انبار ← تجهیزات ← سالن ورزشی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841248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قواعد طراحی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412480" y="4389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ورودی‌های جدا در نماهای مختلف.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تماشاگران هرگز از رختکن یا انبار عبور نمی‌کنند.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 بدون پله به تراز کف سالن می‌رسد.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ابعاد و محل خروجی‌ها طبق مقررات حریق (مبحث ۳) — برای تصرف انتخابی کنترل شود.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اصل برگرفته از راهنمای سالن‌های ورزشی Sport England (پهنه‌بندی رختکن، انبار، تماشاگر و فضای عمومی)؛ خروج اضطراری — مبحث ۳ مقررات ملی (حفاظت در برابر حریق).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۰۷ — رختکن + دوش + پشتیبانی ورزشکار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خشک ← گذار ← خیس: توالی یک‌طرفه از ورودی تا سالن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669280" cy="396849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01568" cy="3968496"/>
          </a:xfrm>
          <a:prstGeom prst="rect">
            <a:avLst/>
          </a:prstGeom>
          <a:solidFill>
            <a:srgbClr val="9B7FBF">
              <a:alpha val="18000"/>
            </a:srgbClr>
          </a:solidFill>
          <a:ln/>
        </p:spPr>
        <p:txBody>
          <a:bodyPr/>
          <a:p>
            <a:pPr/>
          </a:p>
        </p:txBody>
      </p:sp>
      <p:sp>
        <p:nvSpPr>
          <p:cNvPr id="6" name="Shape 4"/>
          <p:cNvSpPr/>
          <p:nvPr/>
        </p:nvSpPr>
        <p:spPr>
          <a:xfrm>
            <a:off x="4041648" y="1417320"/>
            <a:ext cx="2267712" cy="2551176"/>
          </a:xfrm>
          <a:prstGeom prst="rect">
            <a:avLst/>
          </a:prstGeom>
          <a:solidFill>
            <a:srgbClr val="6FA8DC">
              <a:alpha val="40000"/>
            </a:srgbClr>
          </a:solidFill>
          <a:ln/>
        </p:spPr>
        <p:txBody>
          <a:bodyPr/>
          <a:p>
            <a:pPr/>
          </a:p>
        </p:txBody>
      </p:sp>
      <p:sp>
        <p:nvSpPr>
          <p:cNvPr id="7" name="Shape 5"/>
          <p:cNvSpPr/>
          <p:nvPr/>
        </p:nvSpPr>
        <p:spPr>
          <a:xfrm>
            <a:off x="4041648" y="3968496"/>
            <a:ext cx="2267712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8" name="Shape 6"/>
          <p:cNvSpPr/>
          <p:nvPr/>
        </p:nvSpPr>
        <p:spPr>
          <a:xfrm>
            <a:off x="4041648" y="1417320"/>
            <a:ext cx="91" cy="3968496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9" name="Shape 7"/>
          <p:cNvSpPr/>
          <p:nvPr/>
        </p:nvSpPr>
        <p:spPr>
          <a:xfrm>
            <a:off x="777240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Shape 8"/>
          <p:cNvSpPr/>
          <p:nvPr/>
        </p:nvSpPr>
        <p:spPr>
          <a:xfrm>
            <a:off x="1060704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Shape 9"/>
          <p:cNvSpPr/>
          <p:nvPr/>
        </p:nvSpPr>
        <p:spPr>
          <a:xfrm>
            <a:off x="1344168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Shape 10"/>
          <p:cNvSpPr/>
          <p:nvPr/>
        </p:nvSpPr>
        <p:spPr>
          <a:xfrm>
            <a:off x="1627632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Shape 11"/>
          <p:cNvSpPr/>
          <p:nvPr/>
        </p:nvSpPr>
        <p:spPr>
          <a:xfrm>
            <a:off x="1911096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Shape 12"/>
          <p:cNvSpPr/>
          <p:nvPr/>
        </p:nvSpPr>
        <p:spPr>
          <a:xfrm>
            <a:off x="2194560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Shape 13"/>
          <p:cNvSpPr/>
          <p:nvPr/>
        </p:nvSpPr>
        <p:spPr>
          <a:xfrm>
            <a:off x="2478024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Shape 14"/>
          <p:cNvSpPr/>
          <p:nvPr/>
        </p:nvSpPr>
        <p:spPr>
          <a:xfrm>
            <a:off x="2761488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Shape 15"/>
          <p:cNvSpPr/>
          <p:nvPr/>
        </p:nvSpPr>
        <p:spPr>
          <a:xfrm>
            <a:off x="3044952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6"/>
          <p:cNvSpPr/>
          <p:nvPr/>
        </p:nvSpPr>
        <p:spPr>
          <a:xfrm>
            <a:off x="3328416" y="1463040"/>
            <a:ext cx="26517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Text 17"/>
          <p:cNvSpPr txBox="1"/>
          <p:nvPr/>
        </p:nvSpPr>
        <p:spPr>
          <a:xfrm>
            <a:off x="777240" y="1801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کمدها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77240" y="2651760"/>
            <a:ext cx="3061411" cy="226771"/>
          </a:xfrm>
          <a:prstGeom prst="rect">
            <a:avLst/>
          </a:prstGeom>
          <a:solidFill>
            <a:srgbClr val="6B6B6B">
              <a:alpha val="7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Shape 19"/>
          <p:cNvSpPr/>
          <p:nvPr/>
        </p:nvSpPr>
        <p:spPr>
          <a:xfrm>
            <a:off x="777240" y="4160520"/>
            <a:ext cx="3061411" cy="226771"/>
          </a:xfrm>
          <a:prstGeom prst="rect">
            <a:avLst/>
          </a:prstGeom>
          <a:solidFill>
            <a:srgbClr val="6B6B6B">
              <a:alpha val="7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Shape 20"/>
          <p:cNvSpPr/>
          <p:nvPr/>
        </p:nvSpPr>
        <p:spPr>
          <a:xfrm>
            <a:off x="128016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Shape 21"/>
          <p:cNvSpPr/>
          <p:nvPr/>
        </p:nvSpPr>
        <p:spPr>
          <a:xfrm>
            <a:off x="178308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Shape 22"/>
          <p:cNvSpPr/>
          <p:nvPr/>
        </p:nvSpPr>
        <p:spPr>
          <a:xfrm>
            <a:off x="228600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Shape 23"/>
          <p:cNvSpPr/>
          <p:nvPr/>
        </p:nvSpPr>
        <p:spPr>
          <a:xfrm>
            <a:off x="278892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Shape 24"/>
          <p:cNvSpPr/>
          <p:nvPr/>
        </p:nvSpPr>
        <p:spPr>
          <a:xfrm>
            <a:off x="3291840" y="4160520"/>
            <a:ext cx="91" cy="226771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Shape 25"/>
          <p:cNvSpPr/>
          <p:nvPr/>
        </p:nvSpPr>
        <p:spPr>
          <a:xfrm>
            <a:off x="777240" y="4497019"/>
            <a:ext cx="502920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8" name="Shape 26"/>
          <p:cNvSpPr/>
          <p:nvPr/>
        </p:nvSpPr>
        <p:spPr>
          <a:xfrm flipV="1">
            <a:off x="731520" y="4451299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Shape 27"/>
          <p:cNvSpPr/>
          <p:nvPr/>
        </p:nvSpPr>
        <p:spPr>
          <a:xfrm flipV="1">
            <a:off x="1234440" y="4451299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Shape 28"/>
          <p:cNvSpPr/>
          <p:nvPr/>
        </p:nvSpPr>
        <p:spPr>
          <a:xfrm>
            <a:off x="777240" y="4414723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Shape 29"/>
          <p:cNvSpPr/>
          <p:nvPr/>
        </p:nvSpPr>
        <p:spPr>
          <a:xfrm>
            <a:off x="1280160" y="4414723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2" name="Text 30"/>
          <p:cNvSpPr txBox="1"/>
          <p:nvPr/>
        </p:nvSpPr>
        <p:spPr>
          <a:xfrm>
            <a:off x="114300" y="453359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500 / نفر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2441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نیمکت + چوب‌لباسی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15968" y="1527048"/>
            <a:ext cx="118872" cy="11887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5" name="Shape 33"/>
          <p:cNvSpPr/>
          <p:nvPr/>
        </p:nvSpPr>
        <p:spPr>
          <a:xfrm>
            <a:off x="4741164" y="1527048"/>
            <a:ext cx="118872" cy="11887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Shape 34"/>
          <p:cNvSpPr/>
          <p:nvPr/>
        </p:nvSpPr>
        <p:spPr>
          <a:xfrm>
            <a:off x="5166360" y="1527048"/>
            <a:ext cx="118872" cy="11887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7" name="Shape 35"/>
          <p:cNvSpPr/>
          <p:nvPr/>
        </p:nvSpPr>
        <p:spPr>
          <a:xfrm>
            <a:off x="5591556" y="1527048"/>
            <a:ext cx="118872" cy="11887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8" name="Shape 36"/>
          <p:cNvSpPr/>
          <p:nvPr/>
        </p:nvSpPr>
        <p:spPr>
          <a:xfrm>
            <a:off x="4375404" y="1920240"/>
            <a:ext cx="425196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9" name="Shape 37"/>
          <p:cNvSpPr/>
          <p:nvPr/>
        </p:nvSpPr>
        <p:spPr>
          <a:xfrm flipV="1">
            <a:off x="4329684" y="18745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Shape 38"/>
          <p:cNvSpPr/>
          <p:nvPr/>
        </p:nvSpPr>
        <p:spPr>
          <a:xfrm flipV="1">
            <a:off x="4754880" y="18745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1" name="Shape 39"/>
          <p:cNvSpPr/>
          <p:nvPr/>
        </p:nvSpPr>
        <p:spPr>
          <a:xfrm>
            <a:off x="4375404" y="183794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Shape 40"/>
          <p:cNvSpPr/>
          <p:nvPr/>
        </p:nvSpPr>
        <p:spPr>
          <a:xfrm>
            <a:off x="4800600" y="183794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3" name="Text 41"/>
          <p:cNvSpPr txBox="1"/>
          <p:nvPr/>
        </p:nvSpPr>
        <p:spPr>
          <a:xfrm>
            <a:off x="3673602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750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4178808" y="2148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دوش‌های جمعی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178808" y="2971800"/>
            <a:ext cx="510235" cy="510235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6" name="Text 44"/>
          <p:cNvSpPr txBox="1"/>
          <p:nvPr/>
        </p:nvSpPr>
        <p:spPr>
          <a:xfrm>
            <a:off x="4762195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کابین</a:t>
            </a:r>
            <a:endParaRPr lang="en-US" sz="700" dirty="0"/>
          </a:p>
          <a:p>
            <a:pPr indent="0" marL="0" rtl="1">
              <a:buNone/>
            </a:pPr>
            <a:r>
              <a:rPr lang="fa-IR" sz="644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حداقل 800</a:t>
            </a:r>
            <a:endParaRPr lang="en-US" sz="700" dirty="0"/>
          </a:p>
          <a:p>
            <a:pPr indent="0" marL="0" rtl="1">
              <a:buNone/>
            </a:pPr>
            <a:r>
              <a:rPr lang="fa-IR" sz="644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ترجیحی 900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4178808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ناحیه‌ی خشک‌کردن</a:t>
            </a:r>
            <a:endParaRPr lang="en-US" sz="700" dirty="0"/>
          </a:p>
          <a:p>
            <a:pPr indent="0" marL="0" rtl="1" algn="r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(گذار، کف دارای کفشوی)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224528" y="4242816"/>
            <a:ext cx="914400" cy="914400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9" name="Shape 47"/>
          <p:cNvSpPr/>
          <p:nvPr/>
        </p:nvSpPr>
        <p:spPr>
          <a:xfrm>
            <a:off x="5230368" y="4242816"/>
            <a:ext cx="914400" cy="914400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0" name="Text 48"/>
          <p:cNvSpPr txBox="1"/>
          <p:nvPr/>
        </p:nvSpPr>
        <p:spPr>
          <a:xfrm>
            <a:off x="4224528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5230368" y="4517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37160" y="4988966"/>
            <a:ext cx="86868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53" name="Text 51"/>
          <p:cNvSpPr txBox="1"/>
          <p:nvPr/>
        </p:nvSpPr>
        <p:spPr>
          <a:xfrm>
            <a:off x="91440" y="506211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9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</a:t>
            </a:r>
            <a:endParaRPr lang="en-US" sz="650" dirty="0"/>
          </a:p>
          <a:p>
            <a:pPr indent="0" marL="0" rtl="1">
              <a:buNone/>
            </a:pPr>
            <a:r>
              <a:rPr lang="fa-IR" sz="59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راهروی</a:t>
            </a:r>
            <a:endParaRPr lang="en-US" sz="650" dirty="0"/>
          </a:p>
          <a:p>
            <a:pPr indent="0" marL="0" rtl="1">
              <a:buNone/>
            </a:pPr>
            <a:r>
              <a:rPr lang="fa-IR" sz="59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ورزشکاران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188720" y="4988966"/>
            <a:ext cx="219456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5" name="Shape 53"/>
          <p:cNvSpPr/>
          <p:nvPr/>
        </p:nvSpPr>
        <p:spPr>
          <a:xfrm flipV="1">
            <a:off x="3383280" y="3520440"/>
            <a:ext cx="91" cy="1468526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6" name="Shape 54"/>
          <p:cNvSpPr/>
          <p:nvPr/>
        </p:nvSpPr>
        <p:spPr>
          <a:xfrm>
            <a:off x="3383280" y="3520440"/>
            <a:ext cx="822960" cy="91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 flipV="1">
            <a:off x="4206240" y="2560320"/>
            <a:ext cx="365760" cy="960120"/>
          </a:xfrm>
          <a:prstGeom prst="line">
            <a:avLst/>
          </a:prstGeom>
          <a:noFill/>
          <a:ln w="15875">
            <a:solidFill>
              <a:srgbClr val="D9472B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58" name="Shape 56"/>
          <p:cNvSpPr/>
          <p:nvPr/>
        </p:nvSpPr>
        <p:spPr>
          <a:xfrm>
            <a:off x="3383280" y="4988966"/>
            <a:ext cx="342900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59" name="Text 57"/>
          <p:cNvSpPr txBox="1"/>
          <p:nvPr/>
        </p:nvSpPr>
        <p:spPr>
          <a:xfrm>
            <a:off x="6355080" y="50621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9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 گرم‌کردن /</a:t>
            </a:r>
            <a:endParaRPr lang="en-US" sz="650" dirty="0"/>
          </a:p>
          <a:p>
            <a:pPr indent="0" marL="0" rtl="1">
              <a:buNone/>
            </a:pPr>
            <a:r>
              <a:rPr lang="fa-IR" sz="59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</a:t>
            </a:r>
            <a:endParaRPr lang="en-US" sz="650" dirty="0"/>
          </a:p>
        </p:txBody>
      </p:sp>
      <p:sp>
        <p:nvSpPr>
          <p:cNvPr id="60" name="Text 58"/>
          <p:cNvSpPr txBox="1"/>
          <p:nvPr/>
        </p:nvSpPr>
        <p:spPr>
          <a:xfrm>
            <a:off x="77724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9B7F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ناحیه‌ی خشک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230368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ناحیه‌ی خیس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640080" y="54955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پلان — چیدمان نمونه از نگارنده؛ فقط ابعاد اجزای برچسب‌دار (mm) مستندند. اندازه‌ی اتاق استاندارد نیست.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84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500 mm</a:t>
            </a:r>
            <a:endParaRPr lang="en-US" sz="2000" dirty="0"/>
          </a:p>
        </p:txBody>
      </p:sp>
      <p:sp>
        <p:nvSpPr>
          <p:cNvPr id="64" name="Text 62"/>
          <p:cNvSpPr txBox="1"/>
          <p:nvPr/>
        </p:nvSpPr>
        <p:spPr>
          <a:xfrm>
            <a:off x="772668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طول نیمکت به ازای هر نفر (رختکن).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973836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84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750 mm</a:t>
            </a:r>
            <a:endParaRPr lang="en-US" sz="2000" dirty="0"/>
          </a:p>
        </p:txBody>
      </p:sp>
      <p:sp>
        <p:nvSpPr>
          <p:cNvPr id="66" name="Text 64"/>
          <p:cNvSpPr txBox="1"/>
          <p:nvPr/>
        </p:nvSpPr>
        <p:spPr>
          <a:xfrm>
            <a:off x="973836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فاصله‌ی سردوش‌ها، دوش جمعی.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772668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84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800 / 900</a:t>
            </a:r>
            <a:endParaRPr lang="en-US" sz="2000" dirty="0"/>
          </a:p>
        </p:txBody>
      </p:sp>
      <p:sp>
        <p:nvSpPr>
          <p:cNvPr id="68" name="Text 66"/>
          <p:cNvSpPr txBox="1"/>
          <p:nvPr/>
        </p:nvSpPr>
        <p:spPr>
          <a:xfrm>
            <a:off x="772668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حداقل / ترجیحی عرض مانور در کابین دوش (mm).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726680" y="3108960"/>
            <a:ext cx="179771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0" name="Text 68"/>
          <p:cNvSpPr txBox="1"/>
          <p:nvPr/>
        </p:nvSpPr>
        <p:spPr>
          <a:xfrm>
            <a:off x="7726680" y="3122676"/>
            <a:ext cx="17977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مقدار متداول برنامه‌ریزی</a:t>
            </a:r>
            <a:endParaRPr lang="en-US" sz="650" dirty="0"/>
          </a:p>
        </p:txBody>
      </p:sp>
      <p:sp>
        <p:nvSpPr>
          <p:cNvPr id="71" name="Text 69"/>
          <p:cNvSpPr txBox="1"/>
          <p:nvPr/>
        </p:nvSpPr>
        <p:spPr>
          <a:xfrm>
            <a:off x="772668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مقادیر به نقل از راهنمای رختکن Sport England توسط تأمین‌کنندگان بریتانیایی — پیش از استفاده در نسخه‌ی فعلی Sport England کنترل شود.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7726680" y="3886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 دسترس‌پذیر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7726680" y="4114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رختکن دسترس‌پذیر جداگانه با سرویس + دوش خودش روی همان مسیر بدون پله پیش‌بینی کنید؛ Sport England AISF Part D چیدمان و محل دستگیره‌ها را تعیین می‌کند.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772668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جریان ورزشکار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726680" y="5029200"/>
            <a:ext cx="685800" cy="347472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6" name="Text 74"/>
          <p:cNvSpPr txBox="1"/>
          <p:nvPr/>
        </p:nvSpPr>
        <p:spPr>
          <a:xfrm>
            <a:off x="7726680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8412480" y="5202936"/>
            <a:ext cx="118872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78" name="Shape 76"/>
          <p:cNvSpPr/>
          <p:nvPr/>
        </p:nvSpPr>
        <p:spPr>
          <a:xfrm>
            <a:off x="8531352" y="5029200"/>
            <a:ext cx="685800" cy="347472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9" name="Text 77"/>
          <p:cNvSpPr txBox="1"/>
          <p:nvPr/>
        </p:nvSpPr>
        <p:spPr>
          <a:xfrm>
            <a:off x="8531352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دوش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217152" y="5202936"/>
            <a:ext cx="118872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81" name="Shape 79"/>
          <p:cNvSpPr/>
          <p:nvPr/>
        </p:nvSpPr>
        <p:spPr>
          <a:xfrm>
            <a:off x="9336024" y="5029200"/>
            <a:ext cx="685800" cy="347472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2" name="Text 80"/>
          <p:cNvSpPr txBox="1"/>
          <p:nvPr/>
        </p:nvSpPr>
        <p:spPr>
          <a:xfrm>
            <a:off x="9336024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10021824" y="5202936"/>
            <a:ext cx="118872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84" name="Shape 82"/>
          <p:cNvSpPr/>
          <p:nvPr/>
        </p:nvSpPr>
        <p:spPr>
          <a:xfrm>
            <a:off x="10140696" y="5029200"/>
            <a:ext cx="685800" cy="347472"/>
          </a:xfrm>
          <a:prstGeom prst="rect">
            <a:avLst/>
          </a:prstGeom>
          <a:solidFill>
            <a:srgbClr val="9B7FBF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5" name="Text 83"/>
          <p:cNvSpPr txBox="1"/>
          <p:nvPr/>
        </p:nvSpPr>
        <p:spPr>
          <a:xfrm>
            <a:off x="10140696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گرم‌کردن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10826496" y="5202936"/>
            <a:ext cx="118872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87" name="Shape 85"/>
          <p:cNvSpPr/>
          <p:nvPr/>
        </p:nvSpPr>
        <p:spPr>
          <a:xfrm>
            <a:off x="10945368" y="5029200"/>
            <a:ext cx="685800" cy="347472"/>
          </a:xfrm>
          <a:prstGeom prst="rect">
            <a:avLst/>
          </a:prstGeom>
          <a:solidFill>
            <a:srgbClr val="5BAA6A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8" name="Text 86"/>
          <p:cNvSpPr txBox="1"/>
          <p:nvPr/>
        </p:nvSpPr>
        <p:spPr>
          <a:xfrm>
            <a:off x="10945368" y="5029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</a:t>
            </a:r>
            <a:endParaRPr lang="en-US" sz="650" dirty="0"/>
          </a:p>
        </p:txBody>
      </p:sp>
      <p:sp>
        <p:nvSpPr>
          <p:cNvPr id="89" name="Text 87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مقادیر اجزا — راهنمای رختکن Sport England به نقل از تأمین‌کنندگان بریتانیایی (مانند sportschangingrooms.co.uk)؛ تأمین دسترس‌پذیر — Sport England، Accessible &amp; Inclusive Sports Facilities — Part D (2024).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64008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مهم است  ناحیه‌های خیس و خشک نباید هم‌پوشانی داشته باشند: ناحیه‌ی خشک‌کردن آستانه‌ای است که کف کمدها را خشک نگه می‌دارد و مسیر یک‌طرفه تا سالن را تعریف می‌کند.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۰۸ — دانشکده تربیت بدنی · روابط فضایی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چهار گروه عملکردی زیر یک ورودی — هر یک با هم‌جواری حیاتی خود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1371600"/>
            <a:ext cx="2743200" cy="457200"/>
          </a:xfrm>
          <a:prstGeom prst="rect">
            <a:avLst/>
          </a:prstGeom>
          <a:solidFill>
            <a:srgbClr val="F2B134">
              <a:alpha val="7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" name="Text 3"/>
          <p:cNvSpPr txBox="1"/>
          <p:nvPr/>
        </p:nvSpPr>
        <p:spPr>
          <a:xfrm>
            <a:off x="27432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دانشکده · ورودی + سرسرا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828800" cy="411480"/>
          </a:xfrm>
          <a:prstGeom prst="rect">
            <a:avLst/>
          </a:prstGeom>
          <a:solidFill>
            <a:srgbClr val="6FA8DC">
              <a:alpha val="7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آموزشی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182880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Shape 7"/>
          <p:cNvSpPr/>
          <p:nvPr/>
        </p:nvSpPr>
        <p:spPr>
          <a:xfrm flipH="1">
            <a:off x="1463040" y="2103120"/>
            <a:ext cx="265176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Shape 8"/>
          <p:cNvSpPr/>
          <p:nvPr/>
        </p:nvSpPr>
        <p:spPr>
          <a:xfrm>
            <a:off x="1463040" y="2103120"/>
            <a:ext cx="91" cy="320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1554480" cy="347472"/>
          </a:xfrm>
          <a:prstGeom prst="rect">
            <a:avLst/>
          </a:prstGeom>
          <a:solidFill>
            <a:srgbClr val="6FA8D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Text 10"/>
          <p:cNvSpPr txBox="1"/>
          <p:nvPr/>
        </p:nvSpPr>
        <p:spPr>
          <a:xfrm>
            <a:off x="68580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کلاس‌ها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1792" y="2834640"/>
            <a:ext cx="91" cy="3566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Shape 12"/>
          <p:cNvSpPr/>
          <p:nvPr/>
        </p:nvSpPr>
        <p:spPr>
          <a:xfrm>
            <a:off x="621792" y="31912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1554480" cy="347472"/>
          </a:xfrm>
          <a:prstGeom prst="rect">
            <a:avLst/>
          </a:prstGeom>
          <a:solidFill>
            <a:srgbClr val="6FA8D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Text 14"/>
          <p:cNvSpPr txBox="1"/>
          <p:nvPr/>
        </p:nvSpPr>
        <p:spPr>
          <a:xfrm>
            <a:off x="68580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کتابخانه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1792" y="2834640"/>
            <a:ext cx="91" cy="8138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6"/>
          <p:cNvSpPr/>
          <p:nvPr/>
        </p:nvSpPr>
        <p:spPr>
          <a:xfrm>
            <a:off x="621792" y="36484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7"/>
          <p:cNvSpPr/>
          <p:nvPr/>
        </p:nvSpPr>
        <p:spPr>
          <a:xfrm>
            <a:off x="685800" y="3931920"/>
            <a:ext cx="1554480" cy="347472"/>
          </a:xfrm>
          <a:prstGeom prst="rect">
            <a:avLst/>
          </a:prstGeom>
          <a:solidFill>
            <a:srgbClr val="6FA8D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Text 18"/>
          <p:cNvSpPr txBox="1"/>
          <p:nvPr/>
        </p:nvSpPr>
        <p:spPr>
          <a:xfrm>
            <a:off x="68580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آمفی‌تئاتر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1792" y="2834640"/>
            <a:ext cx="91" cy="12710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Shape 20"/>
          <p:cNvSpPr/>
          <p:nvPr/>
        </p:nvSpPr>
        <p:spPr>
          <a:xfrm>
            <a:off x="621792" y="41056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Shape 21"/>
          <p:cNvSpPr/>
          <p:nvPr/>
        </p:nvSpPr>
        <p:spPr>
          <a:xfrm>
            <a:off x="2651760" y="2423160"/>
            <a:ext cx="1828800" cy="411480"/>
          </a:xfrm>
          <a:prstGeom prst="rect">
            <a:avLst/>
          </a:prstGeom>
          <a:solidFill>
            <a:srgbClr val="F2B134">
              <a:alpha val="7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Text 22"/>
          <p:cNvSpPr txBox="1"/>
          <p:nvPr/>
        </p:nvSpPr>
        <p:spPr>
          <a:xfrm>
            <a:off x="265176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اجتماعی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182880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Shape 24"/>
          <p:cNvSpPr/>
          <p:nvPr/>
        </p:nvSpPr>
        <p:spPr>
          <a:xfrm flipH="1">
            <a:off x="3566160" y="2103120"/>
            <a:ext cx="54864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Shape 25"/>
          <p:cNvSpPr/>
          <p:nvPr/>
        </p:nvSpPr>
        <p:spPr>
          <a:xfrm>
            <a:off x="3566160" y="2103120"/>
            <a:ext cx="91" cy="320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28" name="Shape 26"/>
          <p:cNvSpPr/>
          <p:nvPr/>
        </p:nvSpPr>
        <p:spPr>
          <a:xfrm>
            <a:off x="2788920" y="3017520"/>
            <a:ext cx="1554480" cy="347472"/>
          </a:xfrm>
          <a:prstGeom prst="rect">
            <a:avLst/>
          </a:prstGeom>
          <a:solidFill>
            <a:srgbClr val="F2B134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Text 27"/>
          <p:cNvSpPr txBox="1"/>
          <p:nvPr/>
        </p:nvSpPr>
        <p:spPr>
          <a:xfrm>
            <a:off x="278892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غذاخوری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24912" y="2834640"/>
            <a:ext cx="91" cy="3566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Shape 29"/>
          <p:cNvSpPr/>
          <p:nvPr/>
        </p:nvSpPr>
        <p:spPr>
          <a:xfrm>
            <a:off x="2724912" y="31912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2" name="Shape 30"/>
          <p:cNvSpPr/>
          <p:nvPr/>
        </p:nvSpPr>
        <p:spPr>
          <a:xfrm>
            <a:off x="2788920" y="3474720"/>
            <a:ext cx="1554480" cy="347472"/>
          </a:xfrm>
          <a:prstGeom prst="rect">
            <a:avLst/>
          </a:prstGeom>
          <a:solidFill>
            <a:srgbClr val="F2B134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3" name="Text 31"/>
          <p:cNvSpPr txBox="1"/>
          <p:nvPr/>
        </p:nvSpPr>
        <p:spPr>
          <a:xfrm>
            <a:off x="278892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استراحت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24912" y="2834640"/>
            <a:ext cx="91" cy="8138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5" name="Shape 33"/>
          <p:cNvSpPr/>
          <p:nvPr/>
        </p:nvSpPr>
        <p:spPr>
          <a:xfrm>
            <a:off x="2724912" y="36484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Shape 34"/>
          <p:cNvSpPr/>
          <p:nvPr/>
        </p:nvSpPr>
        <p:spPr>
          <a:xfrm>
            <a:off x="2788920" y="3931920"/>
            <a:ext cx="1554480" cy="347472"/>
          </a:xfrm>
          <a:prstGeom prst="rect">
            <a:avLst/>
          </a:prstGeom>
          <a:solidFill>
            <a:srgbClr val="F2B134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7" name="Text 35"/>
          <p:cNvSpPr txBox="1"/>
          <p:nvPr/>
        </p:nvSpPr>
        <p:spPr>
          <a:xfrm>
            <a:off x="278892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مطالعه‌ی غیررسمی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24912" y="2834640"/>
            <a:ext cx="91" cy="12710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9" name="Shape 37"/>
          <p:cNvSpPr/>
          <p:nvPr/>
        </p:nvSpPr>
        <p:spPr>
          <a:xfrm>
            <a:off x="2724912" y="41056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Shape 38"/>
          <p:cNvSpPr/>
          <p:nvPr/>
        </p:nvSpPr>
        <p:spPr>
          <a:xfrm>
            <a:off x="4754880" y="2423160"/>
            <a:ext cx="1828800" cy="411480"/>
          </a:xfrm>
          <a:prstGeom prst="rect">
            <a:avLst/>
          </a:prstGeom>
          <a:solidFill>
            <a:srgbClr val="5BAA6A">
              <a:alpha val="7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1" name="Text 39"/>
          <p:cNvSpPr txBox="1"/>
          <p:nvPr/>
        </p:nvSpPr>
        <p:spPr>
          <a:xfrm>
            <a:off x="475488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ورزشی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0" y="182880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3" name="Shape 41"/>
          <p:cNvSpPr/>
          <p:nvPr/>
        </p:nvSpPr>
        <p:spPr>
          <a:xfrm>
            <a:off x="4114800" y="2103120"/>
            <a:ext cx="155448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4" name="Shape 42"/>
          <p:cNvSpPr/>
          <p:nvPr/>
        </p:nvSpPr>
        <p:spPr>
          <a:xfrm>
            <a:off x="5669280" y="2103120"/>
            <a:ext cx="91" cy="320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45" name="Shape 43"/>
          <p:cNvSpPr/>
          <p:nvPr/>
        </p:nvSpPr>
        <p:spPr>
          <a:xfrm>
            <a:off x="4892040" y="3017520"/>
            <a:ext cx="1554480" cy="347472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6" name="Text 44"/>
          <p:cNvSpPr txBox="1"/>
          <p:nvPr/>
        </p:nvSpPr>
        <p:spPr>
          <a:xfrm>
            <a:off x="489204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28032" y="2834640"/>
            <a:ext cx="91" cy="3566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8" name="Shape 46"/>
          <p:cNvSpPr/>
          <p:nvPr/>
        </p:nvSpPr>
        <p:spPr>
          <a:xfrm>
            <a:off x="4828032" y="31912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9" name="Shape 47"/>
          <p:cNvSpPr/>
          <p:nvPr/>
        </p:nvSpPr>
        <p:spPr>
          <a:xfrm>
            <a:off x="4892040" y="3474720"/>
            <a:ext cx="1554480" cy="347472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0" name="Text 48"/>
          <p:cNvSpPr txBox="1"/>
          <p:nvPr/>
        </p:nvSpPr>
        <p:spPr>
          <a:xfrm>
            <a:off x="489204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28032" y="2834640"/>
            <a:ext cx="91" cy="8138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2" name="Shape 50"/>
          <p:cNvSpPr/>
          <p:nvPr/>
        </p:nvSpPr>
        <p:spPr>
          <a:xfrm>
            <a:off x="4828032" y="36484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3" name="Shape 51"/>
          <p:cNvSpPr/>
          <p:nvPr/>
        </p:nvSpPr>
        <p:spPr>
          <a:xfrm>
            <a:off x="4892040" y="3931920"/>
            <a:ext cx="1554480" cy="347472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4" name="Text 52"/>
          <p:cNvSpPr txBox="1"/>
          <p:nvPr/>
        </p:nvSpPr>
        <p:spPr>
          <a:xfrm>
            <a:off x="489204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دوش‌ها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28032" y="2834640"/>
            <a:ext cx="91" cy="12710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6" name="Shape 54"/>
          <p:cNvSpPr/>
          <p:nvPr/>
        </p:nvSpPr>
        <p:spPr>
          <a:xfrm>
            <a:off x="4828032" y="41056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>
            <a:off x="4892040" y="4389120"/>
            <a:ext cx="1554480" cy="347472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8" name="Text 56"/>
          <p:cNvSpPr txBox="1"/>
          <p:nvPr/>
        </p:nvSpPr>
        <p:spPr>
          <a:xfrm>
            <a:off x="4892040" y="4389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تجهیزات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28032" y="2834640"/>
            <a:ext cx="91" cy="17282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0" name="Shape 58"/>
          <p:cNvSpPr/>
          <p:nvPr/>
        </p:nvSpPr>
        <p:spPr>
          <a:xfrm>
            <a:off x="4828032" y="45628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1" name="Shape 59"/>
          <p:cNvSpPr/>
          <p:nvPr/>
        </p:nvSpPr>
        <p:spPr>
          <a:xfrm>
            <a:off x="6858000" y="2423160"/>
            <a:ext cx="1828800" cy="411480"/>
          </a:xfrm>
          <a:prstGeom prst="rect">
            <a:avLst/>
          </a:prstGeom>
          <a:solidFill>
            <a:srgbClr val="8C8C8C">
              <a:alpha val="7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2" name="Text 60"/>
          <p:cNvSpPr txBox="1"/>
          <p:nvPr/>
        </p:nvSpPr>
        <p:spPr>
          <a:xfrm>
            <a:off x="685800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پشتیبانی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0" y="182880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4" name="Shape 62"/>
          <p:cNvSpPr/>
          <p:nvPr/>
        </p:nvSpPr>
        <p:spPr>
          <a:xfrm>
            <a:off x="4114800" y="2103120"/>
            <a:ext cx="365760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5" name="Shape 63"/>
          <p:cNvSpPr/>
          <p:nvPr/>
        </p:nvSpPr>
        <p:spPr>
          <a:xfrm>
            <a:off x="7772400" y="2103120"/>
            <a:ext cx="91" cy="320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66" name="Shape 64"/>
          <p:cNvSpPr/>
          <p:nvPr/>
        </p:nvSpPr>
        <p:spPr>
          <a:xfrm>
            <a:off x="6995160" y="3017520"/>
            <a:ext cx="1554480" cy="347472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7" name="Text 65"/>
          <p:cNvSpPr txBox="1"/>
          <p:nvPr/>
        </p:nvSpPr>
        <p:spPr>
          <a:xfrm>
            <a:off x="699516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اداری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931152" y="2834640"/>
            <a:ext cx="91" cy="3566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9" name="Shape 67"/>
          <p:cNvSpPr/>
          <p:nvPr/>
        </p:nvSpPr>
        <p:spPr>
          <a:xfrm>
            <a:off x="6931152" y="31912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0" name="Shape 68"/>
          <p:cNvSpPr/>
          <p:nvPr/>
        </p:nvSpPr>
        <p:spPr>
          <a:xfrm>
            <a:off x="6995160" y="3474720"/>
            <a:ext cx="1554480" cy="347472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1" name="Text 69"/>
          <p:cNvSpPr txBox="1"/>
          <p:nvPr/>
        </p:nvSpPr>
        <p:spPr>
          <a:xfrm>
            <a:off x="699516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انبار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931152" y="2834640"/>
            <a:ext cx="91" cy="8138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3" name="Shape 71"/>
          <p:cNvSpPr/>
          <p:nvPr/>
        </p:nvSpPr>
        <p:spPr>
          <a:xfrm>
            <a:off x="6931152" y="36484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4" name="Shape 72"/>
          <p:cNvSpPr/>
          <p:nvPr/>
        </p:nvSpPr>
        <p:spPr>
          <a:xfrm>
            <a:off x="6995160" y="3931920"/>
            <a:ext cx="1554480" cy="347472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5" name="Text 73"/>
          <p:cNvSpPr txBox="1"/>
          <p:nvPr/>
        </p:nvSpPr>
        <p:spPr>
          <a:xfrm>
            <a:off x="6995160" y="3931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931152" y="2834640"/>
            <a:ext cx="91" cy="12710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7" name="Shape 75"/>
          <p:cNvSpPr/>
          <p:nvPr/>
        </p:nvSpPr>
        <p:spPr>
          <a:xfrm>
            <a:off x="6931152" y="41056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8" name="Shape 76"/>
          <p:cNvSpPr/>
          <p:nvPr/>
        </p:nvSpPr>
        <p:spPr>
          <a:xfrm>
            <a:off x="6995160" y="4389120"/>
            <a:ext cx="1554480" cy="347472"/>
          </a:xfrm>
          <a:prstGeom prst="rect">
            <a:avLst/>
          </a:prstGeom>
          <a:solidFill>
            <a:srgbClr val="8C8C8C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9" name="Text 77"/>
          <p:cNvSpPr txBox="1"/>
          <p:nvPr/>
        </p:nvSpPr>
        <p:spPr>
          <a:xfrm>
            <a:off x="6995160" y="4389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931152" y="2834640"/>
            <a:ext cx="91" cy="1728216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1" name="Shape 79"/>
          <p:cNvSpPr/>
          <p:nvPr/>
        </p:nvSpPr>
        <p:spPr>
          <a:xfrm>
            <a:off x="6931152" y="4562856"/>
            <a:ext cx="64008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2" name="Shape 80"/>
          <p:cNvSpPr/>
          <p:nvPr/>
        </p:nvSpPr>
        <p:spPr>
          <a:xfrm>
            <a:off x="4892040" y="4892040"/>
            <a:ext cx="1554480" cy="347472"/>
          </a:xfrm>
          <a:prstGeom prst="rect">
            <a:avLst/>
          </a:prstGeom>
          <a:solidFill>
            <a:srgbClr val="8C8C8C">
              <a:alpha val="7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3" name="Text 81"/>
          <p:cNvSpPr txBox="1"/>
          <p:nvPr/>
        </p:nvSpPr>
        <p:spPr>
          <a:xfrm>
            <a:off x="4892040" y="4892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دسترسی خدماتی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 flipV="1">
            <a:off x="5669280" y="4736592"/>
            <a:ext cx="91" cy="155448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85" name="Text 83"/>
          <p:cNvSpPr txBox="1"/>
          <p:nvPr/>
        </p:nvSpPr>
        <p:spPr>
          <a:xfrm>
            <a:off x="548640" y="5349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هم‌جواری‌های کلیدی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548640" y="55595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 ⇄ رختکن </a:t>
            </a:r>
            <a:pPr indent="0" marL="0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مستقیم · </a:t>
            </a:r>
            <a:pPr indent="0" marL="0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⇄ تجهیزات </a:t>
            </a:r>
            <a:pPr indent="0" marL="0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مستقیم، هم‌تراز · </a:t>
            </a:r>
            <a:pPr indent="0" marL="0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کلاس‌ها ⇄ کتابخانه </a:t>
            </a:r>
            <a:pPr indent="0" marL="0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نزدیک · </a:t>
            </a:r>
            <a:pPr indent="0" marL="0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غذاخوری ⇄ خدمات </a:t>
            </a:r>
            <a:pPr indent="0" marL="0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مستقیم · </a:t>
            </a:r>
            <a:pPr indent="0" marL="0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آمفی‌تئاتر ⇄ سرسرا </a:t>
            </a:r>
            <a:pPr indent="0" marL="0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مستقیم (رویداد)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914400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پنج جریان کاربر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144000" y="1783080"/>
            <a:ext cx="548640" cy="91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89" name="Text 87"/>
          <p:cNvSpPr txBox="1"/>
          <p:nvPr/>
        </p:nvSpPr>
        <p:spPr>
          <a:xfrm>
            <a:off x="9829800" y="1691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9829800" y="1911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سرسرا ← آمفی‌تئاتر / رویدادها ← تماشاگران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9144000" y="2468880"/>
            <a:ext cx="548640" cy="91"/>
          </a:xfrm>
          <a:prstGeom prst="line">
            <a:avLst/>
          </a:prstGeom>
          <a:noFill/>
          <a:ln w="31750">
            <a:solidFill>
              <a:srgbClr val="6FA8DC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92" name="Text 90"/>
          <p:cNvSpPr txBox="1"/>
          <p:nvPr/>
        </p:nvSpPr>
        <p:spPr>
          <a:xfrm>
            <a:off x="9829800" y="2377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دانشجویان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9829800" y="25968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سرسرا ← کلاس‌ها، کتابخانه، غذاخوری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9144000" y="3154680"/>
            <a:ext cx="548640" cy="91"/>
          </a:xfrm>
          <a:prstGeom prst="line">
            <a:avLst/>
          </a:prstGeom>
          <a:noFill/>
          <a:ln w="317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95" name="Text 93"/>
          <p:cNvSpPr txBox="1"/>
          <p:nvPr/>
        </p:nvSpPr>
        <p:spPr>
          <a:xfrm>
            <a:off x="9829800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ورزشکاران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9829800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← رختکن ← سالن / زمین‌ها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9144000" y="3840480"/>
            <a:ext cx="548640" cy="91"/>
          </a:xfrm>
          <a:prstGeom prst="line">
            <a:avLst/>
          </a:prstGeom>
          <a:noFill/>
          <a:ln w="31750">
            <a:solidFill>
              <a:srgbClr val="9B7FBF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98" name="Text 96"/>
          <p:cNvSpPr txBox="1"/>
          <p:nvPr/>
        </p:nvSpPr>
        <p:spPr>
          <a:xfrm>
            <a:off x="9829800" y="3749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کارکنان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982980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اداری ⇄ کلاس‌ها ⇄ آزمایشگاه‌ها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9144000" y="4526280"/>
            <a:ext cx="548640" cy="91"/>
          </a:xfrm>
          <a:prstGeom prst="line">
            <a:avLst/>
          </a:prstGeom>
          <a:noFill/>
          <a:ln w="31750">
            <a:solidFill>
              <a:srgbClr val="1A1A1A"/>
            </a:solidFill>
            <a:prstDash val="lgDashDot"/>
            <a:tailEnd type="triangle"/>
          </a:ln>
        </p:spPr>
        <p:txBody>
          <a:bodyPr/>
          <a:p>
            <a:pPr/>
          </a:p>
        </p:txBody>
      </p:sp>
      <p:sp>
        <p:nvSpPr>
          <p:cNvPr id="101" name="Text 99"/>
          <p:cNvSpPr txBox="1"/>
          <p:nvPr/>
        </p:nvSpPr>
        <p:spPr>
          <a:xfrm>
            <a:off x="982980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9829800" y="46542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حیاط ← آشپزخانه، انبارها، تأسیسات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914400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دیاگرام هم‌جواری — تفسیر معمارانه؛ فواصل مقیاس‌دار نیست.</a:t>
            </a:r>
            <a:endParaRPr lang="en-US" sz="750" dirty="0"/>
          </a:p>
        </p:txBody>
      </p:sp>
      <p:sp>
        <p:nvSpPr>
          <p:cNvPr id="104" name="Text 102"/>
          <p:cNvSpPr txBox="1"/>
          <p:nvPr/>
        </p:nvSpPr>
        <p:spPr>
          <a:xfrm>
            <a:off x="548640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گروه‌های فضایی طبق برنامه‌ی آتلیه؛ منطق هم‌جواری سازگار با راهنمای Sport England (سالن–رختکن–انبار) و راهنماهای برنامه‌ریزی دانشگاهی. در این اسلاید استاندارد عددی نیست.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۰۹ — دانشکده · کلاس درس + کتابخانه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ابعاد کلاس بر اساس نفر، نور از پهلو، ورود از راهروی 1.8 متری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25880" y="1600200"/>
            <a:ext cx="3364992" cy="290230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" name="Shape 3"/>
          <p:cNvSpPr/>
          <p:nvPr/>
        </p:nvSpPr>
        <p:spPr>
          <a:xfrm>
            <a:off x="1280160" y="1874520"/>
            <a:ext cx="91440" cy="640080"/>
          </a:xfrm>
          <a:prstGeom prst="rect">
            <a:avLst/>
          </a:prstGeom>
          <a:solidFill>
            <a:srgbClr val="6FA8DC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1440" cy="640080"/>
          </a:xfrm>
          <a:prstGeom prst="rect">
            <a:avLst/>
          </a:prstGeom>
          <a:solidFill>
            <a:srgbClr val="6FA8DC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" name="Shape 5"/>
          <p:cNvSpPr/>
          <p:nvPr/>
        </p:nvSpPr>
        <p:spPr>
          <a:xfrm>
            <a:off x="1280160" y="3611880"/>
            <a:ext cx="91440" cy="640080"/>
          </a:xfrm>
          <a:prstGeom prst="rect">
            <a:avLst/>
          </a:prstGeom>
          <a:solidFill>
            <a:srgbClr val="6FA8DC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" name="Shape 6"/>
          <p:cNvSpPr/>
          <p:nvPr/>
        </p:nvSpPr>
        <p:spPr>
          <a:xfrm>
            <a:off x="960120" y="2194560"/>
            <a:ext cx="292608" cy="91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9" name="Shape 7"/>
          <p:cNvSpPr/>
          <p:nvPr/>
        </p:nvSpPr>
        <p:spPr>
          <a:xfrm>
            <a:off x="960120" y="3063240"/>
            <a:ext cx="292608" cy="91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0" name="Shape 8"/>
          <p:cNvSpPr/>
          <p:nvPr/>
        </p:nvSpPr>
        <p:spPr>
          <a:xfrm>
            <a:off x="960120" y="3931920"/>
            <a:ext cx="292608" cy="91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1" name="Text 9"/>
          <p:cNvSpPr txBox="1"/>
          <p:nvPr/>
        </p:nvSpPr>
        <p:spPr>
          <a:xfrm>
            <a:off x="548640" y="463966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98" b="1" dirty="0">
                <a:solidFill>
                  <a:srgbClr val="F2B134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 روز (سمت چپ دست نویسنده)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874520" y="1645920"/>
            <a:ext cx="2267712" cy="731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>
            <a:pPr/>
          </a:p>
        </p:txBody>
      </p:sp>
      <p:sp>
        <p:nvSpPr>
          <p:cNvPr id="13" name="Text 11"/>
          <p:cNvSpPr txBox="1"/>
          <p:nvPr/>
        </p:nvSpPr>
        <p:spPr>
          <a:xfrm>
            <a:off x="1874520" y="175564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تخته / پرده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74520" y="2011680"/>
            <a:ext cx="2267712" cy="5029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15" name="Text 13"/>
          <p:cNvSpPr txBox="1"/>
          <p:nvPr/>
        </p:nvSpPr>
        <p:spPr>
          <a:xfrm>
            <a:off x="1874520" y="214884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محدوده‌ی استاد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645920" y="2651760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Shape 15"/>
          <p:cNvSpPr/>
          <p:nvPr/>
        </p:nvSpPr>
        <p:spPr>
          <a:xfrm>
            <a:off x="1737360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6"/>
          <p:cNvSpPr/>
          <p:nvPr/>
        </p:nvSpPr>
        <p:spPr>
          <a:xfrm>
            <a:off x="2121408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7"/>
          <p:cNvSpPr/>
          <p:nvPr/>
        </p:nvSpPr>
        <p:spPr>
          <a:xfrm>
            <a:off x="2624328" y="2651760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8"/>
          <p:cNvSpPr/>
          <p:nvPr/>
        </p:nvSpPr>
        <p:spPr>
          <a:xfrm>
            <a:off x="2715768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Shape 19"/>
          <p:cNvSpPr/>
          <p:nvPr/>
        </p:nvSpPr>
        <p:spPr>
          <a:xfrm>
            <a:off x="3099816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Shape 20"/>
          <p:cNvSpPr/>
          <p:nvPr/>
        </p:nvSpPr>
        <p:spPr>
          <a:xfrm>
            <a:off x="3602736" y="2651760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Shape 21"/>
          <p:cNvSpPr/>
          <p:nvPr/>
        </p:nvSpPr>
        <p:spPr>
          <a:xfrm>
            <a:off x="3694176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Shape 22"/>
          <p:cNvSpPr/>
          <p:nvPr/>
        </p:nvSpPr>
        <p:spPr>
          <a:xfrm>
            <a:off x="4078224" y="2871216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Shape 23"/>
          <p:cNvSpPr/>
          <p:nvPr/>
        </p:nvSpPr>
        <p:spPr>
          <a:xfrm>
            <a:off x="1645920" y="3026664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Shape 24"/>
          <p:cNvSpPr/>
          <p:nvPr/>
        </p:nvSpPr>
        <p:spPr>
          <a:xfrm>
            <a:off x="1737360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Shape 25"/>
          <p:cNvSpPr/>
          <p:nvPr/>
        </p:nvSpPr>
        <p:spPr>
          <a:xfrm>
            <a:off x="2121408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8" name="Shape 26"/>
          <p:cNvSpPr/>
          <p:nvPr/>
        </p:nvSpPr>
        <p:spPr>
          <a:xfrm>
            <a:off x="2624328" y="3026664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Shape 27"/>
          <p:cNvSpPr/>
          <p:nvPr/>
        </p:nvSpPr>
        <p:spPr>
          <a:xfrm>
            <a:off x="2715768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Shape 28"/>
          <p:cNvSpPr/>
          <p:nvPr/>
        </p:nvSpPr>
        <p:spPr>
          <a:xfrm>
            <a:off x="3099816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Shape 29"/>
          <p:cNvSpPr/>
          <p:nvPr/>
        </p:nvSpPr>
        <p:spPr>
          <a:xfrm>
            <a:off x="3602736" y="3026664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2" name="Shape 30"/>
          <p:cNvSpPr/>
          <p:nvPr/>
        </p:nvSpPr>
        <p:spPr>
          <a:xfrm>
            <a:off x="3694176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3" name="Shape 31"/>
          <p:cNvSpPr/>
          <p:nvPr/>
        </p:nvSpPr>
        <p:spPr>
          <a:xfrm>
            <a:off x="4078224" y="3246120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4" name="Shape 32"/>
          <p:cNvSpPr/>
          <p:nvPr/>
        </p:nvSpPr>
        <p:spPr>
          <a:xfrm>
            <a:off x="1645920" y="3401568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5" name="Shape 33"/>
          <p:cNvSpPr/>
          <p:nvPr/>
        </p:nvSpPr>
        <p:spPr>
          <a:xfrm>
            <a:off x="1737360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Shape 34"/>
          <p:cNvSpPr/>
          <p:nvPr/>
        </p:nvSpPr>
        <p:spPr>
          <a:xfrm>
            <a:off x="2121408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7" name="Shape 35"/>
          <p:cNvSpPr/>
          <p:nvPr/>
        </p:nvSpPr>
        <p:spPr>
          <a:xfrm>
            <a:off x="2624328" y="3401568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8" name="Shape 36"/>
          <p:cNvSpPr/>
          <p:nvPr/>
        </p:nvSpPr>
        <p:spPr>
          <a:xfrm>
            <a:off x="2715768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9" name="Shape 37"/>
          <p:cNvSpPr/>
          <p:nvPr/>
        </p:nvSpPr>
        <p:spPr>
          <a:xfrm>
            <a:off x="3099816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Shape 38"/>
          <p:cNvSpPr/>
          <p:nvPr/>
        </p:nvSpPr>
        <p:spPr>
          <a:xfrm>
            <a:off x="3602736" y="3401568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1" name="Shape 39"/>
          <p:cNvSpPr/>
          <p:nvPr/>
        </p:nvSpPr>
        <p:spPr>
          <a:xfrm>
            <a:off x="3694176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Shape 40"/>
          <p:cNvSpPr/>
          <p:nvPr/>
        </p:nvSpPr>
        <p:spPr>
          <a:xfrm>
            <a:off x="4078224" y="3621024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3" name="Shape 41"/>
          <p:cNvSpPr/>
          <p:nvPr/>
        </p:nvSpPr>
        <p:spPr>
          <a:xfrm>
            <a:off x="1645920" y="3776472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4" name="Shape 42"/>
          <p:cNvSpPr/>
          <p:nvPr/>
        </p:nvSpPr>
        <p:spPr>
          <a:xfrm>
            <a:off x="1737360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5" name="Shape 43"/>
          <p:cNvSpPr/>
          <p:nvPr/>
        </p:nvSpPr>
        <p:spPr>
          <a:xfrm>
            <a:off x="2121408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6" name="Shape 44"/>
          <p:cNvSpPr/>
          <p:nvPr/>
        </p:nvSpPr>
        <p:spPr>
          <a:xfrm>
            <a:off x="2624328" y="3776472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7" name="Shape 45"/>
          <p:cNvSpPr/>
          <p:nvPr/>
        </p:nvSpPr>
        <p:spPr>
          <a:xfrm>
            <a:off x="2715768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8" name="Shape 46"/>
          <p:cNvSpPr/>
          <p:nvPr/>
        </p:nvSpPr>
        <p:spPr>
          <a:xfrm>
            <a:off x="3099816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9" name="Shape 47"/>
          <p:cNvSpPr/>
          <p:nvPr/>
        </p:nvSpPr>
        <p:spPr>
          <a:xfrm>
            <a:off x="3602736" y="3776472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0" name="Shape 48"/>
          <p:cNvSpPr/>
          <p:nvPr/>
        </p:nvSpPr>
        <p:spPr>
          <a:xfrm>
            <a:off x="3694176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1" name="Shape 49"/>
          <p:cNvSpPr/>
          <p:nvPr/>
        </p:nvSpPr>
        <p:spPr>
          <a:xfrm>
            <a:off x="4078224" y="3995928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2" name="Shape 50"/>
          <p:cNvSpPr/>
          <p:nvPr/>
        </p:nvSpPr>
        <p:spPr>
          <a:xfrm>
            <a:off x="1645920" y="4151376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3" name="Shape 51"/>
          <p:cNvSpPr/>
          <p:nvPr/>
        </p:nvSpPr>
        <p:spPr>
          <a:xfrm>
            <a:off x="1737360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4" name="Shape 52"/>
          <p:cNvSpPr/>
          <p:nvPr/>
        </p:nvSpPr>
        <p:spPr>
          <a:xfrm>
            <a:off x="2121408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5" name="Shape 53"/>
          <p:cNvSpPr/>
          <p:nvPr/>
        </p:nvSpPr>
        <p:spPr>
          <a:xfrm>
            <a:off x="2624328" y="4151376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6" name="Shape 54"/>
          <p:cNvSpPr/>
          <p:nvPr/>
        </p:nvSpPr>
        <p:spPr>
          <a:xfrm>
            <a:off x="2715768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>
            <a:off x="3099816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8" name="Shape 56"/>
          <p:cNvSpPr/>
          <p:nvPr/>
        </p:nvSpPr>
        <p:spPr>
          <a:xfrm>
            <a:off x="3602736" y="4151376"/>
            <a:ext cx="685800" cy="201168"/>
          </a:xfrm>
          <a:prstGeom prst="rect">
            <a:avLst/>
          </a:prstGeom>
          <a:solidFill>
            <a:srgbClr val="6FA8DC">
              <a:alpha val="4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9" name="Shape 57"/>
          <p:cNvSpPr/>
          <p:nvPr/>
        </p:nvSpPr>
        <p:spPr>
          <a:xfrm>
            <a:off x="3694176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0" name="Shape 58"/>
          <p:cNvSpPr/>
          <p:nvPr/>
        </p:nvSpPr>
        <p:spPr>
          <a:xfrm>
            <a:off x="4078224" y="4370832"/>
            <a:ext cx="109728" cy="109728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1" name="Shape 59"/>
          <p:cNvSpPr/>
          <p:nvPr/>
        </p:nvSpPr>
        <p:spPr>
          <a:xfrm>
            <a:off x="4645152" y="3816706"/>
            <a:ext cx="914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</a:p>
        </p:txBody>
      </p:sp>
      <p:sp>
        <p:nvSpPr>
          <p:cNvPr id="62" name="Shape 60"/>
          <p:cNvSpPr/>
          <p:nvPr/>
        </p:nvSpPr>
        <p:spPr>
          <a:xfrm>
            <a:off x="4279392" y="3816706"/>
            <a:ext cx="822960" cy="822960"/>
          </a:xfrm>
          <a:prstGeom prst="arc">
            <a:avLst>
              <a:gd name="adj1" fmla="val 10800000"/>
              <a:gd name="adj2" fmla="val 16200000"/>
            </a:avLst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3" name="Shape 61"/>
          <p:cNvSpPr/>
          <p:nvPr/>
        </p:nvSpPr>
        <p:spPr>
          <a:xfrm>
            <a:off x="4736592" y="1600200"/>
            <a:ext cx="757123" cy="2902306"/>
          </a:xfrm>
          <a:prstGeom prst="rect">
            <a:avLst/>
          </a:prstGeom>
          <a:solidFill>
            <a:srgbClr val="F2B134">
              <a:alpha val="20000"/>
            </a:srgbClr>
          </a:solidFill>
          <a:ln/>
        </p:spPr>
        <p:txBody>
          <a:bodyPr/>
          <a:p>
            <a:pPr/>
          </a:p>
        </p:txBody>
      </p:sp>
      <p:sp>
        <p:nvSpPr>
          <p:cNvPr id="64" name="Shape 62"/>
          <p:cNvSpPr/>
          <p:nvPr/>
        </p:nvSpPr>
        <p:spPr>
          <a:xfrm>
            <a:off x="4736592" y="1828800"/>
            <a:ext cx="757123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5" name="Shape 63"/>
          <p:cNvSpPr/>
          <p:nvPr/>
        </p:nvSpPr>
        <p:spPr>
          <a:xfrm flipV="1">
            <a:off x="4690872" y="1783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6" name="Shape 64"/>
          <p:cNvSpPr/>
          <p:nvPr/>
        </p:nvSpPr>
        <p:spPr>
          <a:xfrm flipV="1">
            <a:off x="5447995" y="1783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7" name="Shape 65"/>
          <p:cNvSpPr/>
          <p:nvPr/>
        </p:nvSpPr>
        <p:spPr>
          <a:xfrm>
            <a:off x="4736592" y="17465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8" name="Shape 66"/>
          <p:cNvSpPr/>
          <p:nvPr/>
        </p:nvSpPr>
        <p:spPr>
          <a:xfrm>
            <a:off x="5493715" y="17465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9" name="Text 67"/>
          <p:cNvSpPr txBox="1"/>
          <p:nvPr/>
        </p:nvSpPr>
        <p:spPr>
          <a:xfrm>
            <a:off x="4200754" y="1627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1.80 m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4736592" y="2971800"/>
            <a:ext cx="757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راهرو</a:t>
            </a:r>
            <a:endParaRPr lang="en-US" sz="650" dirty="0"/>
          </a:p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(آموزشی)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325880" y="4685386"/>
            <a:ext cx="336499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2" name="Shape 70"/>
          <p:cNvSpPr/>
          <p:nvPr/>
        </p:nvSpPr>
        <p:spPr>
          <a:xfrm flipV="1">
            <a:off x="1280160" y="463966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3" name="Shape 71"/>
          <p:cNvSpPr/>
          <p:nvPr/>
        </p:nvSpPr>
        <p:spPr>
          <a:xfrm flipV="1">
            <a:off x="4645152" y="463966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4" name="Shape 72"/>
          <p:cNvSpPr/>
          <p:nvPr/>
        </p:nvSpPr>
        <p:spPr>
          <a:xfrm>
            <a:off x="1325880" y="4603090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5" name="Shape 73"/>
          <p:cNvSpPr/>
          <p:nvPr/>
        </p:nvSpPr>
        <p:spPr>
          <a:xfrm>
            <a:off x="4690872" y="4603090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6" name="Text 74"/>
          <p:cNvSpPr txBox="1"/>
          <p:nvPr/>
        </p:nvSpPr>
        <p:spPr>
          <a:xfrm>
            <a:off x="2093976" y="472196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8.0 m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22960" y="1600200"/>
            <a:ext cx="91" cy="2902306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8" name="Shape 76"/>
          <p:cNvSpPr/>
          <p:nvPr/>
        </p:nvSpPr>
        <p:spPr>
          <a:xfrm flipV="1">
            <a:off x="777240" y="15544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9" name="Shape 77"/>
          <p:cNvSpPr/>
          <p:nvPr/>
        </p:nvSpPr>
        <p:spPr>
          <a:xfrm flipV="1">
            <a:off x="777240" y="445678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0" name="Shape 78"/>
          <p:cNvSpPr/>
          <p:nvPr/>
        </p:nvSpPr>
        <p:spPr>
          <a:xfrm>
            <a:off x="740664" y="16002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1" name="Shape 79"/>
          <p:cNvSpPr/>
          <p:nvPr/>
        </p:nvSpPr>
        <p:spPr>
          <a:xfrm>
            <a:off x="740664" y="4502506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2" name="Text 80"/>
          <p:cNvSpPr txBox="1"/>
          <p:nvPr/>
        </p:nvSpPr>
        <p:spPr>
          <a:xfrm>
            <a:off x="-694944" y="2959913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sz="73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6.9 m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1325880" y="495970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55 m² / 30 نفر ≈ 1.8 m² برای هر نفر — تناسبات نمونه از نگارنده؛ مساحت از BB103.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562356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fa-IR" sz="165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55 m²</a:t>
            </a:r>
            <a:endParaRPr lang="en-US" sz="1800" dirty="0"/>
          </a:p>
        </p:txBody>
      </p:sp>
      <p:sp>
        <p:nvSpPr>
          <p:cNvPr id="85" name="Text 83"/>
          <p:cNvSpPr txBox="1"/>
          <p:nvPr/>
        </p:nvSpPr>
        <p:spPr>
          <a:xfrm>
            <a:off x="5623560" y="17007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کلاس عمومی برای ۳۰ نفر (راهنمای مدارس، به‌عنوان حد پایین).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562356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fa-IR" sz="165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2.5–2.75 m²</a:t>
            </a:r>
            <a:endParaRPr lang="en-US" sz="1800" dirty="0"/>
          </a:p>
        </p:txBody>
      </p:sp>
      <p:sp>
        <p:nvSpPr>
          <p:cNvPr id="87" name="Text 85"/>
          <p:cNvSpPr txBox="1"/>
          <p:nvPr/>
        </p:nvSpPr>
        <p:spPr>
          <a:xfrm>
            <a:off x="5623560" y="25237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 ازای هر نفر — اتاق‌های کار گروهی / فناوری / سمینار (راهنمای دانشگاهی).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56235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algn="r">
              <a:buNone/>
            </a:pPr>
            <a:r>
              <a:rPr lang="fa-IR" sz="165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1.80 m</a:t>
            </a:r>
            <a:endParaRPr lang="en-US" sz="1800" dirty="0"/>
          </a:p>
        </p:txBody>
      </p:sp>
      <p:sp>
        <p:nvSpPr>
          <p:cNvPr id="89" name="Text 87"/>
          <p:cNvSpPr txBox="1"/>
          <p:nvPr/>
        </p:nvSpPr>
        <p:spPr>
          <a:xfrm>
            <a:off x="5623560" y="33467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حداقل عرض راهرو، فضاهای آموزشی.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623560" y="3749040"/>
            <a:ext cx="1013155" cy="182880"/>
          </a:xfrm>
          <a:prstGeom prst="rect">
            <a:avLst/>
          </a:prstGeom>
          <a:solidFill>
            <a:srgbClr val="6B6B6B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1" name="Text 89"/>
          <p:cNvSpPr txBox="1"/>
          <p:nvPr/>
        </p:nvSpPr>
        <p:spPr>
          <a:xfrm>
            <a:off x="5623560" y="3762756"/>
            <a:ext cx="10131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توصیه‌ای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5623560" y="4005072"/>
            <a:ext cx="1369771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3" name="Text 91"/>
          <p:cNvSpPr txBox="1"/>
          <p:nvPr/>
        </p:nvSpPr>
        <p:spPr>
          <a:xfrm>
            <a:off x="5623560" y="4018788"/>
            <a:ext cx="13697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الزامی (ایران)</a:t>
            </a:r>
            <a:endParaRPr lang="en-US" sz="650" dirty="0"/>
          </a:p>
        </p:txBody>
      </p:sp>
      <p:sp>
        <p:nvSpPr>
          <p:cNvPr id="94" name="Text 92"/>
          <p:cNvSpPr txBox="1"/>
          <p:nvPr/>
        </p:nvSpPr>
        <p:spPr>
          <a:xfrm>
            <a:off x="809244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کتابخانه — پلان پهنه‌بندی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092440" y="1783080"/>
            <a:ext cx="3657600" cy="301752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6" name="Shape 94"/>
          <p:cNvSpPr/>
          <p:nvPr/>
        </p:nvSpPr>
        <p:spPr>
          <a:xfrm>
            <a:off x="8092440" y="4069080"/>
            <a:ext cx="1188720" cy="731520"/>
          </a:xfrm>
          <a:prstGeom prst="rect">
            <a:avLst/>
          </a:prstGeom>
          <a:solidFill>
            <a:srgbClr val="F2B134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7" name="Text 95"/>
          <p:cNvSpPr txBox="1"/>
          <p:nvPr/>
        </p:nvSpPr>
        <p:spPr>
          <a:xfrm>
            <a:off x="8092440" y="4114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 +</a:t>
            </a:r>
            <a:endParaRPr lang="en-US" sz="650" dirty="0"/>
          </a:p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میز امانت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950976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99" name="Shape 97"/>
          <p:cNvSpPr/>
          <p:nvPr/>
        </p:nvSpPr>
        <p:spPr>
          <a:xfrm>
            <a:off x="992124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100" name="Shape 98"/>
          <p:cNvSpPr/>
          <p:nvPr/>
        </p:nvSpPr>
        <p:spPr>
          <a:xfrm>
            <a:off x="1033272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101" name="Shape 99"/>
          <p:cNvSpPr/>
          <p:nvPr/>
        </p:nvSpPr>
        <p:spPr>
          <a:xfrm>
            <a:off x="1074420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102" name="Shape 100"/>
          <p:cNvSpPr/>
          <p:nvPr/>
        </p:nvSpPr>
        <p:spPr>
          <a:xfrm>
            <a:off x="11155680" y="2880360"/>
            <a:ext cx="164592" cy="1188720"/>
          </a:xfrm>
          <a:prstGeom prst="rect">
            <a:avLst/>
          </a:prstGeom>
          <a:solidFill>
            <a:srgbClr val="8C8C8C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103" name="Text 101"/>
          <p:cNvSpPr txBox="1"/>
          <p:nvPr/>
        </p:nvSpPr>
        <p:spPr>
          <a:xfrm>
            <a:off x="9464040" y="41148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قفسه‌های کتاب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8229600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5" name="Shape 103"/>
          <p:cNvSpPr/>
          <p:nvPr/>
        </p:nvSpPr>
        <p:spPr>
          <a:xfrm>
            <a:off x="8796528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6" name="Shape 104"/>
          <p:cNvSpPr/>
          <p:nvPr/>
        </p:nvSpPr>
        <p:spPr>
          <a:xfrm>
            <a:off x="9363456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7" name="Shape 105"/>
          <p:cNvSpPr/>
          <p:nvPr/>
        </p:nvSpPr>
        <p:spPr>
          <a:xfrm>
            <a:off x="9930384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8" name="Shape 106"/>
          <p:cNvSpPr/>
          <p:nvPr/>
        </p:nvSpPr>
        <p:spPr>
          <a:xfrm>
            <a:off x="10497312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9" name="Shape 107"/>
          <p:cNvSpPr/>
          <p:nvPr/>
        </p:nvSpPr>
        <p:spPr>
          <a:xfrm>
            <a:off x="11064240" y="1856232"/>
            <a:ext cx="457200" cy="274320"/>
          </a:xfrm>
          <a:prstGeom prst="rect">
            <a:avLst/>
          </a:prstGeom>
          <a:solidFill>
            <a:srgbClr val="6FA8DC">
              <a:alpha val="5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0" name="Text 108"/>
          <p:cNvSpPr txBox="1"/>
          <p:nvPr/>
        </p:nvSpPr>
        <p:spPr>
          <a:xfrm>
            <a:off x="8183880" y="2167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ناحیه‌ی آرام — میزهای انفرادی کنار نمای نورگیر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8183880" y="2514600"/>
            <a:ext cx="1097280" cy="1417320"/>
          </a:xfrm>
          <a:prstGeom prst="rect">
            <a:avLst/>
          </a:prstGeom>
          <a:solidFill>
            <a:srgbClr val="6FA8DC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2" name="Text 110"/>
          <p:cNvSpPr txBox="1"/>
          <p:nvPr/>
        </p:nvSpPr>
        <p:spPr>
          <a:xfrm>
            <a:off x="818388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میزهای</a:t>
            </a:r>
            <a:endParaRPr lang="en-US" sz="650" dirty="0"/>
          </a:p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مطالعه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10607040" y="4069080"/>
            <a:ext cx="1143000" cy="731520"/>
          </a:xfrm>
          <a:prstGeom prst="rect">
            <a:avLst/>
          </a:prstGeom>
          <a:solidFill>
            <a:srgbClr val="9B7FBF">
              <a:alpha val="3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4" name="Text 112"/>
          <p:cNvSpPr txBox="1"/>
          <p:nvPr/>
        </p:nvSpPr>
        <p:spPr>
          <a:xfrm>
            <a:off x="10607040" y="41148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مطالعه‌ی گروهی</a:t>
            </a:r>
            <a:endParaRPr lang="en-US" sz="650" dirty="0"/>
          </a:p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(بسته — آکوستیک)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8549640" y="1581912"/>
            <a:ext cx="91" cy="173736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16" name="Shape 114"/>
          <p:cNvSpPr/>
          <p:nvPr/>
        </p:nvSpPr>
        <p:spPr>
          <a:xfrm>
            <a:off x="9464040" y="1581912"/>
            <a:ext cx="91" cy="173736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17" name="Shape 115"/>
          <p:cNvSpPr/>
          <p:nvPr/>
        </p:nvSpPr>
        <p:spPr>
          <a:xfrm>
            <a:off x="10378440" y="1581912"/>
            <a:ext cx="91" cy="173736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18" name="Shape 116"/>
          <p:cNvSpPr/>
          <p:nvPr/>
        </p:nvSpPr>
        <p:spPr>
          <a:xfrm>
            <a:off x="11292840" y="1581912"/>
            <a:ext cx="91" cy="173736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19" name="Shape 117"/>
          <p:cNvSpPr/>
          <p:nvPr/>
        </p:nvSpPr>
        <p:spPr>
          <a:xfrm flipV="1">
            <a:off x="8686800" y="4023360"/>
            <a:ext cx="91" cy="1051560"/>
          </a:xfrm>
          <a:prstGeom prst="line">
            <a:avLst/>
          </a:prstGeom>
          <a:noFill/>
          <a:ln w="15875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120" name="Shape 118"/>
          <p:cNvSpPr/>
          <p:nvPr/>
        </p:nvSpPr>
        <p:spPr>
          <a:xfrm flipV="1">
            <a:off x="8686800" y="2468880"/>
            <a:ext cx="777240" cy="1554480"/>
          </a:xfrm>
          <a:prstGeom prst="line">
            <a:avLst/>
          </a:prstGeom>
          <a:noFill/>
          <a:ln w="15875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121" name="Text 119"/>
          <p:cNvSpPr txBox="1"/>
          <p:nvPr/>
        </p:nvSpPr>
        <p:spPr>
          <a:xfrm>
            <a:off x="8092440" y="4892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گرادیان صدا: پرصدا (ورودی، گروهی) ← آرام (میزهای انفرادی). مسیر دسترس‌پذیر با فضای چرخش ≥ 1.5 m کنار میز و قفسه‌ها.</a:t>
            </a:r>
            <a:endParaRPr lang="en-US" sz="750" dirty="0"/>
          </a:p>
        </p:txBody>
      </p:sp>
      <p:sp>
        <p:nvSpPr>
          <p:cNvPr id="122" name="Text 120"/>
          <p:cNvSpPr txBox="1"/>
          <p:nvPr/>
        </p:nvSpPr>
        <p:spPr>
          <a:xfrm>
            <a:off x="809244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مساحت به ازای هر خواننده: هیچ مقدار معتبری در این مطالعه تأیید نشد — به‌عنوان استاندارد ارائه نمی‌شود.</a:t>
            </a:r>
            <a:endParaRPr lang="en-US" sz="750" dirty="0"/>
          </a:p>
        </p:txBody>
      </p:sp>
      <p:sp>
        <p:nvSpPr>
          <p:cNvPr id="123" name="Text 121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UK DfE، Building Bulletin 103 (2014): کلاس عمومی 55 m² / 30 دانش‌آموز.  University of York، Space Guidelines &amp; Standards (2025) — m² به ازای هر نفر برای هر نوع اتاق.  راهرو: مقررات ملی ساختمان، مبحث ۴، ویرایش ۱۳۹۶.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۱۰ — دانشکده · آمفی‌تئاتر + غذاخوری + فضاهای دانشجویی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طول ردیف با عرض فاصله‌ی ردیف محدود می‌شود؛ غذا یک‌طرفه از آشپزخانه تا پسماند حرکت می‌کند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آمفی‌تئاتر — مقطع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7280" cy="457200"/>
          </a:xfrm>
          <a:prstGeom prst="rect">
            <a:avLst/>
          </a:prstGeom>
          <a:solidFill>
            <a:srgbClr val="F3F3F3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" name="Text 4"/>
          <p:cNvSpPr txBox="1"/>
          <p:nvPr/>
        </p:nvSpPr>
        <p:spPr>
          <a:xfrm>
            <a:off x="640080" y="2404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صحنه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37360" y="2788920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" name="Shape 6"/>
          <p:cNvSpPr/>
          <p:nvPr/>
        </p:nvSpPr>
        <p:spPr>
          <a:xfrm flipV="1">
            <a:off x="2066544" y="2688336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Shape 7"/>
          <p:cNvSpPr/>
          <p:nvPr/>
        </p:nvSpPr>
        <p:spPr>
          <a:xfrm>
            <a:off x="1892808" y="2423160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Shape 8"/>
          <p:cNvSpPr/>
          <p:nvPr/>
        </p:nvSpPr>
        <p:spPr>
          <a:xfrm>
            <a:off x="2066544" y="2688336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Shape 9"/>
          <p:cNvSpPr/>
          <p:nvPr/>
        </p:nvSpPr>
        <p:spPr>
          <a:xfrm flipV="1">
            <a:off x="2395728" y="2587752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Shape 10"/>
          <p:cNvSpPr/>
          <p:nvPr/>
        </p:nvSpPr>
        <p:spPr>
          <a:xfrm>
            <a:off x="2221992" y="2322576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Shape 11"/>
          <p:cNvSpPr/>
          <p:nvPr/>
        </p:nvSpPr>
        <p:spPr>
          <a:xfrm>
            <a:off x="2395728" y="2587752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Shape 12"/>
          <p:cNvSpPr/>
          <p:nvPr/>
        </p:nvSpPr>
        <p:spPr>
          <a:xfrm flipV="1">
            <a:off x="2724912" y="2487168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Shape 13"/>
          <p:cNvSpPr/>
          <p:nvPr/>
        </p:nvSpPr>
        <p:spPr>
          <a:xfrm>
            <a:off x="2551176" y="2221992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Shape 14"/>
          <p:cNvSpPr/>
          <p:nvPr/>
        </p:nvSpPr>
        <p:spPr>
          <a:xfrm>
            <a:off x="2724912" y="2487168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Shape 15"/>
          <p:cNvSpPr/>
          <p:nvPr/>
        </p:nvSpPr>
        <p:spPr>
          <a:xfrm flipV="1">
            <a:off x="3054096" y="2386584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6"/>
          <p:cNvSpPr/>
          <p:nvPr/>
        </p:nvSpPr>
        <p:spPr>
          <a:xfrm>
            <a:off x="2880360" y="2121408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7"/>
          <p:cNvSpPr/>
          <p:nvPr/>
        </p:nvSpPr>
        <p:spPr>
          <a:xfrm>
            <a:off x="3054096" y="2386584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8"/>
          <p:cNvSpPr/>
          <p:nvPr/>
        </p:nvSpPr>
        <p:spPr>
          <a:xfrm flipV="1">
            <a:off x="3383280" y="2286000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Shape 19"/>
          <p:cNvSpPr/>
          <p:nvPr/>
        </p:nvSpPr>
        <p:spPr>
          <a:xfrm>
            <a:off x="3209544" y="2020824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Shape 20"/>
          <p:cNvSpPr/>
          <p:nvPr/>
        </p:nvSpPr>
        <p:spPr>
          <a:xfrm>
            <a:off x="3383280" y="2286000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Shape 21"/>
          <p:cNvSpPr/>
          <p:nvPr/>
        </p:nvSpPr>
        <p:spPr>
          <a:xfrm flipV="1">
            <a:off x="3712464" y="2185416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Shape 22"/>
          <p:cNvSpPr/>
          <p:nvPr/>
        </p:nvSpPr>
        <p:spPr>
          <a:xfrm>
            <a:off x="3538728" y="1920240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Shape 23"/>
          <p:cNvSpPr/>
          <p:nvPr/>
        </p:nvSpPr>
        <p:spPr>
          <a:xfrm>
            <a:off x="3712464" y="2185416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Shape 24"/>
          <p:cNvSpPr/>
          <p:nvPr/>
        </p:nvSpPr>
        <p:spPr>
          <a:xfrm flipV="1">
            <a:off x="4041648" y="2084832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Shape 25"/>
          <p:cNvSpPr/>
          <p:nvPr/>
        </p:nvSpPr>
        <p:spPr>
          <a:xfrm>
            <a:off x="3867912" y="1819656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8" name="Shape 26"/>
          <p:cNvSpPr/>
          <p:nvPr/>
        </p:nvSpPr>
        <p:spPr>
          <a:xfrm>
            <a:off x="4041648" y="2084832"/>
            <a:ext cx="329184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Shape 27"/>
          <p:cNvSpPr/>
          <p:nvPr/>
        </p:nvSpPr>
        <p:spPr>
          <a:xfrm flipV="1">
            <a:off x="4370832" y="1984248"/>
            <a:ext cx="91" cy="100584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Shape 28"/>
          <p:cNvSpPr/>
          <p:nvPr/>
        </p:nvSpPr>
        <p:spPr>
          <a:xfrm>
            <a:off x="4197096" y="1719072"/>
            <a:ext cx="82296" cy="100584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Shape 29"/>
          <p:cNvSpPr/>
          <p:nvPr/>
        </p:nvSpPr>
        <p:spPr>
          <a:xfrm flipH="1" flipV="1">
            <a:off x="1554480" y="2331720"/>
            <a:ext cx="374904" cy="137160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32" name="Shape 30"/>
          <p:cNvSpPr/>
          <p:nvPr/>
        </p:nvSpPr>
        <p:spPr>
          <a:xfrm flipH="1">
            <a:off x="1554480" y="2066544"/>
            <a:ext cx="1691640" cy="265176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33" name="Shape 31"/>
          <p:cNvSpPr/>
          <p:nvPr/>
        </p:nvSpPr>
        <p:spPr>
          <a:xfrm flipH="1">
            <a:off x="1554480" y="1764792"/>
            <a:ext cx="2679192" cy="566928"/>
          </a:xfrm>
          <a:prstGeom prst="line">
            <a:avLst/>
          </a:prstGeom>
          <a:noFill/>
          <a:ln w="952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34" name="Text 32"/>
          <p:cNvSpPr txBox="1"/>
          <p:nvPr/>
        </p:nvSpPr>
        <p:spPr>
          <a:xfrm>
            <a:off x="1828800" y="1463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 دید به لبه‌ی صحنه ← ارتفاع پله با فاصله زیاد می‌شود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4279392" y="1847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98" b="1" dirty="0">
                <a:solidFill>
                  <a:srgbClr val="9B7F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ویلچر</a:t>
            </a:r>
            <a:endParaRPr lang="en-US" sz="650" dirty="0"/>
          </a:p>
          <a:p>
            <a:pPr indent="0" marL="0" rtl="1">
              <a:buNone/>
            </a:pPr>
            <a:r>
              <a:rPr lang="fa-IR" sz="598" b="1" dirty="0">
                <a:solidFill>
                  <a:srgbClr val="9B7F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ردیف آخر</a:t>
            </a:r>
            <a:endParaRPr lang="en-US" sz="6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28620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مقطع — شماتیک؛ ارتفاع پله از محاسبه‌ی خط دید.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پلان — طول ردیف در برابر فاصله‌ی ردیف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51560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9" name="Shape 37"/>
          <p:cNvSpPr/>
          <p:nvPr/>
        </p:nvSpPr>
        <p:spPr>
          <a:xfrm>
            <a:off x="1298448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Shape 38"/>
          <p:cNvSpPr/>
          <p:nvPr/>
        </p:nvSpPr>
        <p:spPr>
          <a:xfrm>
            <a:off x="1545336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1" name="Shape 39"/>
          <p:cNvSpPr/>
          <p:nvPr/>
        </p:nvSpPr>
        <p:spPr>
          <a:xfrm>
            <a:off x="1792224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Shape 40"/>
          <p:cNvSpPr/>
          <p:nvPr/>
        </p:nvSpPr>
        <p:spPr>
          <a:xfrm>
            <a:off x="2039112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3" name="Shape 41"/>
          <p:cNvSpPr/>
          <p:nvPr/>
        </p:nvSpPr>
        <p:spPr>
          <a:xfrm>
            <a:off x="2286000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4" name="Shape 42"/>
          <p:cNvSpPr/>
          <p:nvPr/>
        </p:nvSpPr>
        <p:spPr>
          <a:xfrm>
            <a:off x="2532888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5" name="Shape 43"/>
          <p:cNvSpPr/>
          <p:nvPr/>
        </p:nvSpPr>
        <p:spPr>
          <a:xfrm>
            <a:off x="2779776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6" name="Shape 44"/>
          <p:cNvSpPr/>
          <p:nvPr/>
        </p:nvSpPr>
        <p:spPr>
          <a:xfrm>
            <a:off x="3026664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7" name="Shape 45"/>
          <p:cNvSpPr/>
          <p:nvPr/>
        </p:nvSpPr>
        <p:spPr>
          <a:xfrm>
            <a:off x="3273552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8" name="Shape 46"/>
          <p:cNvSpPr/>
          <p:nvPr/>
        </p:nvSpPr>
        <p:spPr>
          <a:xfrm>
            <a:off x="3520440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9" name="Shape 47"/>
          <p:cNvSpPr/>
          <p:nvPr/>
        </p:nvSpPr>
        <p:spPr>
          <a:xfrm>
            <a:off x="3767328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0" name="Shape 48"/>
          <p:cNvSpPr/>
          <p:nvPr/>
        </p:nvSpPr>
        <p:spPr>
          <a:xfrm>
            <a:off x="4014216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1" name="Shape 49"/>
          <p:cNvSpPr/>
          <p:nvPr/>
        </p:nvSpPr>
        <p:spPr>
          <a:xfrm>
            <a:off x="4261104" y="3493008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2" name="Shape 50"/>
          <p:cNvSpPr/>
          <p:nvPr/>
        </p:nvSpPr>
        <p:spPr>
          <a:xfrm>
            <a:off x="1051560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3" name="Shape 51"/>
          <p:cNvSpPr/>
          <p:nvPr/>
        </p:nvSpPr>
        <p:spPr>
          <a:xfrm>
            <a:off x="1298448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4" name="Shape 52"/>
          <p:cNvSpPr/>
          <p:nvPr/>
        </p:nvSpPr>
        <p:spPr>
          <a:xfrm>
            <a:off x="1545336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5" name="Shape 53"/>
          <p:cNvSpPr/>
          <p:nvPr/>
        </p:nvSpPr>
        <p:spPr>
          <a:xfrm>
            <a:off x="1792224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6" name="Shape 54"/>
          <p:cNvSpPr/>
          <p:nvPr/>
        </p:nvSpPr>
        <p:spPr>
          <a:xfrm>
            <a:off x="2039112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>
            <a:off x="2286000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8" name="Shape 56"/>
          <p:cNvSpPr/>
          <p:nvPr/>
        </p:nvSpPr>
        <p:spPr>
          <a:xfrm>
            <a:off x="2532888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9" name="Shape 57"/>
          <p:cNvSpPr/>
          <p:nvPr/>
        </p:nvSpPr>
        <p:spPr>
          <a:xfrm>
            <a:off x="2779776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0" name="Shape 58"/>
          <p:cNvSpPr/>
          <p:nvPr/>
        </p:nvSpPr>
        <p:spPr>
          <a:xfrm>
            <a:off x="3026664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1" name="Shape 59"/>
          <p:cNvSpPr/>
          <p:nvPr/>
        </p:nvSpPr>
        <p:spPr>
          <a:xfrm>
            <a:off x="3273552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2" name="Shape 60"/>
          <p:cNvSpPr/>
          <p:nvPr/>
        </p:nvSpPr>
        <p:spPr>
          <a:xfrm>
            <a:off x="3520440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3" name="Shape 61"/>
          <p:cNvSpPr/>
          <p:nvPr/>
        </p:nvSpPr>
        <p:spPr>
          <a:xfrm>
            <a:off x="3767328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4" name="Shape 62"/>
          <p:cNvSpPr/>
          <p:nvPr/>
        </p:nvSpPr>
        <p:spPr>
          <a:xfrm>
            <a:off x="4014216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5" name="Shape 63"/>
          <p:cNvSpPr/>
          <p:nvPr/>
        </p:nvSpPr>
        <p:spPr>
          <a:xfrm>
            <a:off x="4261104" y="3822192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6" name="Shape 64"/>
          <p:cNvSpPr/>
          <p:nvPr/>
        </p:nvSpPr>
        <p:spPr>
          <a:xfrm>
            <a:off x="1051560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7" name="Shape 65"/>
          <p:cNvSpPr/>
          <p:nvPr/>
        </p:nvSpPr>
        <p:spPr>
          <a:xfrm>
            <a:off x="1298448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8" name="Shape 66"/>
          <p:cNvSpPr/>
          <p:nvPr/>
        </p:nvSpPr>
        <p:spPr>
          <a:xfrm>
            <a:off x="1545336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9" name="Shape 67"/>
          <p:cNvSpPr/>
          <p:nvPr/>
        </p:nvSpPr>
        <p:spPr>
          <a:xfrm>
            <a:off x="1792224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0" name="Shape 68"/>
          <p:cNvSpPr/>
          <p:nvPr/>
        </p:nvSpPr>
        <p:spPr>
          <a:xfrm>
            <a:off x="2039112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1" name="Shape 69"/>
          <p:cNvSpPr/>
          <p:nvPr/>
        </p:nvSpPr>
        <p:spPr>
          <a:xfrm>
            <a:off x="2286000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2" name="Shape 70"/>
          <p:cNvSpPr/>
          <p:nvPr/>
        </p:nvSpPr>
        <p:spPr>
          <a:xfrm>
            <a:off x="2532888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3" name="Shape 71"/>
          <p:cNvSpPr/>
          <p:nvPr/>
        </p:nvSpPr>
        <p:spPr>
          <a:xfrm>
            <a:off x="2779776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4" name="Shape 72"/>
          <p:cNvSpPr/>
          <p:nvPr/>
        </p:nvSpPr>
        <p:spPr>
          <a:xfrm>
            <a:off x="3026664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5" name="Shape 73"/>
          <p:cNvSpPr/>
          <p:nvPr/>
        </p:nvSpPr>
        <p:spPr>
          <a:xfrm>
            <a:off x="3273552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6" name="Shape 74"/>
          <p:cNvSpPr/>
          <p:nvPr/>
        </p:nvSpPr>
        <p:spPr>
          <a:xfrm>
            <a:off x="3520440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7" name="Shape 75"/>
          <p:cNvSpPr/>
          <p:nvPr/>
        </p:nvSpPr>
        <p:spPr>
          <a:xfrm>
            <a:off x="3767328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8" name="Shape 76"/>
          <p:cNvSpPr/>
          <p:nvPr/>
        </p:nvSpPr>
        <p:spPr>
          <a:xfrm>
            <a:off x="4014216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9" name="Shape 77"/>
          <p:cNvSpPr/>
          <p:nvPr/>
        </p:nvSpPr>
        <p:spPr>
          <a:xfrm>
            <a:off x="4261104" y="4151376"/>
            <a:ext cx="219456" cy="182880"/>
          </a:xfrm>
          <a:prstGeom prst="rect">
            <a:avLst/>
          </a:prstGeom>
          <a:solidFill>
            <a:srgbClr val="6FA8DC">
              <a:alpha val="45000"/>
            </a:srgbClr>
          </a:solidFill>
          <a:ln w="508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0" name="Shape 78"/>
          <p:cNvSpPr/>
          <p:nvPr/>
        </p:nvSpPr>
        <p:spPr>
          <a:xfrm>
            <a:off x="640080" y="3447288"/>
            <a:ext cx="365760" cy="1005840"/>
          </a:xfrm>
          <a:prstGeom prst="rect">
            <a:avLst/>
          </a:prstGeom>
          <a:ln w="9525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81" name="Shape 79"/>
          <p:cNvSpPr/>
          <p:nvPr/>
        </p:nvSpPr>
        <p:spPr>
          <a:xfrm>
            <a:off x="4507992" y="3447288"/>
            <a:ext cx="365760" cy="1005840"/>
          </a:xfrm>
          <a:prstGeom prst="rect">
            <a:avLst/>
          </a:prstGeom>
          <a:ln w="9525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82" name="Text 80"/>
          <p:cNvSpPr txBox="1"/>
          <p:nvPr/>
        </p:nvSpPr>
        <p:spPr>
          <a:xfrm>
            <a:off x="640080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98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راهرو</a:t>
            </a:r>
            <a:endParaRPr lang="en-US" sz="650" dirty="0"/>
          </a:p>
        </p:txBody>
      </p:sp>
      <p:sp>
        <p:nvSpPr>
          <p:cNvPr id="83" name="Text 81"/>
          <p:cNvSpPr txBox="1"/>
          <p:nvPr/>
        </p:nvSpPr>
        <p:spPr>
          <a:xfrm>
            <a:off x="4507992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98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راهرو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965192" y="3675888"/>
            <a:ext cx="91" cy="146304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5" name="Shape 83"/>
          <p:cNvSpPr/>
          <p:nvPr/>
        </p:nvSpPr>
        <p:spPr>
          <a:xfrm flipV="1">
            <a:off x="4919472" y="363016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6" name="Shape 84"/>
          <p:cNvSpPr/>
          <p:nvPr/>
        </p:nvSpPr>
        <p:spPr>
          <a:xfrm flipV="1">
            <a:off x="4919472" y="377647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7" name="Shape 85"/>
          <p:cNvSpPr/>
          <p:nvPr/>
        </p:nvSpPr>
        <p:spPr>
          <a:xfrm>
            <a:off x="4882896" y="367588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8" name="Shape 86"/>
          <p:cNvSpPr/>
          <p:nvPr/>
        </p:nvSpPr>
        <p:spPr>
          <a:xfrm>
            <a:off x="4882896" y="3822192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9" name="Text 87"/>
          <p:cNvSpPr txBox="1"/>
          <p:nvPr/>
        </p:nvSpPr>
        <p:spPr>
          <a:xfrm>
            <a:off x="5020056" y="3657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4919472" y="3246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فاصله‌ی ردیف ≥ 300</a:t>
            </a:r>
            <a:endParaRPr lang="en-US" sz="700" dirty="0"/>
          </a:p>
        </p:txBody>
      </p:sp>
      <p:sp>
        <p:nvSpPr>
          <p:cNvPr id="91" name="Text 89"/>
          <p:cNvSpPr txBox="1"/>
          <p:nvPr/>
        </p:nvSpPr>
        <p:spPr>
          <a:xfrm>
            <a:off x="1051560" y="4480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14 صندلی بین دو راهرو</a:t>
            </a:r>
            <a:endParaRPr lang="en-US" sz="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54880"/>
          <a:ext cx="3931920" cy="914400"/>
        </p:xfrm>
        <a:graphic>
          <a:graphicData uri="http://schemas.openxmlformats.org/drawingml/2006/table">
            <a:tbl>
              <a:tblPr rtl="1"/>
              <a:tblGrid>
                <a:gridCol w="1280160"/>
                <a:gridCol w="1280160"/>
                <a:gridCol w="1371600"/>
              </a:tblGrid>
              <a:tr h="219456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000000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فاصله‌ی ردیف (mm)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000000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راهرو در یک سمت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000000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راهرو در دو سمت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736" dirty="0">
                          <a:solidFill>
                            <a:srgbClr val="000000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300 – 324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000000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7 صندلی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000000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14 صندلی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736" dirty="0">
                          <a:solidFill>
                            <a:srgbClr val="000000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425 – 449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000000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12 صندلی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000000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24 صندلی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3" name="Text 90"/>
          <p:cNvSpPr txBox="1"/>
          <p:nvPr/>
        </p:nvSpPr>
        <p:spPr>
          <a:xfrm>
            <a:off x="640080" y="5486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BSI, BS 9999 ایمنی حریق در طراحی، مدیریت و بهره‌برداری ساختمان — نشیمن: جدول عرض فاصله‌ی ردیف در برابر تعداد صندلی در ردیف.</a:t>
            </a:r>
            <a:endParaRPr lang="en-US" sz="750" dirty="0"/>
          </a:p>
        </p:txBody>
      </p:sp>
      <p:sp>
        <p:nvSpPr>
          <p:cNvPr id="94" name="Text 91"/>
          <p:cNvSpPr txBox="1"/>
          <p:nvPr/>
        </p:nvSpPr>
        <p:spPr>
          <a:xfrm>
            <a:off x="5120640" y="12344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غذاخوری — پلان + توالی خدمات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5120640" y="1737360"/>
            <a:ext cx="3931920" cy="310896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6" name="Shape 93"/>
          <p:cNvSpPr/>
          <p:nvPr/>
        </p:nvSpPr>
        <p:spPr>
          <a:xfrm>
            <a:off x="5120640" y="1737360"/>
            <a:ext cx="1280160" cy="2011680"/>
          </a:xfrm>
          <a:prstGeom prst="rect">
            <a:avLst/>
          </a:prstGeom>
          <a:solidFill>
            <a:srgbClr val="8C8C8C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7" name="Text 94"/>
          <p:cNvSpPr txBox="1"/>
          <p:nvPr/>
        </p:nvSpPr>
        <p:spPr>
          <a:xfrm>
            <a:off x="512064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آشپزخانه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5120640" y="3749040"/>
            <a:ext cx="1280160" cy="548640"/>
          </a:xfrm>
          <a:prstGeom prst="rect">
            <a:avLst/>
          </a:prstGeom>
          <a:solidFill>
            <a:srgbClr val="8C8C8C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9" name="Text 96"/>
          <p:cNvSpPr txBox="1"/>
          <p:nvPr/>
        </p:nvSpPr>
        <p:spPr>
          <a:xfrm>
            <a:off x="512064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انبار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5120640" y="4297680"/>
            <a:ext cx="1280160" cy="548640"/>
          </a:xfrm>
          <a:prstGeom prst="rect">
            <a:avLst/>
          </a:prstGeom>
          <a:solidFill>
            <a:srgbClr val="8C8C8C">
              <a:alpha val="1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1" name="Text 98"/>
          <p:cNvSpPr txBox="1"/>
          <p:nvPr/>
        </p:nvSpPr>
        <p:spPr>
          <a:xfrm>
            <a:off x="512064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برگشت / پسماند</a:t>
            </a:r>
            <a:endParaRPr lang="en-US" sz="750" dirty="0"/>
          </a:p>
        </p:txBody>
      </p:sp>
      <p:sp>
        <p:nvSpPr>
          <p:cNvPr id="102" name="Shape 99"/>
          <p:cNvSpPr/>
          <p:nvPr/>
        </p:nvSpPr>
        <p:spPr>
          <a:xfrm>
            <a:off x="6400800" y="1737360"/>
            <a:ext cx="411480" cy="20116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3" name="Text 100"/>
          <p:cNvSpPr txBox="1"/>
          <p:nvPr/>
        </p:nvSpPr>
        <p:spPr>
          <a:xfrm>
            <a:off x="6400800" y="2103120"/>
            <a:ext cx="411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توزیع غذا</a:t>
            </a:r>
            <a:endParaRPr lang="en-US" sz="650" dirty="0"/>
          </a:p>
        </p:txBody>
      </p:sp>
      <p:sp>
        <p:nvSpPr>
          <p:cNvPr id="104" name="Shape 101"/>
          <p:cNvSpPr/>
          <p:nvPr/>
        </p:nvSpPr>
        <p:spPr>
          <a:xfrm>
            <a:off x="7086600" y="1965960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5" name="Shape 102"/>
          <p:cNvSpPr/>
          <p:nvPr/>
        </p:nvSpPr>
        <p:spPr>
          <a:xfrm>
            <a:off x="6967728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6" name="Shape 103"/>
          <p:cNvSpPr/>
          <p:nvPr/>
        </p:nvSpPr>
        <p:spPr>
          <a:xfrm>
            <a:off x="7543800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7" name="Shape 104"/>
          <p:cNvSpPr/>
          <p:nvPr/>
        </p:nvSpPr>
        <p:spPr>
          <a:xfrm>
            <a:off x="7726680" y="1965960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8" name="Shape 105"/>
          <p:cNvSpPr/>
          <p:nvPr/>
        </p:nvSpPr>
        <p:spPr>
          <a:xfrm>
            <a:off x="7607808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9" name="Shape 106"/>
          <p:cNvSpPr/>
          <p:nvPr/>
        </p:nvSpPr>
        <p:spPr>
          <a:xfrm>
            <a:off x="8183880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0" name="Shape 107"/>
          <p:cNvSpPr/>
          <p:nvPr/>
        </p:nvSpPr>
        <p:spPr>
          <a:xfrm>
            <a:off x="8366760" y="1965960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1" name="Shape 108"/>
          <p:cNvSpPr/>
          <p:nvPr/>
        </p:nvSpPr>
        <p:spPr>
          <a:xfrm>
            <a:off x="8247888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2" name="Shape 109"/>
          <p:cNvSpPr/>
          <p:nvPr/>
        </p:nvSpPr>
        <p:spPr>
          <a:xfrm>
            <a:off x="8823960" y="2066544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3" name="Shape 110"/>
          <p:cNvSpPr/>
          <p:nvPr/>
        </p:nvSpPr>
        <p:spPr>
          <a:xfrm>
            <a:off x="7086600" y="2624328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4" name="Shape 111"/>
          <p:cNvSpPr/>
          <p:nvPr/>
        </p:nvSpPr>
        <p:spPr>
          <a:xfrm>
            <a:off x="6967728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5" name="Shape 112"/>
          <p:cNvSpPr/>
          <p:nvPr/>
        </p:nvSpPr>
        <p:spPr>
          <a:xfrm>
            <a:off x="7543800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6" name="Shape 113"/>
          <p:cNvSpPr/>
          <p:nvPr/>
        </p:nvSpPr>
        <p:spPr>
          <a:xfrm>
            <a:off x="7726680" y="2624328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7" name="Shape 114"/>
          <p:cNvSpPr/>
          <p:nvPr/>
        </p:nvSpPr>
        <p:spPr>
          <a:xfrm>
            <a:off x="7607808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8" name="Shape 115"/>
          <p:cNvSpPr/>
          <p:nvPr/>
        </p:nvSpPr>
        <p:spPr>
          <a:xfrm>
            <a:off x="8183880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9" name="Shape 116"/>
          <p:cNvSpPr/>
          <p:nvPr/>
        </p:nvSpPr>
        <p:spPr>
          <a:xfrm>
            <a:off x="8366760" y="2624328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0" name="Shape 117"/>
          <p:cNvSpPr/>
          <p:nvPr/>
        </p:nvSpPr>
        <p:spPr>
          <a:xfrm>
            <a:off x="8247888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1" name="Shape 118"/>
          <p:cNvSpPr/>
          <p:nvPr/>
        </p:nvSpPr>
        <p:spPr>
          <a:xfrm>
            <a:off x="8823960" y="2724912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2" name="Shape 119"/>
          <p:cNvSpPr/>
          <p:nvPr/>
        </p:nvSpPr>
        <p:spPr>
          <a:xfrm>
            <a:off x="7086600" y="3282696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3" name="Shape 120"/>
          <p:cNvSpPr/>
          <p:nvPr/>
        </p:nvSpPr>
        <p:spPr>
          <a:xfrm>
            <a:off x="6967728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4" name="Shape 121"/>
          <p:cNvSpPr/>
          <p:nvPr/>
        </p:nvSpPr>
        <p:spPr>
          <a:xfrm>
            <a:off x="7543800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5" name="Shape 122"/>
          <p:cNvSpPr/>
          <p:nvPr/>
        </p:nvSpPr>
        <p:spPr>
          <a:xfrm>
            <a:off x="7726680" y="3282696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6" name="Shape 123"/>
          <p:cNvSpPr/>
          <p:nvPr/>
        </p:nvSpPr>
        <p:spPr>
          <a:xfrm>
            <a:off x="7607808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7" name="Shape 124"/>
          <p:cNvSpPr/>
          <p:nvPr/>
        </p:nvSpPr>
        <p:spPr>
          <a:xfrm>
            <a:off x="8183880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8" name="Shape 125"/>
          <p:cNvSpPr/>
          <p:nvPr/>
        </p:nvSpPr>
        <p:spPr>
          <a:xfrm>
            <a:off x="8366760" y="3282696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9" name="Shape 126"/>
          <p:cNvSpPr/>
          <p:nvPr/>
        </p:nvSpPr>
        <p:spPr>
          <a:xfrm>
            <a:off x="8247888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0" name="Shape 127"/>
          <p:cNvSpPr/>
          <p:nvPr/>
        </p:nvSpPr>
        <p:spPr>
          <a:xfrm>
            <a:off x="8823960" y="3383280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1" name="Shape 128"/>
          <p:cNvSpPr/>
          <p:nvPr/>
        </p:nvSpPr>
        <p:spPr>
          <a:xfrm>
            <a:off x="7086600" y="3941064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2" name="Shape 129"/>
          <p:cNvSpPr/>
          <p:nvPr/>
        </p:nvSpPr>
        <p:spPr>
          <a:xfrm>
            <a:off x="6967728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3" name="Shape 130"/>
          <p:cNvSpPr/>
          <p:nvPr/>
        </p:nvSpPr>
        <p:spPr>
          <a:xfrm>
            <a:off x="7543800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4" name="Shape 131"/>
          <p:cNvSpPr/>
          <p:nvPr/>
        </p:nvSpPr>
        <p:spPr>
          <a:xfrm>
            <a:off x="7726680" y="3941064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5" name="Shape 132"/>
          <p:cNvSpPr/>
          <p:nvPr/>
        </p:nvSpPr>
        <p:spPr>
          <a:xfrm>
            <a:off x="7607808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6" name="Shape 133"/>
          <p:cNvSpPr/>
          <p:nvPr/>
        </p:nvSpPr>
        <p:spPr>
          <a:xfrm>
            <a:off x="8183880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7" name="Shape 134"/>
          <p:cNvSpPr/>
          <p:nvPr/>
        </p:nvSpPr>
        <p:spPr>
          <a:xfrm>
            <a:off x="8366760" y="3941064"/>
            <a:ext cx="411480" cy="320040"/>
          </a:xfrm>
          <a:prstGeom prst="rect">
            <a:avLst/>
          </a:prstGeom>
          <a:solidFill>
            <a:srgbClr val="F2B134">
              <a:alpha val="30000"/>
            </a:srgbClr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8" name="Shape 135"/>
          <p:cNvSpPr/>
          <p:nvPr/>
        </p:nvSpPr>
        <p:spPr>
          <a:xfrm>
            <a:off x="8247888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9" name="Shape 136"/>
          <p:cNvSpPr/>
          <p:nvPr/>
        </p:nvSpPr>
        <p:spPr>
          <a:xfrm>
            <a:off x="8823960" y="4041648"/>
            <a:ext cx="91440" cy="91440"/>
          </a:xfrm>
          <a:prstGeom prst="ellipse">
            <a:avLst/>
          </a:prstGeom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0" name="Shape 137"/>
          <p:cNvSpPr/>
          <p:nvPr/>
        </p:nvSpPr>
        <p:spPr>
          <a:xfrm>
            <a:off x="5760720" y="1417320"/>
            <a:ext cx="91" cy="640080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  <p:txBody>
          <a:bodyPr/>
          <a:p>
            <a:pPr/>
          </a:p>
        </p:txBody>
      </p:sp>
      <p:sp>
        <p:nvSpPr>
          <p:cNvPr id="141" name="Text 138"/>
          <p:cNvSpPr txBox="1"/>
          <p:nvPr/>
        </p:nvSpPr>
        <p:spPr>
          <a:xfrm>
            <a:off x="5852160" y="14630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خدماتی ↓</a:t>
            </a:r>
            <a:endParaRPr lang="en-US" sz="650" dirty="0"/>
          </a:p>
        </p:txBody>
      </p:sp>
      <p:sp>
        <p:nvSpPr>
          <p:cNvPr id="142" name="Shape 139"/>
          <p:cNvSpPr/>
          <p:nvPr/>
        </p:nvSpPr>
        <p:spPr>
          <a:xfrm flipH="1">
            <a:off x="6949440" y="4572000"/>
            <a:ext cx="2377440" cy="91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143" name="Shape 140"/>
          <p:cNvSpPr/>
          <p:nvPr/>
        </p:nvSpPr>
        <p:spPr>
          <a:xfrm flipV="1">
            <a:off x="6949440" y="2743200"/>
            <a:ext cx="91" cy="1828800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144" name="Shape 141"/>
          <p:cNvSpPr/>
          <p:nvPr/>
        </p:nvSpPr>
        <p:spPr>
          <a:xfrm flipH="1">
            <a:off x="6858000" y="2743200"/>
            <a:ext cx="91440" cy="91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145" name="Shape 142"/>
          <p:cNvSpPr/>
          <p:nvPr/>
        </p:nvSpPr>
        <p:spPr>
          <a:xfrm>
            <a:off x="8046720" y="4343400"/>
            <a:ext cx="91" cy="365760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6" name="Shape 143"/>
          <p:cNvSpPr/>
          <p:nvPr/>
        </p:nvSpPr>
        <p:spPr>
          <a:xfrm flipH="1">
            <a:off x="6446520" y="4709160"/>
            <a:ext cx="1600200" cy="91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47" name="Text 144"/>
          <p:cNvSpPr txBox="1"/>
          <p:nvPr/>
        </p:nvSpPr>
        <p:spPr>
          <a:xfrm>
            <a:off x="8412480" y="4617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98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 دانشجو</a:t>
            </a:r>
            <a:endParaRPr lang="en-US" sz="650" dirty="0"/>
          </a:p>
        </p:txBody>
      </p:sp>
      <p:sp>
        <p:nvSpPr>
          <p:cNvPr id="148" name="Shape 145"/>
          <p:cNvSpPr/>
          <p:nvPr/>
        </p:nvSpPr>
        <p:spPr>
          <a:xfrm>
            <a:off x="5120640" y="5029200"/>
            <a:ext cx="868680" cy="347472"/>
          </a:xfrm>
          <a:prstGeom prst="rect">
            <a:avLst/>
          </a:prstGeom>
          <a:solidFill>
            <a:srgbClr val="8C8C8C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9" name="Text 146"/>
          <p:cNvSpPr txBox="1"/>
          <p:nvPr/>
        </p:nvSpPr>
        <p:spPr>
          <a:xfrm>
            <a:off x="5120640" y="5029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آشپزخانه</a:t>
            </a:r>
            <a:endParaRPr lang="en-US" sz="650" dirty="0"/>
          </a:p>
        </p:txBody>
      </p:sp>
      <p:sp>
        <p:nvSpPr>
          <p:cNvPr id="150" name="Shape 147"/>
          <p:cNvSpPr/>
          <p:nvPr/>
        </p:nvSpPr>
        <p:spPr>
          <a:xfrm>
            <a:off x="5989320" y="5202936"/>
            <a:ext cx="13716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51" name="Shape 148"/>
          <p:cNvSpPr/>
          <p:nvPr/>
        </p:nvSpPr>
        <p:spPr>
          <a:xfrm>
            <a:off x="6126480" y="5029200"/>
            <a:ext cx="868680" cy="347472"/>
          </a:xfrm>
          <a:prstGeom prst="rect">
            <a:avLst/>
          </a:prstGeom>
          <a:solidFill>
            <a:srgbClr val="8C8C8C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2" name="Text 149"/>
          <p:cNvSpPr txBox="1"/>
          <p:nvPr/>
        </p:nvSpPr>
        <p:spPr>
          <a:xfrm>
            <a:off x="6126480" y="5029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650" dirty="0"/>
          </a:p>
        </p:txBody>
      </p:sp>
      <p:sp>
        <p:nvSpPr>
          <p:cNvPr id="153" name="Shape 150"/>
          <p:cNvSpPr/>
          <p:nvPr/>
        </p:nvSpPr>
        <p:spPr>
          <a:xfrm>
            <a:off x="6995160" y="5202936"/>
            <a:ext cx="13716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54" name="Shape 151"/>
          <p:cNvSpPr/>
          <p:nvPr/>
        </p:nvSpPr>
        <p:spPr>
          <a:xfrm>
            <a:off x="7132320" y="5029200"/>
            <a:ext cx="868680" cy="347472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5" name="Text 152"/>
          <p:cNvSpPr txBox="1"/>
          <p:nvPr/>
        </p:nvSpPr>
        <p:spPr>
          <a:xfrm>
            <a:off x="7132320" y="5029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غذا</a:t>
            </a:r>
            <a:endParaRPr lang="en-US" sz="650" dirty="0"/>
          </a:p>
        </p:txBody>
      </p:sp>
      <p:sp>
        <p:nvSpPr>
          <p:cNvPr id="156" name="Shape 153"/>
          <p:cNvSpPr/>
          <p:nvPr/>
        </p:nvSpPr>
        <p:spPr>
          <a:xfrm>
            <a:off x="8001000" y="5202936"/>
            <a:ext cx="13716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57" name="Shape 154"/>
          <p:cNvSpPr/>
          <p:nvPr/>
        </p:nvSpPr>
        <p:spPr>
          <a:xfrm>
            <a:off x="8138160" y="5029200"/>
            <a:ext cx="868680" cy="347472"/>
          </a:xfrm>
          <a:prstGeom prst="rect">
            <a:avLst/>
          </a:prstGeom>
          <a:solidFill>
            <a:srgbClr val="8C8C8C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8" name="Text 155"/>
          <p:cNvSpPr txBox="1"/>
          <p:nvPr/>
        </p:nvSpPr>
        <p:spPr>
          <a:xfrm>
            <a:off x="8138160" y="5029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برگشت / پسماند</a:t>
            </a:r>
            <a:endParaRPr lang="en-US" sz="650" dirty="0"/>
          </a:p>
        </p:txBody>
      </p:sp>
      <p:sp>
        <p:nvSpPr>
          <p:cNvPr id="159" name="Text 156"/>
          <p:cNvSpPr txBox="1"/>
          <p:nvPr/>
        </p:nvSpPr>
        <p:spPr>
          <a:xfrm>
            <a:off x="5120640" y="5440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پلان — پهنه‌بندی نمونه از نگارنده. مساحت به ازای هر صندلی: مقدار معتبری تأیید نشد ← از چیدمان میز + صندلی + راهرو استخراج شود (Neufert، «رستوران‌ها»).</a:t>
            </a:r>
            <a:endParaRPr lang="en-US" sz="750" dirty="0"/>
          </a:p>
        </p:txBody>
      </p:sp>
      <p:sp>
        <p:nvSpPr>
          <p:cNvPr id="160" name="Text 157"/>
          <p:cNvSpPr txBox="1"/>
          <p:nvPr/>
        </p:nvSpPr>
        <p:spPr>
          <a:xfrm>
            <a:off x="9418320" y="1280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دانشجویی / اجتماعی</a:t>
            </a:r>
            <a:endParaRPr lang="en-US" sz="800" dirty="0"/>
          </a:p>
        </p:txBody>
      </p:sp>
      <p:sp>
        <p:nvSpPr>
          <p:cNvPr id="161" name="Shape 158"/>
          <p:cNvSpPr/>
          <p:nvPr/>
        </p:nvSpPr>
        <p:spPr>
          <a:xfrm>
            <a:off x="9418320" y="1600200"/>
            <a:ext cx="2286000" cy="347472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2" name="Text 159"/>
          <p:cNvSpPr txBox="1"/>
          <p:nvPr/>
        </p:nvSpPr>
        <p:spPr>
          <a:xfrm>
            <a:off x="9418320" y="1600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استراحت</a:t>
            </a:r>
            <a:endParaRPr lang="en-US" sz="800" dirty="0"/>
          </a:p>
        </p:txBody>
      </p:sp>
      <p:sp>
        <p:nvSpPr>
          <p:cNvPr id="163" name="Text 160"/>
          <p:cNvSpPr txBox="1"/>
          <p:nvPr/>
        </p:nvSpPr>
        <p:spPr>
          <a:xfrm>
            <a:off x="9418320" y="1984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بین آموزش و ورزش — لولای اجتماعی دانشکده</a:t>
            </a:r>
            <a:endParaRPr lang="en-US" sz="750" dirty="0"/>
          </a:p>
        </p:txBody>
      </p:sp>
      <p:sp>
        <p:nvSpPr>
          <p:cNvPr id="164" name="Shape 161"/>
          <p:cNvSpPr/>
          <p:nvPr/>
        </p:nvSpPr>
        <p:spPr>
          <a:xfrm>
            <a:off x="9418320" y="2514600"/>
            <a:ext cx="2286000" cy="347472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5" name="Text 162"/>
          <p:cNvSpPr txBox="1"/>
          <p:nvPr/>
        </p:nvSpPr>
        <p:spPr>
          <a:xfrm>
            <a:off x="9418320" y="2514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مطالعه‌ی غیررسمی</a:t>
            </a:r>
            <a:endParaRPr lang="en-US" sz="800" dirty="0"/>
          </a:p>
        </p:txBody>
      </p:sp>
      <p:sp>
        <p:nvSpPr>
          <p:cNvPr id="166" name="Text 163"/>
          <p:cNvSpPr txBox="1"/>
          <p:nvPr/>
        </p:nvSpPr>
        <p:spPr>
          <a:xfrm>
            <a:off x="9418320" y="2898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لبه‌ی راهروها و آتریوم‌ها، پرنور، دیده‌شو</a:t>
            </a:r>
            <a:endParaRPr lang="en-US" sz="750" dirty="0"/>
          </a:p>
        </p:txBody>
      </p:sp>
      <p:sp>
        <p:nvSpPr>
          <p:cNvPr id="167" name="Shape 164"/>
          <p:cNvSpPr/>
          <p:nvPr/>
        </p:nvSpPr>
        <p:spPr>
          <a:xfrm>
            <a:off x="9418320" y="3429000"/>
            <a:ext cx="2286000" cy="347472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8" name="Text 165"/>
          <p:cNvSpPr txBox="1"/>
          <p:nvPr/>
        </p:nvSpPr>
        <p:spPr>
          <a:xfrm>
            <a:off x="9418320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فضای مشترک</a:t>
            </a:r>
            <a:endParaRPr lang="en-US" sz="800" dirty="0"/>
          </a:p>
        </p:txBody>
      </p:sp>
      <p:sp>
        <p:nvSpPr>
          <p:cNvPr id="169" name="Text 166"/>
          <p:cNvSpPr txBox="1"/>
          <p:nvPr/>
        </p:nvSpPr>
        <p:spPr>
          <a:xfrm>
            <a:off x="9418320" y="3813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سرسرای مشترک برای رویدادهای آمفی‌تئاتر + غذاخوری</a:t>
            </a:r>
            <a:endParaRPr lang="en-US" sz="750" dirty="0"/>
          </a:p>
        </p:txBody>
      </p:sp>
      <p:sp>
        <p:nvSpPr>
          <p:cNvPr id="170" name="Text 167"/>
          <p:cNvSpPr txBox="1"/>
          <p:nvPr/>
        </p:nvSpPr>
        <p:spPr>
          <a:xfrm>
            <a:off x="9418320" y="4434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چک‌لیست آمفی‌تئاتر</a:t>
            </a:r>
            <a:endParaRPr lang="en-US" sz="800" dirty="0"/>
          </a:p>
        </p:txBody>
      </p:sp>
      <p:sp>
        <p:nvSpPr>
          <p:cNvPr id="171" name="Text 168"/>
          <p:cNvSpPr txBox="1"/>
          <p:nvPr/>
        </p:nvSpPr>
        <p:spPr>
          <a:xfrm>
            <a:off x="9418320" y="4663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300"/>
              </a:spcAft>
              <a:buSzPct val="100000"/>
              <a:buChar char="•"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فضای ویلچر 1400 × 900 mm (SE 2010)</a:t>
            </a:r>
            <a:endParaRPr lang="en-US" sz="750" dirty="0"/>
          </a:p>
          <a:p>
            <a:pPr marL="342900" indent="-342900" rtl="1" algn="r">
              <a:spcAft>
                <a:spcPts val="300"/>
              </a:spcAft>
              <a:buSzPct val="100000"/>
              <a:buChar char="•"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خروجی‌ها در سمت صحنه + عقب، با ابعاد طبق مبحث ۳</a:t>
            </a:r>
            <a:endParaRPr lang="en-US" sz="750" dirty="0"/>
          </a:p>
          <a:p>
            <a:pPr marL="342900" indent="-342900" rtl="1" algn="r">
              <a:spcAft>
                <a:spcPts val="300"/>
              </a:spcAft>
              <a:buSzPct val="100000"/>
              <a:buChar char="•"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جداسازی آکوستیک از سالن ورزشی</a:t>
            </a:r>
            <a:endParaRPr lang="en-US" sz="750" dirty="0"/>
          </a:p>
        </p:txBody>
      </p:sp>
      <p:sp>
        <p:nvSpPr>
          <p:cNvPr id="172" name="Text 169"/>
          <p:cNvSpPr txBox="1"/>
          <p:nvPr/>
        </p:nvSpPr>
        <p:spPr>
          <a:xfrm>
            <a:off x="640080" y="62544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مهم است  طول ردیف قاعده‌ی فرار از حریق است نه انتخاب راحتی؛ غذاخوری حیاط خدماتی خودش را لازم دارد تا غذا و پسماند هرگز مسیر دانشجو را قطع نکنند.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۱۱ — فضاهای بهداشتی + دسترس‌پذیری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حداقل‌های ایران کنار مرجع بریتانیا — هر دو با اندازه‌گذاری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 دسترس‌پذیر — ایران (حداقل)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1787652" cy="1577340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" name="Shape 4"/>
          <p:cNvSpPr/>
          <p:nvPr/>
        </p:nvSpPr>
        <p:spPr>
          <a:xfrm>
            <a:off x="914400" y="1856232"/>
            <a:ext cx="1498473" cy="1498473"/>
          </a:xfrm>
          <a:prstGeom prst="ellipse">
            <a:avLst/>
          </a:prstGeom>
          <a:ln w="12700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7" name="Shape 5"/>
          <p:cNvSpPr/>
          <p:nvPr/>
        </p:nvSpPr>
        <p:spPr>
          <a:xfrm>
            <a:off x="2244852" y="1920240"/>
            <a:ext cx="3474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" name="Text 6"/>
          <p:cNvSpPr txBox="1"/>
          <p:nvPr/>
        </p:nvSpPr>
        <p:spPr>
          <a:xfrm>
            <a:off x="2244852" y="21031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610612" y="2606040"/>
            <a:ext cx="91" cy="365760"/>
          </a:xfrm>
          <a:prstGeom prst="line">
            <a:avLst/>
          </a:prstGeom>
          <a:noFill/>
          <a:ln w="31750">
            <a:solidFill>
              <a:srgbClr val="9B7FB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Text 8"/>
          <p:cNvSpPr txBox="1"/>
          <p:nvPr/>
        </p:nvSpPr>
        <p:spPr>
          <a:xfrm>
            <a:off x="1970532" y="27432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52" dirty="0">
                <a:solidFill>
                  <a:srgbClr val="9B7F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دستگیره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1097280" y="3369564"/>
            <a:ext cx="946404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</a:p>
        </p:txBody>
      </p:sp>
      <p:sp>
        <p:nvSpPr>
          <p:cNvPr id="12" name="Shape 10"/>
          <p:cNvSpPr/>
          <p:nvPr/>
        </p:nvSpPr>
        <p:spPr>
          <a:xfrm>
            <a:off x="150876" y="2459736"/>
            <a:ext cx="1892808" cy="1892808"/>
          </a:xfrm>
          <a:prstGeom prst="arc">
            <a:avLst>
              <a:gd name="adj1" fmla="val 0"/>
              <a:gd name="adj2" fmla="val 5400000"/>
            </a:avLst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Shape 11"/>
          <p:cNvSpPr/>
          <p:nvPr/>
        </p:nvSpPr>
        <p:spPr>
          <a:xfrm>
            <a:off x="2043684" y="3406140"/>
            <a:ext cx="91" cy="946404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Shape 12"/>
          <p:cNvSpPr/>
          <p:nvPr/>
        </p:nvSpPr>
        <p:spPr>
          <a:xfrm>
            <a:off x="868680" y="1645920"/>
            <a:ext cx="178765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Shape 13"/>
          <p:cNvSpPr/>
          <p:nvPr/>
        </p:nvSpPr>
        <p:spPr>
          <a:xfrm flipV="1">
            <a:off x="822960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Shape 14"/>
          <p:cNvSpPr/>
          <p:nvPr/>
        </p:nvSpPr>
        <p:spPr>
          <a:xfrm flipV="1">
            <a:off x="2610612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Shape 15"/>
          <p:cNvSpPr/>
          <p:nvPr/>
        </p:nvSpPr>
        <p:spPr>
          <a:xfrm>
            <a:off x="868680" y="15636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6"/>
          <p:cNvSpPr/>
          <p:nvPr/>
        </p:nvSpPr>
        <p:spPr>
          <a:xfrm>
            <a:off x="2656332" y="15636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Text 17"/>
          <p:cNvSpPr txBox="1"/>
          <p:nvPr/>
        </p:nvSpPr>
        <p:spPr>
          <a:xfrm>
            <a:off x="848106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73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170 cm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1828800"/>
            <a:ext cx="91" cy="1577340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Shape 19"/>
          <p:cNvSpPr/>
          <p:nvPr/>
        </p:nvSpPr>
        <p:spPr>
          <a:xfrm flipV="1">
            <a:off x="685800" y="1783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Shape 20"/>
          <p:cNvSpPr/>
          <p:nvPr/>
        </p:nvSpPr>
        <p:spPr>
          <a:xfrm flipV="1">
            <a:off x="685800" y="33604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Shape 21"/>
          <p:cNvSpPr/>
          <p:nvPr/>
        </p:nvSpPr>
        <p:spPr>
          <a:xfrm>
            <a:off x="649224" y="18288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Shape 22"/>
          <p:cNvSpPr/>
          <p:nvPr/>
        </p:nvSpPr>
        <p:spPr>
          <a:xfrm>
            <a:off x="649224" y="34061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Text 23"/>
          <p:cNvSpPr txBox="1"/>
          <p:nvPr/>
        </p:nvSpPr>
        <p:spPr>
          <a:xfrm>
            <a:off x="-786384" y="252603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sz="73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150 cm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97280" y="4457700"/>
            <a:ext cx="946404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Shape 25"/>
          <p:cNvSpPr/>
          <p:nvPr/>
        </p:nvSpPr>
        <p:spPr>
          <a:xfrm flipV="1">
            <a:off x="1051560" y="44119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8" name="Shape 26"/>
          <p:cNvSpPr/>
          <p:nvPr/>
        </p:nvSpPr>
        <p:spPr>
          <a:xfrm flipV="1">
            <a:off x="1997964" y="44119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Shape 27"/>
          <p:cNvSpPr/>
          <p:nvPr/>
        </p:nvSpPr>
        <p:spPr>
          <a:xfrm>
            <a:off x="1097280" y="43754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Shape 28"/>
          <p:cNvSpPr/>
          <p:nvPr/>
        </p:nvSpPr>
        <p:spPr>
          <a:xfrm>
            <a:off x="2043684" y="43754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Text 29"/>
          <p:cNvSpPr txBox="1"/>
          <p:nvPr/>
        </p:nvSpPr>
        <p:spPr>
          <a:xfrm>
            <a:off x="656082" y="44942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90 cm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2331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دایره‌ی چرخش Ø150</a:t>
            </a:r>
            <a:endParaRPr lang="en-US" sz="650" dirty="0"/>
          </a:p>
          <a:p>
            <a:pPr algn="ctr" indent="0" marL="0">
              <a:buNone/>
            </a:pPr>
            <a:r>
              <a:rPr lang="fa-IR" sz="598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/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68680" y="4754880"/>
            <a:ext cx="258226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4" name="Text 32"/>
          <p:cNvSpPr txBox="1"/>
          <p:nvPr/>
        </p:nvSpPr>
        <p:spPr>
          <a:xfrm>
            <a:off x="868680" y="4768596"/>
            <a:ext cx="25822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الزامی (ایران) · ویرایش کنترل شود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0017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شورای عالی شهرسازی و معماری ایران — «ضوابط و مقررات شهرسازی و معماری برای افراد دارای معلولیت جسمی-حرکتی».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 دسترس‌پذیر — مرجع بریتانیا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43400" y="1828800"/>
            <a:ext cx="1303020" cy="191109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8" name="Shape 36"/>
          <p:cNvSpPr/>
          <p:nvPr/>
        </p:nvSpPr>
        <p:spPr>
          <a:xfrm>
            <a:off x="4343400" y="2331720"/>
            <a:ext cx="1303020" cy="1303020"/>
          </a:xfrm>
          <a:prstGeom prst="ellipse">
            <a:avLst/>
          </a:prstGeom>
          <a:ln w="12700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39" name="Shape 37"/>
          <p:cNvSpPr/>
          <p:nvPr/>
        </p:nvSpPr>
        <p:spPr>
          <a:xfrm>
            <a:off x="4416552" y="1901952"/>
            <a:ext cx="3474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Text 38"/>
          <p:cNvSpPr txBox="1"/>
          <p:nvPr/>
        </p:nvSpPr>
        <p:spPr>
          <a:xfrm>
            <a:off x="4416552" y="20848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353812" y="1938528"/>
            <a:ext cx="2286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Text 40"/>
          <p:cNvSpPr txBox="1"/>
          <p:nvPr/>
        </p:nvSpPr>
        <p:spPr>
          <a:xfrm>
            <a:off x="4960620" y="2011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55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روشویی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343400" y="1645920"/>
            <a:ext cx="1303020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4" name="Shape 42"/>
          <p:cNvSpPr/>
          <p:nvPr/>
        </p:nvSpPr>
        <p:spPr>
          <a:xfrm flipV="1">
            <a:off x="4297680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5" name="Shape 43"/>
          <p:cNvSpPr/>
          <p:nvPr/>
        </p:nvSpPr>
        <p:spPr>
          <a:xfrm flipV="1">
            <a:off x="5600700" y="160020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6" name="Shape 44"/>
          <p:cNvSpPr/>
          <p:nvPr/>
        </p:nvSpPr>
        <p:spPr>
          <a:xfrm>
            <a:off x="4343400" y="15636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7" name="Shape 45"/>
          <p:cNvSpPr/>
          <p:nvPr/>
        </p:nvSpPr>
        <p:spPr>
          <a:xfrm>
            <a:off x="5646420" y="156362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8" name="Text 46"/>
          <p:cNvSpPr txBox="1"/>
          <p:nvPr/>
        </p:nvSpPr>
        <p:spPr>
          <a:xfrm>
            <a:off x="408051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73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1500 mm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783580" y="1828800"/>
            <a:ext cx="91" cy="1911096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0" name="Shape 48"/>
          <p:cNvSpPr/>
          <p:nvPr/>
        </p:nvSpPr>
        <p:spPr>
          <a:xfrm flipV="1">
            <a:off x="5737860" y="17830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1" name="Shape 49"/>
          <p:cNvSpPr/>
          <p:nvPr/>
        </p:nvSpPr>
        <p:spPr>
          <a:xfrm flipV="1">
            <a:off x="5737860" y="3694176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2" name="Shape 50"/>
          <p:cNvSpPr/>
          <p:nvPr/>
        </p:nvSpPr>
        <p:spPr>
          <a:xfrm>
            <a:off x="5701284" y="182880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3" name="Shape 51"/>
          <p:cNvSpPr/>
          <p:nvPr/>
        </p:nvSpPr>
        <p:spPr>
          <a:xfrm>
            <a:off x="5701284" y="3739896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4" name="Text 52"/>
          <p:cNvSpPr txBox="1"/>
          <p:nvPr/>
        </p:nvSpPr>
        <p:spPr>
          <a:xfrm>
            <a:off x="5838444" y="26929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sz="73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2200 mm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0" y="2880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دایره‌ی چرخش 1500</a:t>
            </a:r>
            <a:endParaRPr lang="en-US" sz="650" dirty="0"/>
          </a:p>
          <a:p>
            <a:pPr algn="ctr" indent="0" marL="0">
              <a:buNone/>
            </a:pPr>
            <a:r>
              <a:rPr lang="fa-IR" sz="598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/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4343400" y="4754880"/>
            <a:ext cx="1227125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Text 55"/>
          <p:cNvSpPr txBox="1"/>
          <p:nvPr/>
        </p:nvSpPr>
        <p:spPr>
          <a:xfrm>
            <a:off x="4343400" y="4768596"/>
            <a:ext cx="1227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الزامی (بریتانیا)</a:t>
            </a:r>
            <a:endParaRPr lang="en-US" sz="650" dirty="0"/>
          </a:p>
        </p:txBody>
      </p:sp>
      <p:sp>
        <p:nvSpPr>
          <p:cNvPr id="58" name="Text 56"/>
          <p:cNvSpPr txBox="1"/>
          <p:nvPr/>
        </p:nvSpPr>
        <p:spPr>
          <a:xfrm>
            <a:off x="4343400" y="5001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HM Government، Approved Document M، جلد 2 (2015) — دیاگرام 18، سرویس بهداشتی دسترس‌پذیر مشترک.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7452360" y="12801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سرویس معمولی · روشویی · دوش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452360" y="1600200"/>
            <a:ext cx="685800" cy="10972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1" name="Shape 59"/>
          <p:cNvSpPr/>
          <p:nvPr/>
        </p:nvSpPr>
        <p:spPr>
          <a:xfrm>
            <a:off x="7635240" y="1673352"/>
            <a:ext cx="320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2" name="Shape 60"/>
          <p:cNvSpPr/>
          <p:nvPr/>
        </p:nvSpPr>
        <p:spPr>
          <a:xfrm>
            <a:off x="7040880" y="2194560"/>
            <a:ext cx="1005840" cy="1005840"/>
          </a:xfrm>
          <a:prstGeom prst="arc">
            <a:avLst>
              <a:gd name="adj1" fmla="val 16200000"/>
              <a:gd name="adj2" fmla="val 21600000"/>
            </a:avLst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3" name="Shape 61"/>
          <p:cNvSpPr/>
          <p:nvPr/>
        </p:nvSpPr>
        <p:spPr>
          <a:xfrm>
            <a:off x="8138160" y="1600200"/>
            <a:ext cx="685800" cy="10972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4" name="Shape 62"/>
          <p:cNvSpPr/>
          <p:nvPr/>
        </p:nvSpPr>
        <p:spPr>
          <a:xfrm>
            <a:off x="8321040" y="1673352"/>
            <a:ext cx="320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5" name="Shape 63"/>
          <p:cNvSpPr/>
          <p:nvPr/>
        </p:nvSpPr>
        <p:spPr>
          <a:xfrm>
            <a:off x="7726680" y="2194560"/>
            <a:ext cx="1005840" cy="1005840"/>
          </a:xfrm>
          <a:prstGeom prst="arc">
            <a:avLst>
              <a:gd name="adj1" fmla="val 16200000"/>
              <a:gd name="adj2" fmla="val 21600000"/>
            </a:avLst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6" name="Shape 64"/>
          <p:cNvSpPr/>
          <p:nvPr/>
        </p:nvSpPr>
        <p:spPr>
          <a:xfrm>
            <a:off x="8823960" y="1600200"/>
            <a:ext cx="685800" cy="10972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7" name="Shape 65"/>
          <p:cNvSpPr/>
          <p:nvPr/>
        </p:nvSpPr>
        <p:spPr>
          <a:xfrm>
            <a:off x="9006840" y="1673352"/>
            <a:ext cx="320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8" name="Shape 66"/>
          <p:cNvSpPr/>
          <p:nvPr/>
        </p:nvSpPr>
        <p:spPr>
          <a:xfrm>
            <a:off x="8412480" y="2194560"/>
            <a:ext cx="1005840" cy="1005840"/>
          </a:xfrm>
          <a:prstGeom prst="arc">
            <a:avLst>
              <a:gd name="adj1" fmla="val 16200000"/>
              <a:gd name="adj2" fmla="val 21600000"/>
            </a:avLst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9" name="Shape 67"/>
          <p:cNvSpPr/>
          <p:nvPr/>
        </p:nvSpPr>
        <p:spPr>
          <a:xfrm>
            <a:off x="7589520" y="3200400"/>
            <a:ext cx="320040" cy="228600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0" name="Shape 68"/>
          <p:cNvSpPr/>
          <p:nvPr/>
        </p:nvSpPr>
        <p:spPr>
          <a:xfrm>
            <a:off x="8138160" y="3200400"/>
            <a:ext cx="320040" cy="228600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1" name="Shape 69"/>
          <p:cNvSpPr/>
          <p:nvPr/>
        </p:nvSpPr>
        <p:spPr>
          <a:xfrm>
            <a:off x="8686800" y="3200400"/>
            <a:ext cx="320040" cy="228600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2" name="Text 70"/>
          <p:cNvSpPr txBox="1"/>
          <p:nvPr/>
        </p:nvSpPr>
        <p:spPr>
          <a:xfrm>
            <a:off x="745236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روشویی‌ها — ناحیه‌ی گردش جلوی آن‌ها خارج از شعاع بازشوی در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7452360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بدون اندازه: ابعاد کابین و روشویی از منبع معتبری برای این مطالعه تأیید نشد (رجوع به Neufert، «تأسیسات بهداشتی»).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7452360" y="4160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پله · رمپ · راهرو (ایران)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 flipV="1">
            <a:off x="7498080" y="5413248"/>
            <a:ext cx="91" cy="164592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6" name="Shape 74"/>
          <p:cNvSpPr/>
          <p:nvPr/>
        </p:nvSpPr>
        <p:spPr>
          <a:xfrm>
            <a:off x="7498080" y="5413248"/>
            <a:ext cx="256032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7" name="Shape 75"/>
          <p:cNvSpPr/>
          <p:nvPr/>
        </p:nvSpPr>
        <p:spPr>
          <a:xfrm flipV="1">
            <a:off x="7754112" y="5248656"/>
            <a:ext cx="91" cy="164592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8" name="Shape 76"/>
          <p:cNvSpPr/>
          <p:nvPr/>
        </p:nvSpPr>
        <p:spPr>
          <a:xfrm>
            <a:off x="7754112" y="5248656"/>
            <a:ext cx="256032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9" name="Shape 77"/>
          <p:cNvSpPr/>
          <p:nvPr/>
        </p:nvSpPr>
        <p:spPr>
          <a:xfrm flipV="1">
            <a:off x="8010144" y="5084064"/>
            <a:ext cx="91" cy="164592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0" name="Shape 78"/>
          <p:cNvSpPr/>
          <p:nvPr/>
        </p:nvSpPr>
        <p:spPr>
          <a:xfrm>
            <a:off x="8010144" y="5084064"/>
            <a:ext cx="256032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1" name="Shape 79"/>
          <p:cNvSpPr/>
          <p:nvPr/>
        </p:nvSpPr>
        <p:spPr>
          <a:xfrm flipV="1">
            <a:off x="8266176" y="4919472"/>
            <a:ext cx="91" cy="164592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2" name="Shape 80"/>
          <p:cNvSpPr/>
          <p:nvPr/>
        </p:nvSpPr>
        <p:spPr>
          <a:xfrm>
            <a:off x="8266176" y="4919472"/>
            <a:ext cx="256032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3" name="Shape 81"/>
          <p:cNvSpPr/>
          <p:nvPr/>
        </p:nvSpPr>
        <p:spPr>
          <a:xfrm>
            <a:off x="7406640" y="5413248"/>
            <a:ext cx="91" cy="164592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4" name="Shape 82"/>
          <p:cNvSpPr/>
          <p:nvPr/>
        </p:nvSpPr>
        <p:spPr>
          <a:xfrm flipV="1">
            <a:off x="7360920" y="5367528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5" name="Shape 83"/>
          <p:cNvSpPr/>
          <p:nvPr/>
        </p:nvSpPr>
        <p:spPr>
          <a:xfrm flipV="1">
            <a:off x="7360920" y="553212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6" name="Shape 84"/>
          <p:cNvSpPr/>
          <p:nvPr/>
        </p:nvSpPr>
        <p:spPr>
          <a:xfrm>
            <a:off x="7324344" y="5413248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7" name="Shape 85"/>
          <p:cNvSpPr/>
          <p:nvPr/>
        </p:nvSpPr>
        <p:spPr>
          <a:xfrm>
            <a:off x="7324344" y="557784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8" name="Text 86"/>
          <p:cNvSpPr txBox="1"/>
          <p:nvPr/>
        </p:nvSpPr>
        <p:spPr>
          <a:xfrm>
            <a:off x="5888736" y="54041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10–18 cm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754112" y="5010912"/>
            <a:ext cx="256032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0" name="Shape 88"/>
          <p:cNvSpPr/>
          <p:nvPr/>
        </p:nvSpPr>
        <p:spPr>
          <a:xfrm flipV="1">
            <a:off x="7708392" y="496519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1" name="Shape 89"/>
          <p:cNvSpPr/>
          <p:nvPr/>
        </p:nvSpPr>
        <p:spPr>
          <a:xfrm flipV="1">
            <a:off x="7964424" y="4965192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2" name="Shape 90"/>
          <p:cNvSpPr/>
          <p:nvPr/>
        </p:nvSpPr>
        <p:spPr>
          <a:xfrm>
            <a:off x="7754112" y="4928616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3" name="Shape 91"/>
          <p:cNvSpPr/>
          <p:nvPr/>
        </p:nvSpPr>
        <p:spPr>
          <a:xfrm>
            <a:off x="8010144" y="4928616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4" name="Text 92"/>
          <p:cNvSpPr txBox="1"/>
          <p:nvPr/>
        </p:nvSpPr>
        <p:spPr>
          <a:xfrm>
            <a:off x="6967728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≥ 28 cm</a:t>
            </a:r>
            <a:endParaRPr lang="en-US" sz="700" dirty="0"/>
          </a:p>
        </p:txBody>
      </p:sp>
      <p:sp>
        <p:nvSpPr>
          <p:cNvPr id="95" name="Text 93"/>
          <p:cNvSpPr txBox="1"/>
          <p:nvPr/>
        </p:nvSpPr>
        <p:spPr>
          <a:xfrm>
            <a:off x="8641080" y="5074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2R + T = 63–64 cm · ارتفاع آزاد ≥ 205 cm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 flipV="1">
            <a:off x="8641080" y="5349240"/>
            <a:ext cx="2148840" cy="2286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7" name="Shape 95"/>
          <p:cNvSpPr/>
          <p:nvPr/>
        </p:nvSpPr>
        <p:spPr>
          <a:xfrm>
            <a:off x="8641080" y="5577840"/>
            <a:ext cx="2148840" cy="91"/>
          </a:xfrm>
          <a:prstGeom prst="line">
            <a:avLst/>
          </a:prstGeom>
          <a:noFill/>
          <a:ln w="6350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8" name="Text 96"/>
          <p:cNvSpPr txBox="1"/>
          <p:nvPr/>
        </p:nvSpPr>
        <p:spPr>
          <a:xfrm>
            <a:off x="8641080" y="5623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رمپ ≤ 8 % · طول ≤ 3 m · ارتفاع ≤ 25 cm · عرض ≥ 120 cm</a:t>
            </a:r>
            <a:endParaRPr lang="en-US" sz="700" dirty="0"/>
          </a:p>
        </p:txBody>
      </p:sp>
      <p:sp>
        <p:nvSpPr>
          <p:cNvPr id="99" name="Text 97"/>
          <p:cNvSpPr txBox="1"/>
          <p:nvPr/>
        </p:nvSpPr>
        <p:spPr>
          <a:xfrm>
            <a:off x="7452360" y="57790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راهرو: ≥ 1.80 m آموزشی · ≥ 1.40 m مسیر دسترس اصلی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8686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پله و راهرو — مقررات ملی ساختمان ایران، مبحث ۴ «الزامات عمومی ساختمان»، ویرایش ۱۳۹۶. رمپ — ضوابط معلولین ایران (بالا). مقادیر فقط از طریق خلاصه‌های منتشرشده کنترل شدند ← در متن رسمی تأیید شود.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۱۲ — مقایسه‌ی استانداردها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جایی که مقادیر ایرانی و بین‌المللی متفاوت‌اند — و چرا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109960" cy="914400"/>
        </p:xfrm>
        <a:graphic>
          <a:graphicData uri="http://schemas.openxmlformats.org/drawingml/2006/table">
            <a:tbl>
              <a:tblPr rtl="1"/>
              <a:tblGrid>
                <a:gridCol w="1737360"/>
                <a:gridCol w="2286000"/>
                <a:gridCol w="2377440"/>
                <a:gridCol w="132588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الزام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منبع ایرانی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منبع بین‌المللی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نوع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چرا متفاوت‌اند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سرویس دسترس‌پذیر (حداقل اتاق)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170 × 150 cm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ضوابط معلولین ایران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150 × 220 cm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UK ADM جلد 2، دیاگرام 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الزامی (هر دو)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اتاق بریتانیا روشویی + فضای انتقال جانبی + دایره‌ی کامل چرخش 1500 دارد؛ حداقل ایران اتاقی فشرده فقط با توالت است.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عرض مفید پله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حداقل 110 cm (خلاصه‌ی مبحث ۴)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حداقل 115 cm (خلاصه‌ی دیگر)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— (مقایسه نشده)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الزامی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دو خلاصه‌ی ثانویه هم‌خوان نیستند ← متن رسمی ۱۳۹۶ باید کنترل شود؛ عرض به بار تصرف هم بستگی دارد (مبحث ۳).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راهرو، آموزشی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≥ 180 cm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مبحث ۴ مقررات ملی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— (BB103 مساحت تعیین می‌کند نه عرض)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الزامی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ایران برای راهروی مدرسه/دانشگاه عرض تعیین می‌کند؛ راهنمای بریتانیا از طریق بودجه‌ی مساحت و طراحی حریق عمل می‌کند.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ارتفاع آزاد بسکتبال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 نشده (ضوابط وزارت ورزش و جوانان در دسترس نبود)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≥ 7 m FIBA · 7.5 m سالن Sport England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مسابقه‌ای / توصیه‌ای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FIBA = قانون بازی؛ Sport England برای بدمینتون و چندمنظوره حاشیه افزوده است.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ارتفاع آزاد والیبال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 نشده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7 m (همه) · 12.5 m رسمی FIVB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مسابقه‌ای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سطح بازی: رویدادهای جهانی/رسمی فضای توپ‌های بلند می‌خواهند.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عرض صندلی تماشاگر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 نشده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460 mm موجود · 500 mm جدید (Green Guide)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توصیه‌ای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راهنمای بریتانیا راحتی/ایمنی را برای ساخت جدید افزایش داده است.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مساحت کلاس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برای دانشگاه تأیید نشده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55 m² / 30 (BB103) · 2.5–2.75 m² برای هر نفر (دانشگاه York)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توصیه‌ای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874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معیارهای مدرسه در برابر دانشگاه؛ مبلمان و روش آموزش متفاوت است.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655064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" name="Text 3"/>
          <p:cNvSpPr txBox="1"/>
          <p:nvPr/>
        </p:nvSpPr>
        <p:spPr>
          <a:xfrm>
            <a:off x="548640" y="5500116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مقررات الزامی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2340864" y="5486400"/>
            <a:ext cx="1726387" cy="182880"/>
          </a:xfrm>
          <a:prstGeom prst="rect">
            <a:avLst/>
          </a:prstGeom>
          <a:solidFill>
            <a:srgbClr val="6B6B6B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" name="Text 5"/>
          <p:cNvSpPr txBox="1"/>
          <p:nvPr/>
        </p:nvSpPr>
        <p:spPr>
          <a:xfrm>
            <a:off x="2340864" y="5500116"/>
            <a:ext cx="1726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راهنمای توصیه‌ای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4204411" y="5486400"/>
            <a:ext cx="2653589" cy="182880"/>
          </a:xfrm>
          <a:prstGeom prst="rect">
            <a:avLst/>
          </a:prstGeom>
          <a:solidFill>
            <a:srgbClr val="D9472B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Text 7"/>
          <p:cNvSpPr txBox="1"/>
          <p:nvPr/>
        </p:nvSpPr>
        <p:spPr>
          <a:xfrm>
            <a:off x="4204411" y="5500116"/>
            <a:ext cx="26535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استاندارد مسابقات بین‌المللی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6995160" y="5486400"/>
            <a:ext cx="179771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Text 9"/>
          <p:cNvSpPr txBox="1"/>
          <p:nvPr/>
        </p:nvSpPr>
        <p:spPr>
          <a:xfrm>
            <a:off x="6995160" y="5500116"/>
            <a:ext cx="17977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مقدار متداول برنامه‌ریزی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8930030" y="5486400"/>
            <a:ext cx="1013155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Text 11"/>
          <p:cNvSpPr txBox="1"/>
          <p:nvPr/>
        </p:nvSpPr>
        <p:spPr>
          <a:xfrm>
            <a:off x="8930030" y="5500116"/>
            <a:ext cx="10131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</a:t>
            </a:r>
            <a:endParaRPr lang="en-US" sz="6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607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متن قرمز = مقدار تأیید نشد یا منابع متناقض‌اند — به‌عنوان استاندارد ارائه نمی‌شود.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منابع کامل در اسلاید بعد. مقادیر ایرانی از طریق خلاصه‌های منتشرشده‌ی مبحث ۴ و ضوابط شورای عالی کنترل شدند؛ متن رسمی چاپی مرجع نهایی است.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۱۳ — منابع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منابع ذکرشده در اسلایدها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منابع ایرانی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مقررات ملی ساختمان ایران، مبحث ۳ — حفاظت ساختمان‌ها در مقابل حریق؛ وزارت راه و شهرسازی، آخرین ویرایش.</a:t>
            </a:r>
            <a:endParaRPr lang="en-US" sz="800" dirty="0"/>
          </a:p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مبحث ۳ — حفاظت ساختمان‌ها در مقابل حریق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214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مقررات ملی ساختمان ایران، مبحث ۴ — الزامات عمومی ساختمان، ویرایش ۱۳۹۶.</a:t>
            </a:r>
            <a:endParaRPr lang="en-US" sz="800" dirty="0"/>
          </a:p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مبحث ۴ — الزامات عمومی ساختمان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883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مقررات ملی ساختمان، مباحث ۱۵ (آسانسور)، ۱۹ (صرفه‌جویی انرژی)، ۲۲ (مراقبت و نگهداری) — برای دامنه مرور شد؛ مقداری نقل نشده.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52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شورای عالی شهرسازی و معماری ایران — ضوابط و مقررات شهرسازی و معماری برای افراد دارای معلولیت جسمی-حرکتی.</a:t>
            </a:r>
            <a:endParaRPr lang="en-US" sz="800" dirty="0"/>
          </a:p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ضوابط و مقررات شهرسازی و معماری برای افراد دارای معلولیت جسمی-حرکتی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221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وزارت ورزش و جوانان — ضوابط اماکن ورزشی: در این مطالعه برای کنترل در دسترس نبود؛ در اسلاید ۱۲ مشخص شده.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منابع بین‌المللی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55448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FIBA، قوانین رسمی بسکتبال 2024 و تجهیزات بسکتبال.</a:t>
            </a:r>
            <a:endParaRPr lang="en-US" sz="800" dirty="0"/>
          </a:p>
          <a:p>
            <a:pPr indent="0" marL="0" algn="r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https://assets.fiba.basketball/image/upload/documents-corporate-fiba-official-rules-2024-v10a.pdf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956816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FIVB، قوانین رسمی والیبال 2025–2028.</a:t>
            </a:r>
            <a:endParaRPr lang="en-US" sz="800" dirty="0"/>
          </a:p>
          <a:p>
            <a:pPr indent="0" marL="0" algn="r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https://www.fivb.com/wp-content/uploads/2025/01/FIVB-Volleyball_Rules2025_2028-EN-v05.pdf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359152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Sport England، Sports Halls: Design &amp; Layouts (2012).</a:t>
            </a:r>
            <a:endParaRPr lang="en-US" sz="800" dirty="0"/>
          </a:p>
          <a:p>
            <a:pPr indent="0" marL="0" algn="r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https://sportengland-production-files.s3.eu-west-2.amazonaws.com/s3fs-public/sports-halls-design-and-layouts-2012.pdf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76148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Sport England، Accessible Sports Facilities (2010).</a:t>
            </a:r>
            <a:endParaRPr lang="en-US" sz="800" dirty="0"/>
          </a:p>
          <a:p>
            <a:pPr indent="0" marL="0" algn="r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https://sportengland-production-files.s3.eu-west-2.amazonaws.com/s3fs-public/accessible-sports-facilities-2010.pdf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16382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Sport England، AISF Part D — رختکن و سرویس بهداشتی (2024).</a:t>
            </a:r>
            <a:endParaRPr lang="en-US" sz="800" dirty="0"/>
          </a:p>
          <a:p>
            <a:pPr indent="0" marL="0" algn="r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https://sportengland-production-files.s3.eu-west-2.amazonaws.com/s3fs-public/2024-08/AISF-Part-D-Changing-and-toilet-provision.pdf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56616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SGSA، Guide to Safety at Sports Grounds، ویرایش ششم (2018) و SG01 (2022).</a:t>
            </a:r>
            <a:endParaRPr lang="en-US" sz="800" dirty="0"/>
          </a:p>
          <a:p>
            <a:pPr indent="0" marL="0" algn="r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https://sgsa.org.uk/document/greenguide/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968496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BSI, BS 9999 — Fire safety in the design, management &amp; use of buildings (seating).</a:t>
            </a:r>
            <a:endParaRPr lang="en-US" sz="800" dirty="0"/>
          </a:p>
          <a:p>
            <a:pPr indent="0" marL="0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https://knowledge.bsigroup.com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4370832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HM Government، Approved Document M جلد 2 (ویرایش 2015).</a:t>
            </a:r>
            <a:endParaRPr lang="en-US" sz="800" dirty="0"/>
          </a:p>
          <a:p>
            <a:pPr indent="0" marL="0" algn="r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https://www.gov.uk/government/publications/access-to-and-use-of-buildings-approved-document-m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77316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DfE، Building Bulletin 103 — راهنمای مساحت مدارس (2014).</a:t>
            </a:r>
            <a:endParaRPr lang="en-US" sz="800" dirty="0"/>
          </a:p>
          <a:p>
            <a:pPr indent="0" marL="0" algn="r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https://dera.ioe.ac.uk/id/eprint/20283/1/BB103_Area_Guidelines_for_Mainstream_Schools_FINAL_23_4_14.pdf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5175504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University of York، Space Guidelines &amp; Standards (اوت 2025).</a:t>
            </a:r>
            <a:endParaRPr lang="en-US" sz="800" dirty="0"/>
          </a:p>
          <a:p>
            <a:pPr indent="0" marL="0" algn="r">
              <a:buNone/>
            </a:pPr>
            <a:r>
              <a:rPr lang="fa-IR" sz="598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https://www.york.ac.uk/media/campusdevelopment/63697_UniofYork%20Space%20Guidelines%20and%20Standards%20v2.pdf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557784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Neufert، Architects' Data · Metric Handbook · Architectural Graphic Standards — مراجع عمومی برنامه‌ریزی؛ مقادیر تأییدنشده نقل نشده‌اند.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6035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قوانین World Aquatics به کار نرفته — در این مطالعه استاندارد استخر ارائه نشده است.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itectural Board">
  <a:themeElements>
    <a:clrScheme name="Architectural Board">
      <a:dk1>
        <a:srgbClr val="1A1A1A"/>
      </a:dk1>
      <a:lt1>
        <a:srgbClr val="FFFFFF"/>
      </a:lt1>
      <a:dk2>
        <a:srgbClr val="3A3A3A"/>
      </a:dk2>
      <a:lt2>
        <a:srgbClr val="F3F3F3"/>
      </a:lt2>
      <a:accent1>
        <a:srgbClr val="D9472B"/>
      </a:accent1>
      <a:accent2>
        <a:srgbClr val="6FA8DC"/>
      </a:accent2>
      <a:accent3>
        <a:srgbClr val="5BAA6A"/>
      </a:accent3>
      <a:accent4>
        <a:srgbClr val="F2B134"/>
      </a:accent4>
      <a:accent5>
        <a:srgbClr val="9B7FBF"/>
      </a:accent5>
      <a:accent6>
        <a:srgbClr val="8C8C8C"/>
      </a:accent6>
      <a:hlink>
        <a:srgbClr val="2F6FB5"/>
      </a:hlink>
      <a:folHlink>
        <a:srgbClr val="6B6B6B"/>
      </a:folHlink>
    </a:clrScheme>
    <a:fontScheme name="Architectural Boa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Standards of Sports Facilities &amp; Physical Education Faculty</dc:title>
  <dc:subject>PptxGenJS Presentation</dc:subject>
  <dc:creator>Architecture Studio — Design 4</dc:creator>
  <cp:lastModifiedBy>Architecture Studio — Design 4</cp:lastModifiedBy>
  <cp:revision>1</cp:revision>
  <dcterms:created xsi:type="dcterms:W3CDTF">2026-10-02T13:13:59Z</dcterms:created>
  <dcterms:modified xsi:type="dcterms:W3CDTF">2026-10-02T13:13:59Z</dcterms:modified>
</cp:coreProperties>
</file>