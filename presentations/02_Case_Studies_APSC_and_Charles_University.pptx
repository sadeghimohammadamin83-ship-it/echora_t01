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699fc96-a7f8-a5e0-bcec-515814c53027}">
          <p14:sldIdLst>
            <p14:sldId id="256"/>
            <p14:sldId id="257"/>
          </p14:sldIdLst>
        </p14:section>
        <p14:section name="Case 01 — Anna Pao Sohmen Centre" id="{eed60875-c349-3bdd-b840-9bdb3bf637b0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ase 02 — Charles University FTVS" id="{b65cb163-4506-7578-f542-1720d8385346}">
          <p14:sldIdLst>
            <p14:sldId id="273"/>
            <p14:sldId id="274"/>
            <p14:sldId id="275"/>
          </p14:sldIdLst>
        </p14:section>
        <p14:section name="Comparison + lessons" id="{d3cc3530-0de1-974e-de6a-82f2fbb4c28f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9A9A9A"/>
                </a:solidFill>
              </a:rPr>
              <a:t>DESIGN 4 · PRECEDENT ANALYSIS · FACULTY OF PHYSICAL EDUCATION</a:t>
            </a:r>
            <a:endParaRPr lang="en-US" sz="7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b="1" spc="200" kern="0" dirty="0">
                <a:solidFill>
                  <a:srgbClr val="D9472B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1A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rchdaily.com/1041795/anna-pao-sohmen-centre-at-yk-pao-school-scenic-architecture-office" TargetMode="External"/><Relationship Id="rId2" Type="http://schemas.openxmlformats.org/officeDocument/2006/relationships/hyperlink" Target="https://www.gooood.cn/anna-pao-sohmen-centre-at-shanghai-yk-pao-school-by-scenic-architecture-office.htm" TargetMode="External"/><Relationship Id="rId3" Type="http://schemas.openxmlformats.org/officeDocument/2006/relationships/hyperlink" Target="https://www.ftvs.cuni.cz/en/faculty/contacts" TargetMode="External"/><Relationship Id="rId4" Type="http://schemas.openxmlformats.org/officeDocument/2006/relationships/hyperlink" Target="https://iscus.cz/kraje/praha/pasport/19361" TargetMode="External"/><Relationship Id="rId5" Type="http://schemas.openxmlformats.org/officeDocument/2006/relationships/hyperlink" Target="https://iscus.cz/kraje/praha/pasport/19360" TargetMode="External"/><Relationship Id="rId6" Type="http://schemas.openxmlformats.org/officeDocument/2006/relationships/hyperlink" Target="https://cs.wikipedia.org/wiki/Fakulta_t%C4%9Blesn%C3%A9_v%C3%BDchovy_a_sportu_Univerzity_Karlovy" TargetMode="External"/><Relationship Id="rId7" Type="http://schemas.openxmlformats.org/officeDocument/2006/relationships/hyperlink" Target="https://www.slavnevily.cz/stavby-/-unesco/stavby-prahy-6/skola-ve-veleslavine" TargetMode="External"/><Relationship Id="rId8" Type="http://schemas.openxmlformats.org/officeDocument/2006/relationships/hyperlink" Target="https://zakazky.cuni.cz/contract_display_7294.html" TargetMode="External"/><Relationship Id="rId9" Type="http://schemas.openxmlformats.org/officeDocument/2006/relationships/hyperlink" Target="https://assets.fiba.basketball/image/upload/documents-corporate-fiba-official-rules-2024-v10a.pdf" TargetMode="External"/><Relationship Id="rId10" Type="http://schemas.openxmlformats.org/officeDocument/2006/relationships/hyperlink" Target="https://www.fivb.com/wp-content/uploads/2025/01/FIVB-Volleyball_Rules2025_2028-EN-v05.pdf" TargetMode="Externa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chora_t01/presentations/src/img/ph_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6339535" cy="4224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STUDIO · DESIGN 4 · PRECEDENT ANALYSIS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SPORT,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AND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ORGANISED?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analysis of two precedents for a Faculty of Physical Education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01 — PRIMARY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Pao Sohmen Centre, YK Pao School, Shanghai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Scenic Architecture Office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of Physical Education and Sport, Charles University, Prague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4261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Anna Pao Sohmen Centre — uploaded set (p. 28)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why are these spaces organised this way, and what can a faculty design learn from it?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00 — CASE STUDIES + METHOD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Plans first: every reading is tagged VERIFIED or INTERPRETATION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drawings &amp; photos (Case 01) are the primary source; publications fill gaps.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14600" y="1554480"/>
            <a:ext cx="22860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16352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PLANS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816352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levels, rooms (translated from drawing legends), entrances, cores.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82312" y="1554480"/>
            <a:ext cx="22860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084064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4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84064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Colour-coded zoning + circulation drawn over the original plans.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050024" y="1554480"/>
            <a:ext cx="22860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351776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51776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Adjacency, public → private gradient, section stacking.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317736" y="1554480"/>
            <a:ext cx="228600" cy="91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619488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619488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2066544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 → lessons for a PE Faculty.</a:t>
            </a:r>
            <a:endParaRPr lang="en-US" sz="850" dirty="0"/>
          </a:p>
        </p:txBody>
      </p:sp>
      <p:pic>
        <p:nvPicPr>
          <p:cNvPr id="23" name="Image 0" descr="/home/user/echora_t01/presentations/src/img/ph_0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017520"/>
            <a:ext cx="3657600" cy="18288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548640" y="4937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01 · PRIMARY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Pao Sohmen Centre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413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Shanghai, China · Scenic Architecture Office · 2025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632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drawing set available: 6 plans, 3 sections, 2 axonometrics, site plan.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480560" y="3017520"/>
            <a:ext cx="3657600" cy="18288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48056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gap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plans published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937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02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FTVS, Charles University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480560" y="5413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Prague 6 – Veleslavín, Czech Republic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480560" y="5632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published floor plans or sections could be obtained → analysis limited to campus &amp; programme level.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8595360" y="3017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COLOURS (used on every slide)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595360" y="3291840"/>
            <a:ext cx="164592" cy="146304"/>
          </a:xfrm>
          <a:prstGeom prst="rect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823960" y="32826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8595360" y="3529584"/>
            <a:ext cx="164592" cy="146304"/>
          </a:xfrm>
          <a:prstGeom prst="rect">
            <a:avLst/>
          </a:prstGeom>
          <a:solidFill>
            <a:srgbClr val="6FA8DC">
              <a:alpha val="65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823960" y="3520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Semi-public / education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8595360" y="3767328"/>
            <a:ext cx="164592" cy="146304"/>
          </a:xfrm>
          <a:prstGeom prst="rect">
            <a:avLst/>
          </a:prstGeom>
          <a:solidFill>
            <a:srgbClr val="9B7FBF">
              <a:alpha val="6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823960" y="37581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/ private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8595360" y="4005072"/>
            <a:ext cx="164592" cy="146304"/>
          </a:xfrm>
          <a:prstGeom prst="rect">
            <a:avLst/>
          </a:prstGeom>
          <a:solidFill>
            <a:srgbClr val="5BAA6A">
              <a:alpha val="6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823960" y="39959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8595360" y="4242816"/>
            <a:ext cx="164592" cy="146304"/>
          </a:xfrm>
          <a:prstGeom prst="rect">
            <a:avLst/>
          </a:prstGeom>
          <a:solidFill>
            <a:srgbClr val="8C8C8C">
              <a:alpha val="65000"/>
            </a:srgbClr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823960" y="4233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8595360" y="45720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8595360" y="4892040"/>
            <a:ext cx="411480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47" name="Text 44"/>
          <p:cNvSpPr txBox="1"/>
          <p:nvPr/>
        </p:nvSpPr>
        <p:spPr>
          <a:xfrm>
            <a:off x="9098280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students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595360" y="5120640"/>
            <a:ext cx="411480" cy="91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49" name="Text 46"/>
          <p:cNvSpPr txBox="1"/>
          <p:nvPr/>
        </p:nvSpPr>
        <p:spPr>
          <a:xfrm>
            <a:off x="9098280" y="5038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users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595360" y="5349240"/>
            <a:ext cx="41148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</p:sp>
      <p:sp>
        <p:nvSpPr>
          <p:cNvPr id="51" name="Text 48"/>
          <p:cNvSpPr txBox="1"/>
          <p:nvPr/>
        </p:nvSpPr>
        <p:spPr>
          <a:xfrm>
            <a:off x="9098280" y="5266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8595360" y="566928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595360" y="568299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54" name="Text 51"/>
          <p:cNvSpPr txBox="1"/>
          <p:nvPr/>
        </p:nvSpPr>
        <p:spPr>
          <a:xfrm>
            <a:off x="9372600" y="56692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drawings or a cited publication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8595360" y="5925312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595360" y="5939028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57" name="Text 54"/>
          <p:cNvSpPr txBox="1"/>
          <p:nvPr/>
        </p:nvSpPr>
        <p:spPr>
          <a:xfrm>
            <a:off x="10835640" y="59253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of the plan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ANNA PAO SOHMEN CENTRE · PROJECT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A six-level 'vertical campus' of sport, making and gathering on a tight school site</a:t>
            </a:r>
            <a:endParaRPr lang="en-US" sz="2200" dirty="0"/>
          </a:p>
        </p:txBody>
      </p:sp>
      <p:pic>
        <p:nvPicPr>
          <p:cNvPr id="4" name="Image 0" descr="/home/user/echora_t01/presentations/src/img/ph_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0" cy="2560320"/>
          </a:xfrm>
          <a:prstGeom prst="rect">
            <a:avLst/>
          </a:prstGeom>
        </p:spPr>
      </p:pic>
      <p:pic>
        <p:nvPicPr>
          <p:cNvPr id="5" name="Image 1" descr="/home/user/echora_t01/presentations/src/img/ph_02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931920"/>
            <a:ext cx="3840480" cy="1920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8978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façade (p. 1) · lifted volume over the field (p. 28)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70408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9377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 Pao Sohmen Centre at YK Pao School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Scenic Architecture Office (SAO)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Shanghai, China — school campus on Hongqiao Road (虹桥路, site plan)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+ drawing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2,473 m² (ArchDaily)  ·  GFA 7,911.8 m² = 6,945.5 above + 966.3 basement (gooood)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SOURCES DIFFER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 · GF · 2F mezzanine · 3F · 4F · roof court = 6 levels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drawings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Indoor pool, multi-purpose basketball hall, table tennis, roof sports court; STEAM classrooms (art, music, ICT, wood, robotics, fashion, photography); teacher-training centre; collective hub / lecture space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/ gooood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YK Pao School — school campus (age groups not verified)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66344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(as published)</a:t>
            </a:r>
            <a:endParaRPr lang="en-US" sz="800" dirty="0"/>
          </a:p>
        </p:txBody>
      </p:sp>
      <p:sp>
        <p:nvSpPr>
          <p:cNvPr id="9" name="Text 4"/>
          <p:cNvSpPr txBox="1"/>
          <p:nvPr/>
        </p:nvSpPr>
        <p:spPr>
          <a:xfrm>
            <a:off x="4663440" y="49377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upper mass floats above the synthetic turf field, with angled concrete columns carrying the load while keeping the ground level open” — building upward to add six levels of programme while increasing usable outdoor area.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4663440" y="5532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Area: the two published figures cannot both be gross floor area; 2,473 m² likely refers to a footprint/site figure — NOT VERIFIED. Use GFA only with its source.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4663440" y="58978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ArchDaily, 'Anna Pao Sohmen Centre at YK Pao School / Scenic Architecture Office' (2025) — archdaily.com/1041795  ·  gooood, 'Anna Pao Sohmen Centre at Shanghai YK Pao School by Scenic Architecture Office' — gooood.cn  ·  Drawings: Scenic Architecture Office, as published (uploaded set, pp. 33–48)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SITE + CONTEXT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Placed at the hinge between campus lawn and sports field, close to the main gate</a:t>
            </a:r>
            <a:endParaRPr lang="en-US" sz="2200" dirty="0"/>
          </a:p>
        </p:txBody>
      </p:sp>
      <p:pic>
        <p:nvPicPr>
          <p:cNvPr id="4" name="Image 0" descr="/home/user/echora_t01/presentations/src/img/sit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373291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7544" y="2203565"/>
            <a:ext cx="1371600" cy="1371600"/>
          </a:xfrm>
          <a:prstGeom prst="ellipse">
            <a:avLst/>
          </a:prstGeom>
          <a:ln w="25400">
            <a:solidFill>
              <a:srgbClr val="D947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49144" y="2020685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PAO SOHMEN CENTRE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2807052" y="169577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HONGQIAO ROAD (虹桥路)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351277" y="2278051"/>
            <a:ext cx="146304" cy="146304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34157" y="2396923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main entrance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187852" y="3111735"/>
            <a:ext cx="146304" cy="146304"/>
          </a:xfrm>
          <a:prstGeom prst="ellipse">
            <a:avLst/>
          </a:prstGeom>
          <a:solidFill>
            <a:srgbClr val="2F6FB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370732" y="3230607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entrance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620467" y="3127289"/>
            <a:ext cx="146304" cy="146304"/>
          </a:xfrm>
          <a:prstGeom prst="ellipse">
            <a:avLst/>
          </a:prstGeom>
          <a:solidFill>
            <a:srgbClr val="D947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550619" y="3246161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entrance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477312" y="2447637"/>
            <a:ext cx="559937" cy="3732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3037249" y="2820928"/>
            <a:ext cx="591045" cy="342184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548506" y="393147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5BA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FIELD + TRACK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2451853" y="300757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LAWN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5588073" y="300757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low-rise residential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040505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plan (uploaded p. 46) — annotations translated from the Chinese labels: 学校主入口 main school entrance · 学校次入口 secondary entrance · 主入口 building entrance.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818120" y="128016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18120" y="129387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22" name="Text 19"/>
          <p:cNvSpPr txBox="1"/>
          <p:nvPr/>
        </p:nvSpPr>
        <p:spPr>
          <a:xfrm>
            <a:off x="7818120" y="15270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(Hongqiao Rd.), school main &amp; secondary entrances and the building's main entrance are labelled on the site plan. North arrow and 0–30 m scale on drawing. Building sits between the school buildings, the lawn and the field with 400 m-type track (drawn).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818120" y="2441448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18120" y="2455164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25" name="Text 22"/>
          <p:cNvSpPr txBox="1"/>
          <p:nvPr/>
        </p:nvSpPr>
        <p:spPr>
          <a:xfrm>
            <a:off x="7818120" y="2688336"/>
            <a:ext cx="3886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centre is the 'turn' of the campus: entered from the lawn side, it opens on the other side to the field — a hinge, not an object.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walk from the main gate → doubles as a public/event building without crossing the teaching campus.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footprint between existing buildings and the field explains the vertical stacking and the lift-up over the track.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Vehicular / service access: NOT VERIFIED from the site plan.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/ solar strategy: NOT VERIFIED from published sources.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5897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 — site plan; ArchDaily, 'Anna Pao Sohmen Centre at YK Pao School / Scenic Architecture Office' (2025) — archdaily.com/1041795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ARCHITECTURAL CONCEPT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Build up, free the ground: the field continues under the building</a:t>
            </a:r>
            <a:endParaRPr lang="en-US" sz="2200" dirty="0"/>
          </a:p>
        </p:txBody>
      </p:sp>
      <p:pic>
        <p:nvPicPr>
          <p:cNvPr id="4" name="Image 0" descr="/home/user/echora_t01/presentations/src/img/axo_she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520440" cy="4864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264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Exploded axonometric — architects' drawing (p. 39)</a:t>
            </a:r>
            <a:endParaRPr lang="en-US" sz="700" dirty="0"/>
          </a:p>
        </p:txBody>
      </p:sp>
      <p:pic>
        <p:nvPicPr>
          <p:cNvPr id="6" name="Image 1" descr="/home/user/echora_t01/presentations/src/img/ph_02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34440"/>
            <a:ext cx="3657600" cy="2057400"/>
          </a:xfrm>
          <a:prstGeom prst="rect">
            <a:avLst/>
          </a:prstGeom>
        </p:spPr>
      </p:pic>
      <p:pic>
        <p:nvPicPr>
          <p:cNvPr id="7" name="Image 2" descr="/home/user/echora_t01/presentations/src/img/ph_00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3383280"/>
            <a:ext cx="3657600" cy="213969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297680" y="5577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field under the 3F–4F volume; angled concrete columns at the track edge (pp. 26, 5)</a:t>
            </a:r>
            <a:endParaRPr lang="en-US" sz="700" dirty="0"/>
          </a:p>
        </p:txBody>
      </p:sp>
      <p:sp>
        <p:nvSpPr>
          <p:cNvPr id="9" name="Text 4"/>
          <p:cNvSpPr txBox="1"/>
          <p:nvPr/>
        </p:nvSpPr>
        <p:spPr>
          <a:xfrm>
            <a:off x="8275320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DIAGRAM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8275320" y="2606040"/>
            <a:ext cx="329184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458200" y="1783080"/>
            <a:ext cx="1463040" cy="822960"/>
          </a:xfrm>
          <a:prstGeom prst="rect">
            <a:avLst/>
          </a:prstGeom>
          <a:solidFill>
            <a:srgbClr val="5BAA6A">
              <a:alpha val="5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0104120" y="2514600"/>
            <a:ext cx="1280160" cy="91440"/>
          </a:xfrm>
          <a:prstGeom prst="rect">
            <a:avLst/>
          </a:prstGeom>
          <a:solidFill>
            <a:srgbClr val="5BAA6A">
              <a:alpha val="80000"/>
            </a:srgbClr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275320" y="26791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object beside the field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8275320" y="4251960"/>
            <a:ext cx="3291840" cy="91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458200" y="3703320"/>
            <a:ext cx="1463040" cy="548640"/>
          </a:xfrm>
          <a:prstGeom prst="rect">
            <a:avLst/>
          </a:prstGeom>
          <a:solidFill>
            <a:srgbClr val="5BAA6A">
              <a:alpha val="5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458200" y="3063240"/>
            <a:ext cx="2743200" cy="640080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58200" y="2926080"/>
            <a:ext cx="2743200" cy="137160"/>
          </a:xfrm>
          <a:prstGeom prst="rect">
            <a:avLst/>
          </a:prstGeom>
          <a:solidFill>
            <a:srgbClr val="5BAA6A">
              <a:alpha val="8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9921240" y="4160520"/>
            <a:ext cx="1463040" cy="91440"/>
          </a:xfrm>
          <a:prstGeom prst="rect">
            <a:avLst/>
          </a:prstGeom>
          <a:solidFill>
            <a:srgbClr val="5BAA6A">
              <a:alpha val="8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 flipV="1">
            <a:off x="10881360" y="3703320"/>
            <a:ext cx="182880" cy="5486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flipH="1" flipV="1">
            <a:off x="11064240" y="3703320"/>
            <a:ext cx="137160" cy="54864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75320" y="4325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stacked + lifted: field runs under, roof becomes a court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8275320" y="470916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75320" y="472287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24" name="Text 19"/>
          <p:cNvSpPr txBox="1"/>
          <p:nvPr/>
        </p:nvSpPr>
        <p:spPr>
          <a:xfrm>
            <a:off x="8275320" y="4965192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floors (3F–4F) cantilever south over the track — dashed outline on the GF plan matches the 3F footprint.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volumes stacked: pool (GF/B1) → gym (3F–4F) → roof court.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wraps the gym on three sides → daylight + views (ArchDaily).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4297680" y="5897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ArchDaily, 'Anna Pao Sohmen Centre at YK Pao School / Scenic Architecture Office' (2025) — archdaily.com/1041795 (quoted concept); Drawings: Scenic Architecture Office, as published (uploaded set, pp. 33–48); Photographs: uploaded set (pp. 1–32), as published with the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GROUND FLOOR PLAN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GF: an assembly lobby between pool and field; wet + service behind</a:t>
            </a:r>
            <a:endParaRPr lang="en-US" sz="2200" dirty="0"/>
          </a:p>
        </p:txBody>
      </p:sp>
      <p:pic>
        <p:nvPicPr>
          <p:cNvPr id="4" name="Image 0" descr="/home/user/echora_t01/presentations/src/img/plan_g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787445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277" y="2559177"/>
            <a:ext cx="2207682" cy="1046531"/>
          </a:xfrm>
          <a:prstGeom prst="rect">
            <a:avLst/>
          </a:prstGeom>
          <a:solidFill>
            <a:srgbClr val="5BAA6A">
              <a:alpha val="5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915793" y="2559177"/>
            <a:ext cx="598018" cy="1071448"/>
          </a:xfrm>
          <a:prstGeom prst="rect">
            <a:avLst/>
          </a:prstGeom>
          <a:solidFill>
            <a:srgbClr val="9B7FBF">
              <a:alpha val="5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018767" y="2135581"/>
            <a:ext cx="573100" cy="398678"/>
          </a:xfrm>
          <a:prstGeom prst="rect">
            <a:avLst/>
          </a:prstGeom>
          <a:solidFill>
            <a:srgbClr val="9B7FBF">
              <a:alpha val="5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71905" y="2310003"/>
            <a:ext cx="473431" cy="224257"/>
          </a:xfrm>
          <a:prstGeom prst="rect">
            <a:avLst/>
          </a:prstGeom>
          <a:solidFill>
            <a:srgbClr val="9B7FBF">
              <a:alpha val="4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58277" y="3620658"/>
            <a:ext cx="388711" cy="259141"/>
          </a:xfrm>
          <a:prstGeom prst="rect">
            <a:avLst/>
          </a:prstGeom>
          <a:solidFill>
            <a:srgbClr val="9B7FBF">
              <a:alpha val="4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8310" y="2310003"/>
            <a:ext cx="398678" cy="224257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669923" y="2135581"/>
            <a:ext cx="323926" cy="398678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741371" y="2260168"/>
            <a:ext cx="274091" cy="274091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98475" y="1238555"/>
            <a:ext cx="1096366" cy="622935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46988" y="3630625"/>
            <a:ext cx="1843888" cy="747522"/>
          </a:xfrm>
          <a:prstGeom prst="rect">
            <a:avLst/>
          </a:prstGeom>
          <a:solidFill>
            <a:srgbClr val="F2B134">
              <a:alpha val="5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040380" y="3655543"/>
            <a:ext cx="473431" cy="722605"/>
          </a:xfrm>
          <a:prstGeom prst="rect">
            <a:avLst/>
          </a:prstGeom>
          <a:solidFill>
            <a:srgbClr val="6FA8DC">
              <a:alpha val="5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2741371" y="3680460"/>
            <a:ext cx="299009" cy="448513"/>
          </a:xfrm>
          <a:prstGeom prst="rect">
            <a:avLst/>
          </a:prstGeom>
          <a:solidFill>
            <a:srgbClr val="8C8C8C">
              <a:alpha val="3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97814" y="4228643"/>
            <a:ext cx="548183" cy="67277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17445" y="3655543"/>
            <a:ext cx="299009" cy="448513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21410" y="2010994"/>
            <a:ext cx="323926" cy="299009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115132" y="2260168"/>
            <a:ext cx="274091" cy="249174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9301" y="4004386"/>
            <a:ext cx="398678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747979" y="4004386"/>
            <a:ext cx="697687" cy="74752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 flipV="1">
            <a:off x="1894180" y="4378147"/>
            <a:ext cx="91" cy="299009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24" name="Shape 21"/>
          <p:cNvSpPr/>
          <p:nvPr/>
        </p:nvSpPr>
        <p:spPr>
          <a:xfrm flipV="1">
            <a:off x="2591867" y="4128973"/>
            <a:ext cx="672770" cy="99670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3264637" y="3680460"/>
            <a:ext cx="91" cy="448513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 flipH="1" flipV="1">
            <a:off x="2890876" y="3381451"/>
            <a:ext cx="299009" cy="149504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370914" y="1936242"/>
            <a:ext cx="91" cy="274091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</a:ln>
        </p:spPr>
      </p:sp>
      <p:sp>
        <p:nvSpPr>
          <p:cNvPr id="28" name="Shape 25"/>
          <p:cNvSpPr/>
          <p:nvPr/>
        </p:nvSpPr>
        <p:spPr>
          <a:xfrm>
            <a:off x="1370914" y="2210333"/>
            <a:ext cx="423596" cy="124587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73634" y="3804133"/>
            <a:ext cx="201168" cy="201168"/>
          </a:xfrm>
          <a:prstGeom prst="ellipse">
            <a:avLst/>
          </a:prstGeom>
          <a:solidFill>
            <a:srgbClr val="D9472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73634" y="3813277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1793596" y="4651324"/>
            <a:ext cx="201168" cy="201168"/>
          </a:xfrm>
          <a:prstGeom prst="ellipse">
            <a:avLst/>
          </a:prstGeom>
          <a:solidFill>
            <a:srgbClr val="5BAA6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793596" y="46604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2362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entrance (from site plan) · F opens to field under the cantilever · ▭ cores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1234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(drawing legend, translated)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5806440" y="1463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Assembly lobby · 2 Storage · 3 Toilet · 4 Pool foyer · 5 Change rooms · 6 Swimming pool · 7 Equipment · 8 Emergency clinic · 9 Office · 10 Staff lounge · 11 Power distribution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806440" y="2606040"/>
            <a:ext cx="164592" cy="146304"/>
          </a:xfrm>
          <a:prstGeom prst="rect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035040" y="2596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806440" y="2843784"/>
            <a:ext cx="164592" cy="146304"/>
          </a:xfrm>
          <a:prstGeom prst="rect">
            <a:avLst/>
          </a:prstGeom>
          <a:solidFill>
            <a:srgbClr val="6FA8DC">
              <a:alpha val="65000"/>
            </a:srgbClr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035040" y="2834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Semi-public / education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806440" y="3081528"/>
            <a:ext cx="164592" cy="146304"/>
          </a:xfrm>
          <a:prstGeom prst="rect">
            <a:avLst/>
          </a:prstGeom>
          <a:solidFill>
            <a:srgbClr val="9B7FBF">
              <a:alpha val="65000"/>
            </a:srgbClr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035040" y="30723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/ private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5806440" y="3319272"/>
            <a:ext cx="164592" cy="146304"/>
          </a:xfrm>
          <a:prstGeom prst="rect">
            <a:avLst/>
          </a:prstGeom>
          <a:solidFill>
            <a:srgbClr val="5BAA6A">
              <a:alpha val="65000"/>
            </a:srgbClr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035040" y="3310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806440" y="3557016"/>
            <a:ext cx="164592" cy="146304"/>
          </a:xfrm>
          <a:prstGeom prst="rect">
            <a:avLst/>
          </a:prstGeom>
          <a:solidFill>
            <a:srgbClr val="8C8C8C">
              <a:alpha val="65000"/>
            </a:srgbClr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03504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5806440" y="4050792"/>
            <a:ext cx="411480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47" name="Text 44"/>
          <p:cNvSpPr txBox="1"/>
          <p:nvPr/>
        </p:nvSpPr>
        <p:spPr>
          <a:xfrm>
            <a:off x="6309360" y="3968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students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806440" y="4279392"/>
            <a:ext cx="411480" cy="91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49" name="Text 46"/>
          <p:cNvSpPr txBox="1"/>
          <p:nvPr/>
        </p:nvSpPr>
        <p:spPr>
          <a:xfrm>
            <a:off x="6309360" y="4197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users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5806440" y="4507992"/>
            <a:ext cx="41148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</p:sp>
      <p:sp>
        <p:nvSpPr>
          <p:cNvPr id="51" name="Text 48"/>
          <p:cNvSpPr txBox="1"/>
          <p:nvPr/>
        </p:nvSpPr>
        <p:spPr>
          <a:xfrm>
            <a:off x="6309360" y="44256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5806440" y="420624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8732520" y="12344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732520" y="12481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8732520" y="1481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hall is the largest GF space; change rooms sit between pool and pool foyer; clinic, office, storage and equipment line the north edge; a staircase rises from the lobby to the 2F mezzanine.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8732520" y="2395728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732520" y="2409444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58" name="Text 55"/>
          <p:cNvSpPr txBox="1"/>
          <p:nvPr/>
        </p:nvSpPr>
        <p:spPr>
          <a:xfrm>
            <a:off x="8732520" y="2642616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lobby here: it is the threshold between campus (entrance) and field (south) — gathering space that also distributes to the pool and upper floors.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access: pool foyer → change rooms → pool (wet sequence never re-enters the dry lobby).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Controlled: clinic &amp; staff rooms at the back edge, near the north stair.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Service: plant + storage stacked on the north strip, power room detached — away from public frontage.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/ humidity: pool enclosed by service &amp; change rooms rather than by classrooms.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5806440" y="6035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 — Ground Floor Plan (p. 40). Zones, arrows and pins added by author.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BASEMENT + SECOND FLOOR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Below: plant under the pool. Above: a mezzanine that watches the pool and the field</a:t>
            </a:r>
            <a:endParaRPr lang="en-US" sz="2200" dirty="0"/>
          </a:p>
        </p:txBody>
      </p:sp>
      <p:pic>
        <p:nvPicPr>
          <p:cNvPr id="4" name="Image 0" descr="/home/user/echora_t01/presentations/src/img/plan_b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196742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1734" y="1928470"/>
            <a:ext cx="2460650" cy="1913839"/>
          </a:xfrm>
          <a:prstGeom prst="rect">
            <a:avLst/>
          </a:prstGeom>
          <a:solidFill>
            <a:srgbClr val="8C8C8C">
              <a:alpha val="4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58952" y="2475281"/>
            <a:ext cx="1535278" cy="672998"/>
          </a:xfrm>
          <a:prstGeom prst="rect">
            <a:avLst/>
          </a:prstGeom>
          <a:ln w="12700">
            <a:solidFill>
              <a:srgbClr val="1A1A1A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548640" y="5486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BASEMENT — equipment rooms (设备间) all round the void under the pool (泳池下方管道空腔)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97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drawing's English legend reads 'Activity mezzanine' for item 1; the Chinese 设备间 = equipment room → used here.</a:t>
            </a:r>
            <a:endParaRPr lang="en-US" sz="700" dirty="0"/>
          </a:p>
        </p:txBody>
      </p:sp>
      <p:pic>
        <p:nvPicPr>
          <p:cNvPr id="9" name="Image 1" descr="/home/user/echora_t01/presentations/src/img/plan_2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34440"/>
            <a:ext cx="3196742" cy="4206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8737" y="2391156"/>
            <a:ext cx="1842333" cy="883310"/>
          </a:xfrm>
          <a:prstGeom prst="rect">
            <a:avLst/>
          </a:prstGeom>
          <a:ln w="12700">
            <a:solidFill>
              <a:srgbClr val="5BAA6A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5842102" y="2391156"/>
            <a:ext cx="546811" cy="904342"/>
          </a:xfrm>
          <a:prstGeom prst="rect">
            <a:avLst/>
          </a:prstGeom>
          <a:solidFill>
            <a:srgbClr val="5BAA6A">
              <a:alpha val="5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4306824" y="3295498"/>
            <a:ext cx="2082089" cy="630936"/>
          </a:xfrm>
          <a:prstGeom prst="rect">
            <a:avLst/>
          </a:prstGeom>
          <a:solidFill>
            <a:srgbClr val="F2B134">
              <a:alpha val="5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3970325" y="1970532"/>
            <a:ext cx="1724558" cy="399593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5800039" y="2138782"/>
            <a:ext cx="504749" cy="231343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096512" y="3800246"/>
            <a:ext cx="462686" cy="56784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454042" y="1928470"/>
            <a:ext cx="273406" cy="252374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63540" y="3316529"/>
            <a:ext cx="252374" cy="378562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 flipV="1">
            <a:off x="5610758" y="3421685"/>
            <a:ext cx="91" cy="252374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 flipV="1">
            <a:off x="5610758" y="3337560"/>
            <a:ext cx="336499" cy="84125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367882" y="3568903"/>
            <a:ext cx="630936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998818" y="3568903"/>
            <a:ext cx="91" cy="483718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3886200" y="5486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 — 1 Activity mezzanine · 2 Table tennis · 3 Storage · 4 Equipment; dashed = pool void below</a:t>
            </a:r>
            <a:endParaRPr lang="en-US" sz="750" dirty="0"/>
          </a:p>
        </p:txBody>
      </p:sp>
      <p:pic>
        <p:nvPicPr>
          <p:cNvPr id="23" name="Image 2" descr="/home/user/echora_t01/presentations/src/img/ph_01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2103120" cy="1225296"/>
          </a:xfrm>
          <a:prstGeom prst="rect">
            <a:avLst/>
          </a:prstGeom>
        </p:spPr>
      </p:pic>
      <p:pic>
        <p:nvPicPr>
          <p:cNvPr id="24" name="Image 3" descr="/home/user/echora_t01/presentations/src/img/ph_025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234440"/>
            <a:ext cx="2103120" cy="14081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52360" y="2697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tennis looks into the pool through the wave windows (p. 10) · lobby stair-seating to mezzanine (p. 25)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7452360" y="30632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452360" y="30769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28" name="Text 22"/>
          <p:cNvSpPr txBox="1"/>
          <p:nvPr/>
        </p:nvSpPr>
        <p:spPr>
          <a:xfrm>
            <a:off x="7452360" y="331012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contains only equipment rooms and the pipe void beneath the pool. 2F: mezzanine over the lobby, table-tennis room above the change rooms, equipment strip along the north; an external bridge/stair leaves the east side.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7452360" y="406908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452360" y="408279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31" name="Text 25"/>
          <p:cNvSpPr txBox="1"/>
          <p:nvPr/>
        </p:nvSpPr>
        <p:spPr>
          <a:xfrm>
            <a:off x="7452360" y="4315968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stacked under service: B1 plant directly below the pool → shortest pipe runs, no plant on public levels.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connection: table tennis overlooks the pool; mezzanine overlooks lobby + field → sport is displayed, not hidden.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lobby stair is also seating (photo) → circulation doubles as spectator space.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7452360" y="5989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 — Basement (p. 42) &amp; Second Floor (p. 35) plans; Photographs: uploaded set (pp. 1–32), as published with the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THIRD FLOOR PLAN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3F: the gym as the centre, wrapped by classrooms, offices and an atrium ring</a:t>
            </a:r>
            <a:endParaRPr lang="en-US" sz="2200" dirty="0"/>
          </a:p>
        </p:txBody>
      </p:sp>
      <p:pic>
        <p:nvPicPr>
          <p:cNvPr id="4" name="Image 0" descr="/home/user/echora_t01/presentations/src/img/plan_3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787445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19427" y="2509342"/>
            <a:ext cx="2267483" cy="1669466"/>
          </a:xfrm>
          <a:prstGeom prst="rect">
            <a:avLst/>
          </a:prstGeom>
          <a:solidFill>
            <a:srgbClr val="5BAA6A">
              <a:alpha val="5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894180" y="2135581"/>
            <a:ext cx="2192731" cy="358811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944014" y="4253560"/>
            <a:ext cx="897026" cy="174422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8310" y="2584094"/>
            <a:ext cx="672770" cy="548183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48310" y="3605708"/>
            <a:ext cx="672770" cy="573100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8310" y="3157195"/>
            <a:ext cx="647852" cy="448513"/>
          </a:xfrm>
          <a:prstGeom prst="rect">
            <a:avLst/>
          </a:prstGeom>
          <a:ln w="12700">
            <a:solidFill>
              <a:srgbClr val="5BAA6A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48310" y="4677156"/>
            <a:ext cx="1071448" cy="897026"/>
          </a:xfrm>
          <a:prstGeom prst="rect">
            <a:avLst/>
          </a:prstGeom>
          <a:solidFill>
            <a:srgbClr val="F2B134">
              <a:alpha val="5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744675" y="5001082"/>
            <a:ext cx="1196035" cy="573100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965628" y="5001082"/>
            <a:ext cx="1146200" cy="573100"/>
          </a:xfrm>
          <a:prstGeom prst="rect">
            <a:avLst/>
          </a:prstGeom>
          <a:solidFill>
            <a:srgbClr val="9B7FBF">
              <a:alpha val="5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965628" y="4253560"/>
            <a:ext cx="523265" cy="423596"/>
          </a:xfrm>
          <a:prstGeom prst="rect">
            <a:avLst/>
          </a:prstGeom>
          <a:solidFill>
            <a:srgbClr val="9B7FBF">
              <a:alpha val="5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488893" y="4228643"/>
            <a:ext cx="622935" cy="622935"/>
          </a:xfrm>
          <a:prstGeom prst="rect">
            <a:avLst/>
          </a:prstGeom>
          <a:solidFill>
            <a:srgbClr val="8C8C8C">
              <a:alpha val="4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620088" y="4427982"/>
            <a:ext cx="1495044" cy="448513"/>
          </a:xfrm>
          <a:prstGeom prst="rect">
            <a:avLst/>
          </a:prstGeom>
          <a:ln w="12700">
            <a:solidFill>
              <a:srgbClr val="1A1A1A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822731" y="4253560"/>
            <a:ext cx="622935" cy="722605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21740" y="2010994"/>
            <a:ext cx="423596" cy="348844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111828" y="4851578"/>
            <a:ext cx="174422" cy="1121283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96492" y="4627321"/>
            <a:ext cx="498348" cy="348844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 flipV="1">
            <a:off x="1694840" y="4951247"/>
            <a:ext cx="1345540" cy="24917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 flipV="1">
            <a:off x="3040380" y="4926330"/>
            <a:ext cx="847192" cy="24917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 flipV="1">
            <a:off x="1445666" y="2434590"/>
            <a:ext cx="24917" cy="1993392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24" name="Shape 21"/>
          <p:cNvSpPr/>
          <p:nvPr/>
        </p:nvSpPr>
        <p:spPr>
          <a:xfrm flipV="1">
            <a:off x="3239719" y="4378147"/>
            <a:ext cx="91" cy="299009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 flipV="1">
            <a:off x="3090215" y="4178808"/>
            <a:ext cx="149504" cy="199339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71652" y="3280867"/>
            <a:ext cx="201168" cy="201168"/>
          </a:xfrm>
          <a:prstGeom prst="ellipse">
            <a:avLst/>
          </a:prstGeom>
          <a:solidFill>
            <a:srgbClr val="5BAA6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71652" y="3290011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2267026" y="4576572"/>
            <a:ext cx="201168" cy="201168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267026" y="458571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2362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atrium void with roof light · C pomelo courtyard (open) · ▭ cores</a:t>
            </a:r>
            <a:endParaRPr lang="en-US" sz="700" dirty="0"/>
          </a:p>
        </p:txBody>
      </p:sp>
      <p:sp>
        <p:nvSpPr>
          <p:cNvPr id="31" name="Text 28"/>
          <p:cNvSpPr txBox="1"/>
          <p:nvPr/>
        </p:nvSpPr>
        <p:spPr>
          <a:xfrm>
            <a:off x="5806440" y="1234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(drawing legend)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5806440" y="1463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Atrium · 2 Storage · 3 Toilet · 4 Indoor gym · 5 Change room · 6 Classroom · 7 Equipment · 8 Multi-function room · 9 Seminar · 10 Office · 11 Pomelo courtyard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806440" y="2606040"/>
            <a:ext cx="164592" cy="146304"/>
          </a:xfrm>
          <a:prstGeom prst="rect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035040" y="2596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5806440" y="2843784"/>
            <a:ext cx="164592" cy="146304"/>
          </a:xfrm>
          <a:prstGeom prst="rect">
            <a:avLst/>
          </a:prstGeom>
          <a:solidFill>
            <a:srgbClr val="6FA8DC">
              <a:alpha val="6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035040" y="2834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Semi-public / education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806440" y="3081528"/>
            <a:ext cx="164592" cy="146304"/>
          </a:xfrm>
          <a:prstGeom prst="rect">
            <a:avLst/>
          </a:prstGeom>
          <a:solidFill>
            <a:srgbClr val="9B7FBF">
              <a:alpha val="65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035040" y="30723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/ private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5806440" y="3319272"/>
            <a:ext cx="164592" cy="146304"/>
          </a:xfrm>
          <a:prstGeom prst="rect">
            <a:avLst/>
          </a:prstGeom>
          <a:solidFill>
            <a:srgbClr val="5BAA6A">
              <a:alpha val="6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6035040" y="3310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806440" y="3557016"/>
            <a:ext cx="164592" cy="146304"/>
          </a:xfrm>
          <a:prstGeom prst="rect">
            <a:avLst/>
          </a:prstGeom>
          <a:solidFill>
            <a:srgbClr val="8C8C8C">
              <a:alpha val="6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03504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806440" y="4050792"/>
            <a:ext cx="411480" cy="91"/>
          </a:xfrm>
          <a:prstGeom prst="line">
            <a:avLst/>
          </a:prstGeom>
          <a:noFill/>
          <a:ln w="25400">
            <a:solidFill>
              <a:srgbClr val="2F6FB5"/>
            </a:solidFill>
            <a:prstDash val="dash"/>
            <a:tailEnd type="triangle"/>
          </a:ln>
        </p:spPr>
      </p:sp>
      <p:sp>
        <p:nvSpPr>
          <p:cNvPr id="44" name="Text 41"/>
          <p:cNvSpPr txBox="1"/>
          <p:nvPr/>
        </p:nvSpPr>
        <p:spPr>
          <a:xfrm>
            <a:off x="6309360" y="3968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students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5806440" y="4279392"/>
            <a:ext cx="411480" cy="91"/>
          </a:xfrm>
          <a:prstGeom prst="line">
            <a:avLst/>
          </a:prstGeom>
          <a:noFill/>
          <a:ln w="25400">
            <a:solidFill>
              <a:srgbClr val="D9472B"/>
            </a:solidFill>
            <a:prstDash val="solid"/>
            <a:tailEnd type="triangle"/>
          </a:ln>
        </p:spPr>
      </p:sp>
      <p:sp>
        <p:nvSpPr>
          <p:cNvPr id="46" name="Text 43"/>
          <p:cNvSpPr txBox="1"/>
          <p:nvPr/>
        </p:nvSpPr>
        <p:spPr>
          <a:xfrm>
            <a:off x="6309360" y="41970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users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5806440" y="4507992"/>
            <a:ext cx="41148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lgDashDot"/>
            <a:tailEnd type="triangle"/>
          </a:ln>
        </p:spPr>
      </p:sp>
      <p:sp>
        <p:nvSpPr>
          <p:cNvPr id="48" name="Text 45"/>
          <p:cNvSpPr txBox="1"/>
          <p:nvPr/>
        </p:nvSpPr>
        <p:spPr>
          <a:xfrm>
            <a:off x="6309360" y="44256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50" dirty="0"/>
          </a:p>
        </p:txBody>
      </p:sp>
      <p:pic>
        <p:nvPicPr>
          <p:cNvPr id="49" name="Image 1" descr="/home/user/echora_t01/presentations/src/img/ph_0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709160"/>
            <a:ext cx="1828800" cy="1042416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7680960" y="4754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Atrium + oval roof light (p. 21)</a:t>
            </a:r>
            <a:endParaRPr lang="en-US" sz="700" dirty="0"/>
          </a:p>
        </p:txBody>
      </p:sp>
      <p:sp>
        <p:nvSpPr>
          <p:cNvPr id="51" name="Shape 47"/>
          <p:cNvSpPr/>
          <p:nvPr/>
        </p:nvSpPr>
        <p:spPr>
          <a:xfrm>
            <a:off x="8732520" y="12344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8732520" y="12481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53" name="Text 49"/>
          <p:cNvSpPr txBox="1"/>
          <p:nvPr/>
        </p:nvSpPr>
        <p:spPr>
          <a:xfrm>
            <a:off x="8732520" y="1481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(4) occupies the centre-north; classrooms + courtyard on the west; multi-function, seminar and offices on the south façade; change rooms + toilets between gym and offices; a sculptural stair + lift form the SW core.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8732520" y="2551176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8732520" y="2564892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56" name="Text 52"/>
          <p:cNvSpPr txBox="1"/>
          <p:nvPr/>
        </p:nvSpPr>
        <p:spPr>
          <a:xfrm>
            <a:off x="8732520" y="2798064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= organising mass; every other room is a 'liner' along a façade → daylight for learning, gym lit from roof/high windows.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rooms (5) sit on the atrium side of the gym → sports users enter the gym without crossing classrooms.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Atrium ring = public spine: links core, multi-function hall (event use), seminars and gym doors.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Courtyard splits the classroom wing → light, air and a quiet outdoor pause.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 at the SE corner: controlled, next to the external stair rather than the public core.</a:t>
            </a:r>
            <a:endParaRPr lang="en-US" sz="800" dirty="0"/>
          </a:p>
        </p:txBody>
      </p:sp>
      <p:sp>
        <p:nvSpPr>
          <p:cNvPr id="57" name="Text 53"/>
          <p:cNvSpPr txBox="1"/>
          <p:nvPr/>
        </p:nvSpPr>
        <p:spPr>
          <a:xfrm>
            <a:off x="5806440" y="6035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 — Third Floor Plan (p. 33). Overlay by author.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FOURTH FLOOR + ROOF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4F studios ring the gym void; the roof is a second, open-air court</a:t>
            </a:r>
            <a:endParaRPr lang="en-US" sz="2200" dirty="0"/>
          </a:p>
        </p:txBody>
      </p:sp>
      <p:pic>
        <p:nvPicPr>
          <p:cNvPr id="4" name="Image 0" descr="/home/user/echora_t01/presentations/src/img/plan_4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196742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21231" y="2349094"/>
            <a:ext cx="1913839" cy="1451153"/>
          </a:xfrm>
          <a:prstGeom prst="rect">
            <a:avLst/>
          </a:prstGeom>
          <a:ln w="12700">
            <a:solidFill>
              <a:srgbClr val="5BAA6A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516075" y="2033626"/>
            <a:ext cx="2018995" cy="302849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32765" y="2412187"/>
            <a:ext cx="567842" cy="483718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32765" y="3274466"/>
            <a:ext cx="567842" cy="525780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347826" y="2349094"/>
            <a:ext cx="252374" cy="1409090"/>
          </a:xfrm>
          <a:prstGeom prst="rect">
            <a:avLst/>
          </a:prstGeom>
          <a:solidFill>
            <a:srgbClr val="9B7FBF">
              <a:alpha val="4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2765" y="4431182"/>
            <a:ext cx="2923337" cy="504749"/>
          </a:xfrm>
          <a:prstGeom prst="rect">
            <a:avLst/>
          </a:prstGeom>
          <a:solidFill>
            <a:srgbClr val="6FA8DC">
              <a:alpha val="5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925166" y="3926434"/>
            <a:ext cx="609905" cy="294437"/>
          </a:xfrm>
          <a:prstGeom prst="rect">
            <a:avLst/>
          </a:prstGeom>
          <a:solidFill>
            <a:srgbClr val="8C8C8C">
              <a:alpha val="4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305763" y="3800246"/>
            <a:ext cx="1598371" cy="630936"/>
          </a:xfrm>
          <a:prstGeom prst="rect">
            <a:avLst/>
          </a:prstGeom>
          <a:solidFill>
            <a:srgbClr val="F2B134">
              <a:alpha val="3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79983" y="3821278"/>
            <a:ext cx="525780" cy="609905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32358" y="1928470"/>
            <a:ext cx="357530" cy="294437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5486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 — studios: visual art, ICT, robotics, maker, wood, greenhouse, fashion, photography, dark room, 3D print, recording; dashed = gym void</a:t>
            </a:r>
            <a:endParaRPr lang="en-US" sz="750" dirty="0"/>
          </a:p>
        </p:txBody>
      </p:sp>
      <p:pic>
        <p:nvPicPr>
          <p:cNvPr id="16" name="Image 1" descr="/home/user/echora_t01/presentations/src/img/plan_roo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34440"/>
            <a:ext cx="3196742" cy="42062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1885" y="2307031"/>
            <a:ext cx="1724558" cy="1535278"/>
          </a:xfrm>
          <a:prstGeom prst="rect">
            <a:avLst/>
          </a:prstGeom>
          <a:solidFill>
            <a:srgbClr val="5BAA6A">
              <a:alpha val="55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4622292" y="2328062"/>
            <a:ext cx="315468" cy="1514246"/>
          </a:xfrm>
          <a:prstGeom prst="rect">
            <a:avLst/>
          </a:prstGeom>
          <a:solidFill>
            <a:srgbClr val="8C8C8C">
              <a:alpha val="5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3970325" y="3863340"/>
            <a:ext cx="2923337" cy="567842"/>
          </a:xfrm>
          <a:prstGeom prst="rect">
            <a:avLst/>
          </a:prstGeom>
          <a:solidFill>
            <a:srgbClr val="5BAA6A">
              <a:alpha val="25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4916729" y="4010558"/>
            <a:ext cx="1030529" cy="336499"/>
          </a:xfrm>
          <a:prstGeom prst="rect">
            <a:avLst/>
          </a:prstGeom>
          <a:ln w="12700">
            <a:solidFill>
              <a:srgbClr val="F2B134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3886200" y="5486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— 1 roof playground (court + stepped seats N &amp; S) · 2 activity space · 3 solar equipment platform · 4 clerestory desks</a:t>
            </a:r>
            <a:endParaRPr lang="en-US" sz="750" dirty="0"/>
          </a:p>
        </p:txBody>
      </p:sp>
      <p:pic>
        <p:nvPicPr>
          <p:cNvPr id="22" name="Image 2" descr="/home/user/echora_t01/presentations/src/img/ph_00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234440"/>
            <a:ext cx="2103120" cy="1408176"/>
          </a:xfrm>
          <a:prstGeom prst="rect">
            <a:avLst/>
          </a:prstGeom>
        </p:spPr>
      </p:pic>
      <p:pic>
        <p:nvPicPr>
          <p:cNvPr id="23" name="Image 3" descr="/home/user/echora_t01/presentations/src/img/ph_016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234440"/>
            <a:ext cx="2103120" cy="1408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523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court above the studio façade (p. 3) · pitched-roof wood studio (p. 16)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7452360" y="30632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452360" y="30769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27" name="Text 21"/>
          <p:cNvSpPr txBox="1"/>
          <p:nvPr/>
        </p:nvSpPr>
        <p:spPr>
          <a:xfrm>
            <a:off x="7452360" y="331012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 studios line west and south façades; offices/dark room/photo studio line the gym's west wall. Roof: full court with stepped seating on both long sides, solar plant platform, and 'clerestory desks' over the atrium.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7452360" y="406908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452360" y="408279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30" name="Text 24"/>
          <p:cNvSpPr txBox="1"/>
          <p:nvPr/>
        </p:nvSpPr>
        <p:spPr>
          <a:xfrm>
            <a:off x="7452360" y="4315968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Noise/mess-tolerant making studios grouped on one floor, above quieter classrooms.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court reuses the gym's footprint → the long-span structure carries play twice.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Stepped seats make the roof a small outdoor arena; clerestory desks = skylights that are also furniture.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(solar) kept to a strip beside the court, away from the play edge.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7452360" y="5989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 — Fourth Floor (p. 41) &amp; Roof plans (p. 37); Photographs: uploaded set (pp. 1–32), as published with the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FUNCTIONAL ZONING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Zoning is vertical: wet sport low, dry sport high, learning around, service below</a:t>
            </a:r>
            <a:endParaRPr lang="en-US" sz="2200" dirty="0"/>
          </a:p>
        </p:txBody>
      </p:sp>
      <p:pic>
        <p:nvPicPr>
          <p:cNvPr id="4" name="Image 0" descr="/home/user/echora_t01/presentations/src/img/axo_pr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434840" cy="4864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807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axonometric — architects' drawing and colours (p. 38)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SEMI-PUBLIC / EDU</a:t>
            </a:r>
            <a:endParaRPr lang="en-US" sz="7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964692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10835640" y="1325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164592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Shape 10"/>
          <p:cNvSpPr/>
          <p:nvPr/>
        </p:nvSpPr>
        <p:spPr>
          <a:xfrm>
            <a:off x="7269480" y="164592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Shape 11"/>
          <p:cNvSpPr/>
          <p:nvPr/>
        </p:nvSpPr>
        <p:spPr>
          <a:xfrm>
            <a:off x="8458200" y="164592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Shape 12"/>
          <p:cNvSpPr/>
          <p:nvPr/>
        </p:nvSpPr>
        <p:spPr>
          <a:xfrm>
            <a:off x="9646920" y="1645920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46920" y="16459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court + seats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0835640" y="1645920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835640" y="16459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platform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80760" y="2304288"/>
            <a:ext cx="1143000" cy="59436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8076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atrium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269480" y="2304288"/>
            <a:ext cx="1143000" cy="594360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6948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studios, ICT, art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458200" y="2304288"/>
            <a:ext cx="1143000" cy="594360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5820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offices, dark room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9646920" y="2304288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4692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(gym void)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10835640" y="2304288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835640" y="23042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WC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5394960" y="31455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080760" y="2962656"/>
            <a:ext cx="1143000" cy="59436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8076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atrium, multi-function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7269480" y="2962656"/>
            <a:ext cx="1143000" cy="594360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26948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classrooms, seminar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458200" y="2962656"/>
            <a:ext cx="1143000" cy="594360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offices, change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646920" y="2962656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4692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gym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10835640" y="2962656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835640" y="29626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WC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5394960" y="3803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80760" y="3621024"/>
            <a:ext cx="1143000" cy="59436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080760" y="362102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mezzanine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7269480" y="3621024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5" name="Shape 42"/>
          <p:cNvSpPr/>
          <p:nvPr/>
        </p:nvSpPr>
        <p:spPr>
          <a:xfrm>
            <a:off x="8458200" y="3621024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6" name="Shape 43"/>
          <p:cNvSpPr/>
          <p:nvPr/>
        </p:nvSpPr>
        <p:spPr>
          <a:xfrm>
            <a:off x="9646920" y="3621024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646920" y="362102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tennis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10835640" y="3621024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835640" y="362102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5394960" y="44622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080760" y="4279392"/>
            <a:ext cx="1143000" cy="594360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08076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lobby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7269480" y="4279392"/>
            <a:ext cx="1143000" cy="594360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26948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foyer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8458200" y="4279392"/>
            <a:ext cx="1143000" cy="594360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45820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clinic, staff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9646920" y="4279392"/>
            <a:ext cx="1143000" cy="59436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64692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10835640" y="4279392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835640" y="427939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storage, power</a:t>
            </a:r>
            <a:endParaRPr lang="en-US" sz="750" dirty="0"/>
          </a:p>
        </p:txBody>
      </p:sp>
      <p:sp>
        <p:nvSpPr>
          <p:cNvPr id="61" name="Text 58"/>
          <p:cNvSpPr txBox="1"/>
          <p:nvPr/>
        </p:nvSpPr>
        <p:spPr>
          <a:xfrm>
            <a:off x="5394960" y="5120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080760" y="493776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3" name="Shape 60"/>
          <p:cNvSpPr/>
          <p:nvPr/>
        </p:nvSpPr>
        <p:spPr>
          <a:xfrm>
            <a:off x="7269480" y="493776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4" name="Shape 61"/>
          <p:cNvSpPr/>
          <p:nvPr/>
        </p:nvSpPr>
        <p:spPr>
          <a:xfrm>
            <a:off x="8458200" y="493776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5" name="Shape 62"/>
          <p:cNvSpPr/>
          <p:nvPr/>
        </p:nvSpPr>
        <p:spPr>
          <a:xfrm>
            <a:off x="9646920" y="4937760"/>
            <a:ext cx="1143000" cy="594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6" name="Shape 63"/>
          <p:cNvSpPr/>
          <p:nvPr/>
        </p:nvSpPr>
        <p:spPr>
          <a:xfrm>
            <a:off x="10835640" y="4937760"/>
            <a:ext cx="1143000" cy="594360"/>
          </a:xfrm>
          <a:prstGeom prst="rect">
            <a:avLst/>
          </a:prstGeom>
          <a:solidFill>
            <a:srgbClr val="8C8C8C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835640" y="49377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under pool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5394960" y="5623560"/>
            <a:ext cx="3723437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394960" y="5637276"/>
            <a:ext cx="37234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ROOMS · ZONE ASSIGNMENT = INTERPRETATION</a:t>
            </a:r>
            <a:endParaRPr lang="en-US" sz="650" dirty="0"/>
          </a:p>
        </p:txBody>
      </p:sp>
      <p:sp>
        <p:nvSpPr>
          <p:cNvPr id="70" name="Text 67"/>
          <p:cNvSpPr txBox="1"/>
          <p:nvPr/>
        </p:nvSpPr>
        <p:spPr>
          <a:xfrm>
            <a:off x="5394960" y="5897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 — all plans + programme axonometric (p. 38).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SPATIAL RELATIONSHIPS / ADJACENCY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Two hearts — the lobby (GF) and the atrium (3F) — connected by one core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411480"/>
          </a:xfrm>
          <a:prstGeom prst="rect">
            <a:avLst/>
          </a:prstGeom>
          <a:solidFill>
            <a:srgbClr val="F2B134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LAWN / ENTRANCE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11680" cy="4114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LOBBY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463040" cy="411480"/>
          </a:xfrm>
          <a:prstGeom prst="rect">
            <a:avLst/>
          </a:prstGeom>
          <a:solidFill>
            <a:srgbClr val="5BAA6A">
              <a:alpha val="3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+ TRACK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(under building)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2286000"/>
            <a:ext cx="1554480" cy="411480"/>
          </a:xfrm>
          <a:prstGeom prst="rect">
            <a:avLst/>
          </a:prstGeom>
          <a:solidFill>
            <a:srgbClr val="6FA8D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FOYER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37760" y="2286000"/>
            <a:ext cx="1554480" cy="411480"/>
          </a:xfrm>
          <a:prstGeom prst="rect">
            <a:avLst/>
          </a:prstGeom>
          <a:solidFill>
            <a:srgbClr val="9B7FB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ROOMS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2286000"/>
            <a:ext cx="1280160" cy="41148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0" y="3200400"/>
            <a:ext cx="1280160" cy="411480"/>
          </a:xfrm>
          <a:prstGeom prst="rect">
            <a:avLst/>
          </a:prstGeom>
          <a:solidFill>
            <a:srgbClr val="8C8C8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3200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(B1)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17520" y="3200400"/>
            <a:ext cx="1554480" cy="4114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752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MEZZANINE (2F)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0" y="3200400"/>
            <a:ext cx="1554480" cy="41148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TENNIS (2F)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2011680" cy="411480"/>
          </a:xfrm>
          <a:prstGeom prst="rect">
            <a:avLst/>
          </a:prstGeom>
          <a:solidFill>
            <a:srgbClr val="FFFFF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206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CORE: LIFT + STAIR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17520" y="4206240"/>
            <a:ext cx="1554480" cy="4114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1752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ATRIUM (3F–4F)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5120640"/>
            <a:ext cx="1554480" cy="41148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GYM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0" y="4206240"/>
            <a:ext cx="1554480" cy="411480"/>
          </a:xfrm>
          <a:prstGeom prst="rect">
            <a:avLst/>
          </a:prstGeom>
          <a:solidFill>
            <a:srgbClr val="9B7FB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(3F)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17520" y="5120640"/>
            <a:ext cx="1554480" cy="411480"/>
          </a:xfrm>
          <a:prstGeom prst="rect">
            <a:avLst/>
          </a:prstGeom>
          <a:solidFill>
            <a:srgbClr val="6FA8D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1752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CLASSROOMS / STUDIOS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2011680" cy="411480"/>
          </a:xfrm>
          <a:prstGeom prst="rect">
            <a:avLst/>
          </a:prstGeom>
          <a:solidFill>
            <a:srgbClr val="5BAA6A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5120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COURTYARD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0" y="4206240"/>
            <a:ext cx="1280160" cy="411480"/>
          </a:xfrm>
          <a:prstGeom prst="rect">
            <a:avLst/>
          </a:prstGeom>
          <a:solidFill>
            <a:srgbClr val="F2B134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4206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MULTI-FUNCTION / SEMINAR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58000" y="5120640"/>
            <a:ext cx="1280160" cy="411480"/>
          </a:xfrm>
          <a:prstGeom prst="rect">
            <a:avLst/>
          </a:prstGeom>
          <a:solidFill>
            <a:srgbClr val="9B7FB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0" y="5120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17520" y="5806440"/>
            <a:ext cx="1554480" cy="411480"/>
          </a:xfrm>
          <a:prstGeom prst="rect">
            <a:avLst/>
          </a:prstGeom>
          <a:solidFill>
            <a:srgbClr val="5BAA6A">
              <a:alpha val="4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17520" y="5806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COURT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554480" y="1783080"/>
            <a:ext cx="91" cy="50292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80160" y="2697480"/>
            <a:ext cx="91" cy="50292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0" y="2487168"/>
            <a:ext cx="457200" cy="91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0" y="2487168"/>
            <a:ext cx="365760" cy="91"/>
          </a:xfrm>
          <a:prstGeom prst="line">
            <a:avLst/>
          </a:prstGeom>
          <a:noFill/>
          <a:ln w="28575">
            <a:solidFill>
              <a:srgbClr val="D94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2487168"/>
            <a:ext cx="365760" cy="91"/>
          </a:xfrm>
          <a:prstGeom prst="line">
            <a:avLst/>
          </a:prstGeom>
          <a:noFill/>
          <a:ln w="28575">
            <a:solidFill>
              <a:srgbClr val="D947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2697480"/>
            <a:ext cx="91" cy="502920"/>
          </a:xfrm>
          <a:prstGeom prst="line">
            <a:avLst/>
          </a:prstGeom>
          <a:noFill/>
          <a:ln w="12700">
            <a:solidFill>
              <a:srgbClr val="1A1A1A"/>
            </a:solidFill>
            <a:prstDash val="lgDashDot"/>
          </a:ln>
        </p:spPr>
      </p:sp>
      <p:sp>
        <p:nvSpPr>
          <p:cNvPr id="46" name="Shape 44"/>
          <p:cNvSpPr/>
          <p:nvPr/>
        </p:nvSpPr>
        <p:spPr>
          <a:xfrm>
            <a:off x="2560320" y="2606040"/>
            <a:ext cx="457200" cy="6858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715000" y="2606040"/>
            <a:ext cx="1143000" cy="594360"/>
          </a:xfrm>
          <a:prstGeom prst="line">
            <a:avLst/>
          </a:prstGeom>
          <a:noFill/>
          <a:ln w="12700">
            <a:solidFill>
              <a:srgbClr val="2F6FB5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2286000" y="2697480"/>
            <a:ext cx="91" cy="150876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0" y="4407408"/>
            <a:ext cx="457200" cy="91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4407408"/>
            <a:ext cx="36576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5000" y="4617720"/>
            <a:ext cx="91" cy="502920"/>
          </a:xfrm>
          <a:prstGeom prst="line">
            <a:avLst/>
          </a:prstGeom>
          <a:noFill/>
          <a:ln w="28575">
            <a:solidFill>
              <a:srgbClr val="D947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3794760" y="4069080"/>
            <a:ext cx="91" cy="1371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94760" y="4069080"/>
            <a:ext cx="370332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4069080"/>
            <a:ext cx="91" cy="1371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94760" y="4617720"/>
            <a:ext cx="91" cy="5029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60320" y="5321808"/>
            <a:ext cx="45720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98080" y="4617720"/>
            <a:ext cx="91" cy="5029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94760" y="5532120"/>
            <a:ext cx="91" cy="274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859536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TYPES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595360" y="1719072"/>
            <a:ext cx="457200" cy="91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144000" y="16367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/ required (plan-verified)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595360" y="1993392"/>
            <a:ext cx="457200" cy="91"/>
          </a:xfrm>
          <a:prstGeom prst="line">
            <a:avLst/>
          </a:prstGeom>
          <a:noFill/>
          <a:ln w="28575">
            <a:solidFill>
              <a:srgbClr val="D9472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44000" y="1911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sequence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595360" y="2267712"/>
            <a:ext cx="45720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144000" y="21854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/ shared corridor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595360" y="2542032"/>
            <a:ext cx="457200" cy="91"/>
          </a:xfrm>
          <a:prstGeom prst="line">
            <a:avLst/>
          </a:prstGeom>
          <a:noFill/>
          <a:ln w="12700">
            <a:solidFill>
              <a:srgbClr val="2F6FB5"/>
            </a:solidFill>
            <a:prstDash val="dash"/>
          </a:ln>
        </p:spPr>
      </p:sp>
      <p:sp>
        <p:nvSpPr>
          <p:cNvPr id="67" name="Text 65"/>
          <p:cNvSpPr txBox="1"/>
          <p:nvPr/>
        </p:nvSpPr>
        <p:spPr>
          <a:xfrm>
            <a:off x="9144000" y="24597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connection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595360" y="2816352"/>
            <a:ext cx="457200" cy="91"/>
          </a:xfrm>
          <a:prstGeom prst="line">
            <a:avLst/>
          </a:prstGeom>
          <a:noFill/>
          <a:ln w="12700">
            <a:solidFill>
              <a:srgbClr val="1A1A1A"/>
            </a:solidFill>
            <a:prstDash val="lgDashDot"/>
          </a:ln>
        </p:spPr>
      </p:sp>
      <p:sp>
        <p:nvSpPr>
          <p:cNvPr id="69" name="Text 67"/>
          <p:cNvSpPr txBox="1"/>
          <p:nvPr/>
        </p:nvSpPr>
        <p:spPr>
          <a:xfrm>
            <a:off x="9144000" y="27340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(vertical)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595360" y="320040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595360" y="321411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72" name="Text 70"/>
          <p:cNvSpPr txBox="1"/>
          <p:nvPr/>
        </p:nvSpPr>
        <p:spPr>
          <a:xfrm>
            <a:off x="8595360" y="3456432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↔ change ↔ foyer: linear wet sequence on GF (plan).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↔ change (3F): change rooms open off the atrium beside gym doors.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 ↔ field: lobby glazed + stepped to the track (section p. 34).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Atrium ↔ multi-function / seminar: event rooms on the public ring.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directly below pool: vertical service adjacency.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tennis ↔ pool: visual only (wave windows, photo p. 10).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623620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 (plans pp. 33–42, section p. 34); Photographs: uploaded set (pp. 1–32), as published with the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CIRCULATION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One public core, one back stair, one external stair — and stairs that are also seats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5760720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55595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5102352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49011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4443984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4242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35844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3127248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9260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" y="2468880"/>
            <a:ext cx="6583680" cy="91"/>
          </a:xfrm>
          <a:prstGeom prst="line">
            <a:avLst/>
          </a:prstGeom>
          <a:noFill/>
          <a:ln w="9525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V="1">
            <a:off x="1280160" y="2468880"/>
            <a:ext cx="91" cy="2633472"/>
          </a:xfrm>
          <a:prstGeom prst="line">
            <a:avLst/>
          </a:prstGeom>
          <a:noFill/>
          <a:ln w="38100">
            <a:solidFill>
              <a:srgbClr val="2F6F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084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CORE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+ sculptural stair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 flipV="1">
            <a:off x="2743200" y="2468880"/>
            <a:ext cx="91" cy="3291840"/>
          </a:xfrm>
          <a:prstGeom prst="line">
            <a:avLst/>
          </a:prstGeom>
          <a:noFill/>
          <a:ln w="38100">
            <a:solidFill>
              <a:srgbClr val="1A1A1A"/>
            </a:solidFill>
            <a:prstDash val="lgDashDot"/>
          </a:ln>
        </p:spPr>
      </p:sp>
      <p:sp>
        <p:nvSpPr>
          <p:cNvPr id="19" name="Text 17"/>
          <p:cNvSpPr txBox="1"/>
          <p:nvPr/>
        </p:nvSpPr>
        <p:spPr>
          <a:xfrm>
            <a:off x="2194560" y="2084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STAIR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(back of house)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 flipV="1">
            <a:off x="6309360" y="3785616"/>
            <a:ext cx="91" cy="1316736"/>
          </a:xfrm>
          <a:prstGeom prst="line">
            <a:avLst/>
          </a:prstGeom>
          <a:noFill/>
          <a:ln w="38100">
            <a:solidFill>
              <a:srgbClr val="D947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34015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EXTERNAL STAIR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 flipV="1">
            <a:off x="4023360" y="4443984"/>
            <a:ext cx="548640" cy="658368"/>
          </a:xfrm>
          <a:prstGeom prst="line">
            <a:avLst/>
          </a:prstGeom>
          <a:noFill/>
          <a:ln w="38100">
            <a:solidFill>
              <a:srgbClr val="2F6FB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4873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 stair-seating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280160" y="3739896"/>
            <a:ext cx="5029200" cy="91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3291840" y="3511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 atrium ring (public spine)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280160" y="5056632"/>
            <a:ext cx="2743200" cy="91"/>
          </a:xfrm>
          <a:prstGeom prst="line">
            <a:avLst/>
          </a:prstGeom>
          <a:noFill/>
          <a:ln w="19050">
            <a:solidFill>
              <a:srgbClr val="2F6FB5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146304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 lobby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978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vertical-circulation diagram, based on cores identified in all plans (not to scale).</a:t>
            </a:r>
            <a:endParaRPr lang="en-US" sz="750" dirty="0"/>
          </a:p>
        </p:txBody>
      </p:sp>
      <p:pic>
        <p:nvPicPr>
          <p:cNvPr id="29" name="Image 0" descr="/home/user/echora_t01/presentations/src/img/ph_0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234440"/>
            <a:ext cx="1920240" cy="1280160"/>
          </a:xfrm>
          <a:prstGeom prst="rect">
            <a:avLst/>
          </a:prstGeom>
        </p:spPr>
      </p:pic>
      <p:pic>
        <p:nvPicPr>
          <p:cNvPr id="30" name="Image 1" descr="/home/user/echora_t01/presentations/src/img/ph_02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34440"/>
            <a:ext cx="1920240" cy="128016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818120" y="25603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with timber screen (p. 23) · atrium stair landing (p. 20)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7818120" y="28346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818120" y="28483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34" name="Text 30"/>
          <p:cNvSpPr txBox="1"/>
          <p:nvPr/>
        </p:nvSpPr>
        <p:spPr>
          <a:xfrm>
            <a:off x="7818120" y="308152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in plans: lift + curved stair (SW, all levels GF–4F), north stair (B1–roof), straight stair lobby→2F, east external stair/bridge (2F–3F).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7818120" y="3685032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18120" y="3698748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37" name="Text 33"/>
          <p:cNvSpPr txBox="1"/>
          <p:nvPr/>
        </p:nvSpPr>
        <p:spPr>
          <a:xfrm>
            <a:off x="7818120" y="3931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/ visitors: lobby → west core or stair-seating → atrium ring → rooms.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users: field/lobby → change rooms → pool or gym without passing studios.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Staff: offices next to the east external stair; north stair as back route.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Service: north stair + equipment strip connect B1 plant to every level.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User-separation by schedule is likely, not by fully separate routes — NOT VERIFIED.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7818120" y="5989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33–48); Photographs: uploaded set (pp. 1–32), as published with the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PUBLIC → PRIVATE GRADIENT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Control increases with height and with distance from the lobby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583680" cy="868680"/>
          </a:xfrm>
          <a:prstGeom prst="rect">
            <a:avLst/>
          </a:prstGeom>
          <a:solidFill>
            <a:srgbClr val="F2B134">
              <a:alpha val="6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44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1907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under the building · lobby · stair-seating · mezzanine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38528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edge to field; lobby doubles as assembly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0120" y="2395728"/>
            <a:ext cx="5760720" cy="868680"/>
          </a:xfrm>
          <a:prstGeom prst="rect">
            <a:avLst/>
          </a:prstGeom>
          <a:solidFill>
            <a:srgbClr val="6FA8DC">
              <a:alpha val="6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SEMI-PUBLIC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43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Atrium ring · multi-function hall · seminars · pool foyer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62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via the public core; event-capable rooms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0" y="3419856"/>
            <a:ext cx="4937760" cy="868680"/>
          </a:xfrm>
          <a:prstGeom prst="rect">
            <a:avLst/>
          </a:prstGeom>
          <a:solidFill>
            <a:srgbClr val="9B7FBF">
              <a:alpha val="6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08760" y="34930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6732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Classrooms · studios · change rooms · clinic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8678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 off the ring; change rooms gate the sports volumes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83080" y="4443984"/>
            <a:ext cx="4114800" cy="868680"/>
          </a:xfrm>
          <a:prstGeom prst="rect">
            <a:avLst/>
          </a:prstGeom>
          <a:solidFill>
            <a:srgbClr val="8C8C8C">
              <a:alpha val="6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920240" y="4517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/ SERVICE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7914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Offices · staff lounge · equipment · plant (B1) · solar platform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5010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edges, back stair, basement and roof strip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increasing control</a:t>
            </a:r>
            <a:endParaRPr lang="en-US" sz="900" dirty="0"/>
          </a:p>
        </p:txBody>
      </p:sp>
      <p:pic>
        <p:nvPicPr>
          <p:cNvPr id="21" name="Image 0" descr="/home/user/echora_t01/presentations/src/img/ph_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25880"/>
            <a:ext cx="2011680" cy="1353312"/>
          </a:xfrm>
          <a:prstGeom prst="rect">
            <a:avLst/>
          </a:prstGeom>
        </p:spPr>
      </p:pic>
      <p:pic>
        <p:nvPicPr>
          <p:cNvPr id="22" name="Image 1" descr="/home/user/echora_t01/presentations/src/img/ph_03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325880"/>
            <a:ext cx="2011680" cy="13533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589520" y="27249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Courtyard threshold (p. 29) · entrance (p. 31)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7589520" y="3063240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89520" y="3076956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26" name="Text 22"/>
          <p:cNvSpPr txBox="1"/>
          <p:nvPr/>
        </p:nvSpPr>
        <p:spPr>
          <a:xfrm>
            <a:off x="7589520" y="3310128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is architectural, not only by doors: height (GF open → 4F studios), depth (front lobby → back offices) and sequence (change rooms before courts).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lobby can open for events while upper teaching floors stay closed — the core is the single checkpoint.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access is gated twice: pool foyer → change rooms.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zones never face the lobby: north strip, basement, roof edge.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Drawings: Scenic Architecture Office, as published (uploaded set, pp. 33–48); Photographs: uploaded set (pp. 1–32), as published with the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SECTIONAL ORGANISATION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Three long spans stacked: pool → gym → roof court</a:t>
            </a:r>
            <a:endParaRPr lang="en-US" sz="2200" dirty="0"/>
          </a:p>
        </p:txBody>
      </p:sp>
      <p:pic>
        <p:nvPicPr>
          <p:cNvPr id="4" name="Image 0" descr="/home/user/echora_t01/presentations/src/img/sec_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309360" cy="29794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54858" y="1304544"/>
            <a:ext cx="2208276" cy="595884"/>
          </a:xfrm>
          <a:prstGeom prst="rect">
            <a:avLst/>
          </a:prstGeom>
          <a:solidFill>
            <a:srgbClr val="5BAA6A">
              <a:alpha val="3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3124962" y="1970532"/>
            <a:ext cx="2033016" cy="718566"/>
          </a:xfrm>
          <a:prstGeom prst="rect">
            <a:avLst/>
          </a:prstGeom>
          <a:solidFill>
            <a:srgbClr val="5BAA6A">
              <a:alpha val="4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878580" y="2811780"/>
            <a:ext cx="1279398" cy="701040"/>
          </a:xfrm>
          <a:prstGeom prst="rect">
            <a:avLst/>
          </a:prstGeom>
          <a:solidFill>
            <a:srgbClr val="5BAA6A">
              <a:alpha val="6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967228" y="2776728"/>
            <a:ext cx="858774" cy="473202"/>
          </a:xfrm>
          <a:prstGeom prst="rect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054858" y="3284982"/>
            <a:ext cx="806196" cy="438150"/>
          </a:xfrm>
          <a:prstGeom prst="rect">
            <a:avLst/>
          </a:prstGeom>
          <a:solidFill>
            <a:srgbClr val="8C8C8C">
              <a:alpha val="4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193030" y="1917954"/>
            <a:ext cx="350520" cy="1787652"/>
          </a:xfrm>
          <a:prstGeom prst="rect">
            <a:avLst/>
          </a:prstGeom>
          <a:solidFill>
            <a:srgbClr val="8C8C8C">
              <a:alpha val="3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512570" y="1830324"/>
            <a:ext cx="806196" cy="490728"/>
          </a:xfrm>
          <a:prstGeom prst="rect">
            <a:avLst/>
          </a:prstGeom>
          <a:solidFill>
            <a:srgbClr val="6FA8DC">
              <a:alpha val="4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512570" y="2338578"/>
            <a:ext cx="613410" cy="350520"/>
          </a:xfrm>
          <a:prstGeom prst="rect">
            <a:avLst/>
          </a:prstGeom>
          <a:solidFill>
            <a:srgbClr val="6FA8DC">
              <a:alpha val="4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27020" y="2110740"/>
            <a:ext cx="280416" cy="578358"/>
          </a:xfrm>
          <a:prstGeom prst="rect">
            <a:avLst/>
          </a:prstGeom>
          <a:solidFill>
            <a:srgbClr val="F2B134">
              <a:alpha val="3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33238" y="14798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COURT + seats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4001262" y="23911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GYM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4001262" y="33726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3019806" y="30571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1547622" y="21107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3160014" y="35128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2412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N–S section (p. 36) — overlay by author</a:t>
            </a:r>
            <a:endParaRPr lang="en-US" sz="700" dirty="0"/>
          </a:p>
        </p:txBody>
      </p:sp>
      <p:pic>
        <p:nvPicPr>
          <p:cNvPr id="21" name="Image 1" descr="/home/user/echora_t01/presentations/src/img/sec_poo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8180"/>
            <a:ext cx="3108960" cy="1784119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668572" y="4883866"/>
            <a:ext cx="1716994" cy="466344"/>
          </a:xfrm>
          <a:prstGeom prst="rect">
            <a:avLst/>
          </a:prstGeom>
          <a:solidFill>
            <a:srgbClr val="5BAA6A">
              <a:alpha val="45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831273" y="5466796"/>
            <a:ext cx="1600408" cy="381554"/>
          </a:xfrm>
          <a:prstGeom prst="rect">
            <a:avLst/>
          </a:prstGeom>
          <a:solidFill>
            <a:srgbClr val="5BAA6A">
              <a:alpha val="60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2442279" y="5435000"/>
            <a:ext cx="508739" cy="116586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2495273" y="5593981"/>
            <a:ext cx="370955" cy="105987"/>
          </a:xfrm>
          <a:prstGeom prst="rect">
            <a:avLst/>
          </a:prstGeom>
          <a:solidFill>
            <a:srgbClr val="9B7FBF">
              <a:alpha val="45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831273" y="5763560"/>
            <a:ext cx="2119745" cy="211975"/>
          </a:xfrm>
          <a:prstGeom prst="rect">
            <a:avLst/>
          </a:prstGeom>
          <a:solidFill>
            <a:srgbClr val="8C8C8C">
              <a:alpha val="40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810075" y="4830872"/>
            <a:ext cx="339159" cy="519338"/>
          </a:xfrm>
          <a:prstGeom prst="rect">
            <a:avLst/>
          </a:prstGeom>
          <a:solidFill>
            <a:srgbClr val="5BAA6A">
              <a:alpha val="20000"/>
            </a:srgbClr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3794760" y="45796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E–W section through pool, table tennis, change rooms &amp; courtyard (p. 48) — overlay by author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7589520" y="12344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589520" y="12481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31" name="Text 27"/>
          <p:cNvSpPr txBox="1"/>
          <p:nvPr/>
        </p:nvSpPr>
        <p:spPr>
          <a:xfrm>
            <a:off x="7589520" y="148132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show the pool at grade/below grade with plant beneath, the indoor gym as a double-height volume on 3F–4F directly above, and the roof court with stepped seating on top. The assembly lobby + mezzanine sit beside the pool and open to the track.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7589520" y="2395728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589520" y="2409444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34" name="Text 30"/>
          <p:cNvSpPr txBox="1"/>
          <p:nvPr/>
        </p:nvSpPr>
        <p:spPr>
          <a:xfrm>
            <a:off x="7589520" y="2642616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Double-height gym sits on a deep transfer floor over the pool → the most demanding spans are stacked, so loads travel straight down.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Wave-shaped pool clerestory: daylight under the gym floor (ArchDaily: arched clerestory windows).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floors (≈ 2 storeys) wrap the gym height → classrooms share the gym's section, not its noise.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3F courtyard (with tree) is cut into the stack — outdoor space at upper level.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Floor-to-floor heights NOT dimensioned here: not stated in sources; scaling the drawings would be approximate.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3794760" y="5669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Drawings: Scenic Architecture Office, as published (uploaded set, pp. 33–48) — sections pp. 34, 36, 48; ArchDaily, 'Anna Pao Sohmen Centre at YK Pao School / Scenic Architecture Office' (2025) — archdaily.com/1041795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INDOOR / OUTDOOR + ENVIRONMENT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Outdoor space at three levels: under, inside and on top of the building</a:t>
            </a:r>
            <a:endParaRPr lang="en-US" sz="2200" dirty="0"/>
          </a:p>
        </p:txBody>
      </p:sp>
      <p:pic>
        <p:nvPicPr>
          <p:cNvPr id="4" name="Image 0" descr="/home/user/echora_t01/presentations/src/img/ph_02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2697480" cy="1783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— covered field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+ recreation + shelter</a:t>
            </a:r>
            <a:endParaRPr lang="en-US" sz="800" dirty="0"/>
          </a:p>
        </p:txBody>
      </p:sp>
      <p:pic>
        <p:nvPicPr>
          <p:cNvPr id="7" name="Image 1" descr="/home/user/echora_t01/presentations/src/img/ph_02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1234440"/>
            <a:ext cx="2697480" cy="1783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8328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— pomelo courtyard (3F)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383280" y="3291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+ landscape + light</a:t>
            </a:r>
            <a:endParaRPr lang="en-US" sz="800" dirty="0"/>
          </a:p>
        </p:txBody>
      </p:sp>
      <p:pic>
        <p:nvPicPr>
          <p:cNvPr id="10" name="Image 2" descr="/home/user/echora_t01/presentations/src/img/ph_0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234440"/>
            <a:ext cx="2697480" cy="17830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1792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— roof court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217920" y="3291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+ spectators</a:t>
            </a:r>
            <a:endParaRPr lang="en-US" sz="800" dirty="0"/>
          </a:p>
        </p:txBody>
      </p:sp>
      <p:pic>
        <p:nvPicPr>
          <p:cNvPr id="13" name="Image 3" descr="/home/user/echora_t01/presentations/src/img/ph_00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2560" y="1234440"/>
            <a:ext cx="2697480" cy="17830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52560" y="3090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— pool clerestory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9052560" y="3291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 + visual link to street</a:t>
            </a:r>
            <a:endParaRPr lang="en-US" sz="8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3520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Photos: uploaded set pp. 26, 29, 3, 2</a:t>
            </a:r>
            <a:endParaRPr lang="en-US" sz="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0"/>
                <a:gridCol w="23774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Daylight to learning spaces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Classrooms 'profit from natural daylighting and scenic views' (ArchDaily); rooms line façades on plans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 daylight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Arched clerestory windows along the pool; timber beams diffuse light (ArchDaily); wave windows in photos/section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Atrium roof light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Oval atrium + 'clerestory desks' on roof plan; photos p. 20–21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(drawings)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 façade / shading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Planted screens and timber-colour grid on façades (photos p. 1–6)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VISIBLE — performance not verified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Solar energy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'Solar equipment platform' on roof plan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(drawing) — capacity unknown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ventilation / orientation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published statement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548640" y="6035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ArchDaily, 'Anna Pao Sohmen Centre at YK Pao School / Scenic Architecture Office' (2025) — archdaily.com/1041795; Drawings: Scenic Architecture Office, as published (uploaded set, pp. 33–48); Photographs: uploaded set (pp. 1–32), as published with the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STRUCTURAL / ARCHITECTURAL LOGIC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Long spans stacked on one footprint; angled columns release the ground</a:t>
            </a:r>
            <a:endParaRPr lang="en-US" sz="2200" dirty="0"/>
          </a:p>
        </p:txBody>
      </p:sp>
      <p:pic>
        <p:nvPicPr>
          <p:cNvPr id="4" name="Image 0" descr="/home/user/echora_t01/presentations/src/img/ph_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840480" cy="2249424"/>
          </a:xfrm>
          <a:prstGeom prst="rect">
            <a:avLst/>
          </a:prstGeom>
        </p:spPr>
      </p:pic>
      <p:pic>
        <p:nvPicPr>
          <p:cNvPr id="5" name="Image 1" descr="/home/user/echora_t01/presentations/src/img/ph_01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66160"/>
            <a:ext cx="3840480" cy="2560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144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Angled columns at the field edge (p. 5) · gym roof structure with skylights (p. 12)</a:t>
            </a:r>
            <a:endParaRPr lang="en-US" sz="700" dirty="0"/>
          </a:p>
        </p:txBody>
      </p:sp>
      <p:sp>
        <p:nvSpPr>
          <p:cNvPr id="7" name="Shape 3"/>
          <p:cNvSpPr/>
          <p:nvPr/>
        </p:nvSpPr>
        <p:spPr>
          <a:xfrm>
            <a:off x="4754880" y="4937760"/>
            <a:ext cx="3657600" cy="91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846320" y="4206240"/>
            <a:ext cx="2103120" cy="731520"/>
          </a:xfrm>
          <a:prstGeom prst="rect">
            <a:avLst/>
          </a:prstGeom>
          <a:solidFill>
            <a:srgbClr val="5BAA6A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46320" y="4434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span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846320" y="3749040"/>
            <a:ext cx="3017520" cy="457200"/>
          </a:xfrm>
          <a:prstGeom prst="rect">
            <a:avLst/>
          </a:prstGeom>
          <a:solidFill>
            <a:srgbClr val="F3F3F3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95160" y="4434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 / mezzanine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4846320" y="2697480"/>
            <a:ext cx="3017520" cy="16459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9"/>
          <p:cNvSpPr/>
          <p:nvPr/>
        </p:nvSpPr>
        <p:spPr>
          <a:xfrm>
            <a:off x="4846320" y="2862072"/>
            <a:ext cx="3017520" cy="886968"/>
          </a:xfrm>
          <a:prstGeom prst="rect">
            <a:avLst/>
          </a:prstGeom>
          <a:solidFill>
            <a:srgbClr val="5BAA6A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4632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span (3F–4F)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846320" y="2423160"/>
            <a:ext cx="3017520" cy="274320"/>
          </a:xfrm>
          <a:prstGeom prst="rect">
            <a:avLst/>
          </a:prstGeom>
          <a:solidFill>
            <a:srgbClr val="5BAA6A">
              <a:alpha val="2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46320" y="2450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COURT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7863840" y="3749040"/>
            <a:ext cx="182880" cy="11887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 flipH="1">
            <a:off x="7680960" y="3749040"/>
            <a:ext cx="182880" cy="118872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01000" y="4160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/ angled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892040" y="3749040"/>
            <a:ext cx="91" cy="45720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5897880" y="3749040"/>
            <a:ext cx="91" cy="45720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6995160" y="3749040"/>
            <a:ext cx="91" cy="45720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</p:sp>
      <p:sp>
        <p:nvSpPr>
          <p:cNvPr id="23" name="Text 19"/>
          <p:cNvSpPr txBox="1"/>
          <p:nvPr/>
        </p:nvSpPr>
        <p:spPr>
          <a:xfrm>
            <a:off x="4754880" y="5029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section — interpretation, not to scale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8778240" y="1234440"/>
            <a:ext cx="799186" cy="18288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778240" y="1248156"/>
            <a:ext cx="7991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65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14813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Angled concrete columns carry the upper mass over the turf (ArchDaily). Plans show a regular column grid around the gym and pool; sections show a deep structural zone under the gym floor and under the roof court.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8778240" y="2551176"/>
            <a:ext cx="222565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778240" y="2564892"/>
            <a:ext cx="2225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</a:t>
            </a:r>
            <a:endParaRPr lang="en-US" sz="650" dirty="0"/>
          </a:p>
        </p:txBody>
      </p:sp>
      <p:sp>
        <p:nvSpPr>
          <p:cNvPr id="29" name="Text 25"/>
          <p:cNvSpPr txBox="1"/>
          <p:nvPr/>
        </p:nvSpPr>
        <p:spPr>
          <a:xfrm>
            <a:off x="8778240" y="2798064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gym is column-free; its roof is also a playground → a deep, stiff roof structure (visible joists/beams in section).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directly below the gym → the transfer floor between them is the key structural element.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rooms are on a smaller grid → structure follows the 'big room + liner' plan.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Material, span and member sizes: NOT VERIFIED (no structural data published).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4754880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ArchDaily, 'Anna Pao Sohmen Centre at YK Pao School / Scenic Architecture Office' (2025) — archdaily.com/1041795; Drawings: Scenic Architecture Office, as published (uploaded set, pp. 33–48); Photographs: uploaded set (pp. 1–32), as published with the project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01 — KEY DESIGN PRINCIPLES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Seven principles extracted from the Anna Pao Sohmen Centre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the long spans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→ gym → roof court on one footprint frees the site.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to give back ground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floors cantilever; the field continues under the building.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room + liner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in the centre; classrooms / studios line the façades for daylight.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that gather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Lobby and atrium are distribution AND event spaces (stair-seating).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sequence is linear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26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Foyer → change → pool; dry users never cross wet floors.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sport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4526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links: table tennis → pool, mezzanine → field, roof seats → court.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657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206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stacked out of sight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526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under the pool, equipment strip at the back, solar on the roof edge.</a:t>
            </a:r>
            <a:endParaRPr lang="en-US" sz="1050" dirty="0"/>
          </a:p>
        </p:txBody>
      </p:sp>
      <p:pic>
        <p:nvPicPr>
          <p:cNvPr id="25" name="Image 0" descr="/home/user/echora_t01/presentations/src/img/axo_pr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520440"/>
            <a:ext cx="2240280" cy="245973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052560" y="59984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axo (p. 38)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48640" y="5943600"/>
            <a:ext cx="3438144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5957316"/>
            <a:ext cx="3438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= INTERPRETATION OF VERIFIED PLANS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02 — FTVS, CHARLES UNIVERSITY · PROJECT + CONTEXT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A faculty inside a converted 1950s complex, with sport spread across a campus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1605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 of Physical Education and Sport (FTVS / 'CU SPORT'), Charles University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FTVS / CUNI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José Martího 269/31, Praha 6 – Veleslavín, Czech Republic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FTVS contacts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 building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1949–1956 for the Communist Party's political college (VŠP ÚV KSČ, 'Vokovická Sorbonna')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slavnevily.cz · cs.wikipedia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as faculty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Faculty moved here after 1989 (VŠP dissolved 1990); faculty part of Charles University since 1959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cs.wikipedia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'Strict, originally symmetrical' composition on a functionalist basis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slavnevily.cz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Lettered blocks A–H (A–D insulation, E–H façade renewal in a university tender)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zakazky.cuni.cz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 / plans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 — no published floor plans, sections or areas found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— RELATIONAL DIAGRAM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9875520" y="1691640"/>
            <a:ext cx="1737360" cy="411480"/>
          </a:xfrm>
          <a:prstGeom prst="rect">
            <a:avLst/>
          </a:prstGeom>
          <a:solidFill>
            <a:srgbClr val="F3F3F3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87552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PRAGUE CENTRE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772400" y="2606040"/>
            <a:ext cx="1920240" cy="548640"/>
          </a:xfrm>
          <a:prstGeom prst="rect">
            <a:avLst/>
          </a:prstGeom>
          <a:solidFill>
            <a:srgbClr val="F2B134">
              <a:alpha val="4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NOVÝ VELESLAVÍN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+ city district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9875520" y="3520440"/>
            <a:ext cx="1737360" cy="548640"/>
          </a:xfrm>
          <a:prstGeom prst="rect">
            <a:avLst/>
          </a:prstGeom>
          <a:solidFill>
            <a:srgbClr val="6FA8D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87552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FTVS COMPLEX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A–H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772400" y="4434840"/>
            <a:ext cx="1920240" cy="54864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4434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 + PITCHES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· beach volley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875520" y="4617720"/>
            <a:ext cx="1737360" cy="548640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75520" y="4617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gym rooms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0744200" y="2103120"/>
            <a:ext cx="91" cy="141732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10817352" y="2606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25 min by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transport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9692640" y="2880360"/>
            <a:ext cx="182880" cy="8229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9692640" y="3977640"/>
            <a:ext cx="182880" cy="7315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744200" y="4069080"/>
            <a:ext cx="91" cy="5486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0" y="5349240"/>
            <a:ext cx="3937406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0" y="5362956"/>
            <a:ext cx="39374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INTERPRETATION — relational, not a map</a:t>
            </a:r>
            <a:endParaRPr lang="en-US" sz="6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5623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not geographic. Exact site layout, access points and orientation could not be verified from available documentation.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617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/ CONTEXT READING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8463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suburban campus in Prague 6, served by the Nový Veleslavín transport hub — the faculty is a destination, not part of the historic university core (verified: location; interpretation: role).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occupies a building designed for a different institution → sport facilities were added around it rather than integrated in one volume (interpretation).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ftvs.cuni.cz (contacts; 'Jak se vyznat na fakultě'); cs.wikipedia.org — VŠP ÚV KSČ &amp; FTVS UK; slavnevily.cz — 'Škola ve Veleslavíně'; zakazky.cuni.cz — FTVS tender; cuni.cz.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02 — FUNCTIONAL PROGRAMME, ZONING + STANDARDS CHECK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Verified facilities, organised as a campus of separate sports elements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FACILITIES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64592" cy="164592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 22 × 32 m (704 m²), Taraflex floor, multi-court markings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iscus.cz #19361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64592" cy="164592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93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+ gymnastics room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993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iscus.cz #19361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164592" cy="164592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450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Stadium: football 100 × 65 m + 400 m track, 6 lanes, jump sectors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50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iscus.cz #19360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48640" y="2944368"/>
            <a:ext cx="164592" cy="164592"/>
          </a:xfrm>
          <a:prstGeom prst="rect">
            <a:avLst/>
          </a:prstGeom>
          <a:solidFill>
            <a:srgbClr val="5BAA6A">
              <a:alpha val="7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907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courts · beach-volleyball court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907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ftvs.cuni.cz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164592" cy="164592"/>
          </a:xfrm>
          <a:prstGeom prst="rect">
            <a:avLst/>
          </a:prstGeom>
          <a:solidFill>
            <a:srgbClr val="9B7FBF">
              <a:alpha val="70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SPORT Gym — basement of block H: reception, weights, stretching, TRX, shooting range + cardio, athletic tunnel, warm-up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ftvs.cuni.cz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64592" cy="164592"/>
          </a:xfrm>
          <a:prstGeom prst="rect">
            <a:avLst/>
          </a:prstGeom>
          <a:solidFill>
            <a:srgbClr val="6FA8DC">
              <a:alpha val="7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'Creative Hub' study room above the gym (block H)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ftvs.cuni.cz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548640" y="4315968"/>
            <a:ext cx="164592" cy="164592"/>
          </a:xfrm>
          <a:prstGeom prst="rect">
            <a:avLst/>
          </a:prstGeom>
          <a:solidFill>
            <a:srgbClr val="6FA8DC">
              <a:alpha val="70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279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Teaching, departments, administration in blocks A–H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279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ftvs.cuni.cz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92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H — VERIFIED STACKING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5138928"/>
            <a:ext cx="2377440" cy="347472"/>
          </a:xfrm>
          <a:prstGeom prst="rect">
            <a:avLst/>
          </a:prstGeom>
          <a:solidFill>
            <a:srgbClr val="6FA8DC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138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HUB (study)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2377440" cy="347472"/>
          </a:xfrm>
          <a:prstGeom prst="rect">
            <a:avLst/>
          </a:prstGeom>
          <a:solidFill>
            <a:srgbClr val="9B7FBF">
              <a:alpha val="60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486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SPORT GYM (basement)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017520" y="5212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above training — a small-scale version of APSC's 'learning over sport'.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12801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HALL 32 × 22 m — STANDARDS FIT (to scale)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12080" y="1783080"/>
            <a:ext cx="3803904" cy="2615184"/>
          </a:xfrm>
          <a:prstGeom prst="rect">
            <a:avLst/>
          </a:prstGeom>
          <a:solidFill>
            <a:srgbClr val="5BAA6A">
              <a:alpha val="20000"/>
            </a:srgbClr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1961388"/>
            <a:ext cx="3803904" cy="2258568"/>
          </a:xfrm>
          <a:prstGeom prst="rect">
            <a:avLst/>
          </a:prstGeom>
          <a:ln w="9525">
            <a:solidFill>
              <a:srgbClr val="6B6B6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449824" y="2199132"/>
            <a:ext cx="3328416" cy="1783080"/>
          </a:xfrm>
          <a:prstGeom prst="rect">
            <a:avLst/>
          </a:prstGeom>
          <a:ln w="1270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87568" y="2199132"/>
            <a:ext cx="2852928" cy="1783080"/>
          </a:xfrm>
          <a:prstGeom prst="rect">
            <a:avLst/>
          </a:prstGeom>
          <a:ln w="9525">
            <a:solidFill>
              <a:srgbClr val="D9472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212080" y="1600200"/>
            <a:ext cx="3803904" cy="91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5166360" y="15544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970264" y="155448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15179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15984" y="1517904"/>
            <a:ext cx="91" cy="164592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99632" y="1399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98864" y="1783080"/>
            <a:ext cx="91" cy="2615184"/>
          </a:xfrm>
          <a:prstGeom prst="line">
            <a:avLst/>
          </a:prstGeom>
          <a:noFill/>
          <a:ln w="9525">
            <a:solidFill>
              <a:srgbClr val="D947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153144" y="1737360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153144" y="4352544"/>
            <a:ext cx="91440" cy="91440"/>
          </a:xfrm>
          <a:prstGeom prst="line">
            <a:avLst/>
          </a:prstGeom>
          <a:noFill/>
          <a:ln w="15875">
            <a:solidFill>
              <a:srgbClr val="D947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16568" y="1783080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16568" y="4398264"/>
            <a:ext cx="164592" cy="91"/>
          </a:xfrm>
          <a:prstGeom prst="line">
            <a:avLst/>
          </a:prstGeom>
          <a:noFill/>
          <a:ln w="6350">
            <a:solidFill>
              <a:srgbClr val="D947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53728" y="2999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212080" y="44897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basketball 28 × 15 + 2 m lane = 32 × 19 m → fits exactly in length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volleyball 18 × 9 + 3 m = 24 × 15 m → fits; FIVB official (31 × 19 m) fits in plan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12080" y="5084064"/>
            <a:ext cx="2296973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472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12080" y="5097780"/>
            <a:ext cx="22969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FROM CITED VALUES</a:t>
            </a:r>
            <a:endParaRPr lang="en-US" sz="650" dirty="0"/>
          </a:p>
        </p:txBody>
      </p:sp>
      <p:sp>
        <p:nvSpPr>
          <p:cNvPr id="52" name="Text 50"/>
          <p:cNvSpPr txBox="1"/>
          <p:nvPr/>
        </p:nvSpPr>
        <p:spPr>
          <a:xfrm>
            <a:off x="5212080" y="53126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clear height: NOT VERIFIED → official FIVB use (12.5 m) cannot be confirmed.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1280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 (programme)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692640" y="1600200"/>
            <a:ext cx="2011680" cy="384048"/>
          </a:xfrm>
          <a:prstGeom prst="rect">
            <a:avLst/>
          </a:prstGeom>
          <a:solidFill>
            <a:srgbClr val="F2B134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69264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/ ADMIN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698480" y="1984248"/>
            <a:ext cx="91" cy="27432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692640" y="2258568"/>
            <a:ext cx="2011680" cy="384048"/>
          </a:xfrm>
          <a:prstGeom prst="rect">
            <a:avLst/>
          </a:prstGeom>
          <a:solidFill>
            <a:srgbClr val="6FA8DC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692640" y="2258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BLOCKS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0698480" y="2642616"/>
            <a:ext cx="91" cy="274320"/>
          </a:xfrm>
          <a:prstGeom prst="line">
            <a:avLst/>
          </a:prstGeom>
          <a:noFill/>
          <a:ln w="15875">
            <a:solidFill>
              <a:srgbClr val="1A1A1A"/>
            </a:solidFill>
            <a:prstDash val="dash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692640" y="2916936"/>
            <a:ext cx="2011680" cy="384048"/>
          </a:xfrm>
          <a:prstGeom prst="rect">
            <a:avLst/>
          </a:prstGeom>
          <a:solidFill>
            <a:srgbClr val="9B7FBF">
              <a:alpha val="55000"/>
            </a:srgbClr>
          </a:solidFill>
          <a:ln w="9525">
            <a:solidFill>
              <a:srgbClr val="1A1A1A"/>
            </a:solidFill>
            <a:prstDash val="dash"/>
          </a:ln>
        </p:spPr>
      </p:sp>
      <p:sp>
        <p:nvSpPr>
          <p:cNvPr id="61" name="Text 59"/>
          <p:cNvSpPr txBox="1"/>
          <p:nvPr/>
        </p:nvSpPr>
        <p:spPr>
          <a:xfrm>
            <a:off x="9692640" y="29169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?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698480" y="3300984"/>
            <a:ext cx="91" cy="274320"/>
          </a:xfrm>
          <a:prstGeom prst="line">
            <a:avLst/>
          </a:prstGeom>
          <a:noFill/>
          <a:ln w="15875">
            <a:solidFill>
              <a:srgbClr val="1A1A1A"/>
            </a:solidFill>
            <a:prstDash val="dash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9692640" y="3575304"/>
            <a:ext cx="2011680" cy="384048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692640" y="35753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· GYM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698480" y="3959352"/>
            <a:ext cx="91" cy="27432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692640" y="4233672"/>
            <a:ext cx="2011680" cy="384048"/>
          </a:xfrm>
          <a:prstGeom prst="rect">
            <a:avLst/>
          </a:prstGeom>
          <a:solidFill>
            <a:srgbClr val="5BAA6A">
              <a:alpha val="55000"/>
            </a:srgbClr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692640" y="4233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 · COURTS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9692640" y="4937760"/>
            <a:ext cx="1227125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692640" y="4951476"/>
            <a:ext cx="1227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650" dirty="0"/>
          </a:p>
        </p:txBody>
      </p:sp>
      <p:sp>
        <p:nvSpPr>
          <p:cNvPr id="70" name="Text 68"/>
          <p:cNvSpPr txBox="1"/>
          <p:nvPr/>
        </p:nvSpPr>
        <p:spPr>
          <a:xfrm>
            <a:off x="9692640" y="518464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= relationship not verifiable without plans (location of changing rooms, routes between blocks and outdoor facilities).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iscus.cz — Haly sportovního centra UK Veleslavín (#19361) &amp; Stadion a venkovní hřiště (#19360); ftvs.cuni.cz — sports facilities, 'CU SPORT Gym'. Court values: FIBA OBR 2024 Art. 2; FIVB Rules 2025–28 Rule 1.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CASE 02 — CIRCULATION, SECTION + PRINCIPLES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What can be learned — and what must be obtained before analysing further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VERIFIED FROM AVAILABLE DOCUMENTATION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19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plans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layout, entrances, cores, changing-room position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clear height, vertical stacking, basement gym depth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between blocks, sports hall and stadium; athlete vs. public separation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145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grid, hall roof span and system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5120640" cy="411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621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orientation, daylight, ventilation strategy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60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CLOSE THE GAP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07408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plans from the faculty's building-management office (FTVS UK).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Prague 6 building archive — building-permit drawings of José Martího 31.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visit: photograph entrances, changing rooms, hall section; pace distances.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1280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THAT CAN BE EXTRACTED (programme level)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16916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of parts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blocks + separate hall + outdoor stadium: each sport element sized to its own standard (hall exactly fits a FIBA court + lane).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2679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2679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sport as a field, not a roof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29535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× 65 m pitch with 400 m track needs land — opposite of APSC's vertical strategy.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36667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36667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reuse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9410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1950s symmetrical college re-programmed for sport education; renovation by blocks (A–H).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46542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6542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under study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49286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Basement gym beneath a study hub in block H — vertical mix at small scale.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5669280"/>
            <a:ext cx="2510942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26480" y="5682996"/>
            <a:ext cx="25109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OF VERIFIED FACTS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035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previous two slides.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COMPARATIVE ANALYSIS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Vertical compression vs. horizontal campus — two answers to the same programme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663440"/>
                <a:gridCol w="46634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 Pao Sohmen Centre (Shanghai)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FTVS Charles University (Prague)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organisation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Compact infill between lawn and field; ground freed by lifting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Suburban campus; buildings + separate outdoor sports land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entrance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the lawn into an assembly lobby (site plan)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zoning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Vertical: wet sport low, dry sport high, learning wraps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Horizontal (interp.): teaching blocks, hall, stadium as separate parts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/ private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Height + depth + sequence; lobby = only public threshold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verifiable without plans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public core + atrium ring; stairs as seating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Between blocks and outdoors — 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Sports spaces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Pool, gym, table tennis, roof court — stacked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 32 × 22 m, gym rooms, stadium 100 × 65 m + track, courts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Educational spaces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STEAM classrooms &amp; studios lining façades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Teaching in converted 1950s blocks A–H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spaces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Lobby, mezzanine, atrium, courtyard, roof seats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Creative Hub study room (block H)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spaces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Basement plant, north equipment strip, roof solar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Indoor / outdoor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Under, inside and on top (field, courtyard, roof)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Outdoor sport on grade beside buildings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logic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Stacked long spans + angled columns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94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strategy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Compress &amp; stack → maximise outdoor ground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 &amp; reuse → land-based campus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1148" marR="41148" marT="41148" marB="41148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97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ranking: APSC shows how to fit a sports-learning programme on scarce land; FTVS shows the land and buildings a full PE faculty with outdoor athletics actually needs.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DESIGN LESSONS FOR A FACULTY OF PHYSICAL EDUCATION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Twelve transferable principles — not copies of either building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ZONING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093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in section as well as plan: wet sport + plant low, dry halls above, learning on the daylit perimeter.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48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315968" y="1280160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25696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↔ SPORT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6093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halls with teaching rooms that look in (glazed screens) but are acoustically separated.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148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8083296" y="1280160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3024" y="1353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31936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SOCIAL SPACE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16093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lobby/atrium the social core: stair-seating, mezzanines, courtyard.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631936" y="2148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48640" y="2496312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CIRCULATION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82549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legible public spine + separate back-of-house stair/lift for service and staff.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3364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315968" y="2496312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25696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64608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 / USER SEPARATION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282549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Spectators via lobby &amp; seating; athletes via change rooms that open directly onto courts.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3364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 + standards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083296" y="2496312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93024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31936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ROOMS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631936" y="282549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them between entrance and every court/pool: foyer → change → sport, wet never crossing dry.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631936" y="3364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48640" y="3712464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" y="3785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ADJACENCY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40416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 ↔ change ↔ store at the same level; size hall to FIBA 32 × 19 m min. footprint.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" y="4581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FTVS + FIBA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315968" y="3712464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25696" y="3785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864608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ACCESS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864608" y="40416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and storage stacked behind or below; a service yard away from the public front.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864608" y="4581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8083296" y="3712464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93024" y="3785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631936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SPORT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8631936" y="40416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land for a 400 m track &amp; pitch if athletics is taught; otherwise use roofs/undercrofts.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8631936" y="4581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FTVS vs APSC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48640" y="4928616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8368" y="5001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97280" y="5020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PRIVATE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097280" y="52578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control by height and depth; let the ground floor open for events.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097280" y="5797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315968" y="4928616"/>
            <a:ext cx="3611880" cy="1097280"/>
          </a:xfrm>
          <a:prstGeom prst="rect">
            <a:avLst/>
          </a:prstGeom>
          <a:solidFill>
            <a:srgbClr val="F3F3F3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425696" y="5001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4864608" y="5020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COURTYARDS + LANDSCAPE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4864608" y="52578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courtyards into upper floors to light deep plans and give quiet outdoor rooms.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4864608" y="5797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8083296" y="4928616"/>
            <a:ext cx="36118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193024" y="5001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8631936" y="5020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+ LARGE-SPAN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8631936" y="52578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long spans on one footprint; multi-court halls; reuse existing buildings where possible.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8631936" y="5797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APSC + FTVS</a:t>
            </a:r>
            <a:endParaRPr lang="en-US" sz="65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21792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lessons are architectural interpretations derived from the analysed plans, sections and verified facts; dimensional rules come from the standards study (FIBA / FIVB / Sport England / INBR).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Sources used in the case-study analysis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01 — ANNA PAO SOHMEN CENTRE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drawing &amp; photo set (CamScanner PDF, 64 pp.): plans GF, 2F, 3F, 4F, roof, basement; sections; axonometrics; site plan — Scenic Architecture Office.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ArchDaily — Anna Pao Sohmen Centre at YK Pao School / Scenic Architecture Office (2025).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https://www.archdaily.com/1041795/anna-pao-sohmen-centre-at-yk-pao-school-scenic-architecture-office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gooood — Anna Pao Sohmen Centre at Shanghai YK Pao School by Scenic Architecture Office.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https://www.gooood.cn/anna-pao-sohmen-centre-at-shanghai-yk-pao-school-by-scenic-architecture-office.htm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24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02 — FTVS, CHARLES UNIVERSITY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986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FTVS UK — Contacts / faculty pages; sports facilities; CU SPORT Gym.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https://www.ftvs.cuni.cz/en/faculty/contacts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644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iscus.cz — Haly sportovního centra UK Veleslavín (#19361).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https://iscus.cz/kraje/praha/pasport/19361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301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iscus.cz — Stadion a venkovní hřiště sportovního centra UK Veleslavín (#19360).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https://iscus.cz/kraje/praha/pasport/19360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959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(cs) — Vysoká škola politická ÚV KSČ; Fakulta tělesné výchovy a sportu UK.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https://cs.wikipedia.org/wiki/Fakulta_t%C4%9Blesn%C3%A9_v%C3%BDchovy_a_sportu_Univerzity_Karlovy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61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SlavneVily.cz — Škola ve Veleslavíně (Stavby Prahy 6).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https://www.slavnevily.cz/stavby-/-unesco/stavby-prahy-6/skola-ve-veleslavine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27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 University tenders — UK FTVS block renovation.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https://zakazky.cuni.cz/contract_display_7294.html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0293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94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USED FOR CHECKS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7725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FIBA Official Basketball Rules 2024.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https://assets.fiba.basketball/image/upload/documents-corporate-fiba-official-rules-2024-v10a.pdf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4301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FIVB Official Volleyball Rules 2025–2028.</a:t>
            </a:r>
            <a:endParaRPr lang="en-US" sz="850" dirty="0"/>
          </a:p>
          <a:p>
            <a:pPr indent="0" marL="0">
              <a:buNone/>
            </a:pPr>
            <a:r>
              <a:rPr lang="en-US" sz="700" u="sng" dirty="0">
                <a:solidFill>
                  <a:srgbClr val="2F6FB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https://www.fivb.com/wp-content/uploads/2025/01/FIVB-Volleyball_Rules2025_2028-EN-v05.pdf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itectural Board">
  <a:themeElements>
    <a:clrScheme name="Architectural Board">
      <a:dk1>
        <a:srgbClr val="1A1A1A"/>
      </a:dk1>
      <a:lt1>
        <a:srgbClr val="FFFFFF"/>
      </a:lt1>
      <a:dk2>
        <a:srgbClr val="3A3A3A"/>
      </a:dk2>
      <a:lt2>
        <a:srgbClr val="F3F3F3"/>
      </a:lt2>
      <a:accent1>
        <a:srgbClr val="D9472B"/>
      </a:accent1>
      <a:accent2>
        <a:srgbClr val="6FA8DC"/>
      </a:accent2>
      <a:accent3>
        <a:srgbClr val="5BAA6A"/>
      </a:accent3>
      <a:accent4>
        <a:srgbClr val="F2B134"/>
      </a:accent4>
      <a:accent5>
        <a:srgbClr val="9B7FBF"/>
      </a:accent5>
      <a:accent6>
        <a:srgbClr val="8C8C8C"/>
      </a:accent6>
      <a:hlink>
        <a:srgbClr val="2F6FB5"/>
      </a:hlink>
      <a:folHlink>
        <a:srgbClr val="6B6B6B"/>
      </a:folHlink>
    </a:clrScheme>
    <a:fontScheme name="Architectural Bo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Case-Study Analysis — Anna Pao Sohmen Centre &amp; Charles University FTVS</dc:title>
  <dc:subject>PptxGenJS Presentation</dc:subject>
  <dc:creator>Architecture Studio — Design 4</dc:creator>
  <cp:lastModifiedBy>Architecture Studio — Design 4</cp:lastModifiedBy>
  <cp:revision>1</cp:revision>
  <dcterms:created xsi:type="dcterms:W3CDTF">2026-10-02T13:14:29Z</dcterms:created>
  <dcterms:modified xsi:type="dcterms:W3CDTF">2026-10-02T13:14:29Z</dcterms:modified>
</cp:coreProperties>
</file>